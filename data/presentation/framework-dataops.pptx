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  <a:latin typeface="Segoe UI"/>
              </a:rPr>
              <a:t>ITC  — 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858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64B5F6"/>
                </a:solidFill>
                <a:latin typeface="Segoe UI"/>
              </a:rPr>
              <a:t>Framework DataOps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D8DC"/>
                </a:solidFill>
                <a:latin typeface="Segoe UI"/>
              </a:rPr>
              <a:t>Despliegue Automatizado de Componentes de Datos en GCP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9507" y="3474720"/>
            <a:ext cx="1554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9507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BigQuery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1147" y="3474720"/>
            <a:ext cx="1554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1147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Cloud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2787" y="3474720"/>
            <a:ext cx="1554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2787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Vertex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4427" y="3474720"/>
            <a:ext cx="1554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4427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Cloud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56067" y="3474720"/>
            <a:ext cx="1554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6067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Cloud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7707" y="3474720"/>
            <a:ext cx="1554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7707" y="3493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Cloud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Segoe UI"/>
              </a:rPr>
              <a:t>Lima,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¿Qué veremos?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051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Alcance del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05156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qué parte del ciclo de desarrollo cubre el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463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Objetivo y Pilares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46304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qué queremos lograr y los 3 pilares de soporte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8745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Requisitos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87452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repositorio, Cloud Build y responsabilidades del equipo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8600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2860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Arquitectura del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28600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arquetipo de proyecto, YAML de componentes y variables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69748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697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Servicios Soportados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69748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componentes GCP y orden de ejecución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0896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08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1089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Flujo de Despliegue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10896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de código a producción, paso a paso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520440"/>
            <a:ext cx="274320" cy="27432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20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35204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E0E0"/>
                </a:solidFill>
                <a:latin typeface="Segoe UI"/>
              </a:rPr>
              <a:t>Framework XOps — MLOps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352044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Segoe UI"/>
              </a:rPr>
              <a:t>— extensión para Vertex AI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Alcance del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El framework actúa en la etapa de Despliegue dentro del ciclo completo de desarrollo de datos.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09728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634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Segoe UI"/>
              </a:rPr>
              <a:t>Objetivo: automatizar el paso de artefactos de datos desde un repositorio Git hacia los ambientes dev, qa y prd en GCP.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¿Qué queremos lograr?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Sincronizar equipos de Desarrollo y Operación en despliegues a producción, a través de 3 pilares.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66160" cy="365760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FD8DC"/>
                </a:solidFill>
                <a:latin typeface="Segoe UI"/>
              </a:rP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Repositorios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21992"/>
            <a:ext cx="32918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Versionamiento y control de código como fuente de verdad de todo despliegue.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417320"/>
            <a:ext cx="3566160" cy="3657600"/>
          </a:xfrm>
          <a:prstGeom prst="rect">
            <a:avLst/>
          </a:prstGeom>
          <a:solidFill>
            <a:srgbClr val="0A1E10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527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FD8DC"/>
                </a:solidFill>
                <a:latin typeface="Segoe UI"/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920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CI/CD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221992"/>
            <a:ext cx="32918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Despliegue automatizado con Cloud Build — sin intervención manual en prd.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417320"/>
            <a:ext cx="3566160" cy="3657600"/>
          </a:xfrm>
          <a:prstGeom prst="rect">
            <a:avLst/>
          </a:prstGeom>
          <a:solidFill>
            <a:srgbClr val="150A1E"/>
          </a:solidFill>
          <a:ln w="1524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15270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FD8DC"/>
                </a:solidFill>
                <a:latin typeface="Segoe UI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920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Equipos Sincronizados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221992"/>
            <a:ext cx="32918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Dev y Ops trabajan sobre el mismo artefacto validado en ambientes previos.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5166359"/>
            <a:ext cx="182880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51755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A853"/>
                </a:solidFill>
                <a:latin typeface="Segoe UI"/>
              </a:rPr>
              <a:t>Autogestión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5166359"/>
            <a:ext cx="182880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51755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3E8"/>
                </a:solidFill>
                <a:latin typeface="Segoe UI"/>
              </a:rPr>
              <a:t>Automatización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5166359"/>
            <a:ext cx="182880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517550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24AA"/>
                </a:solidFill>
                <a:latin typeface="Segoe UI"/>
              </a:rPr>
              <a:t>Colaboración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4B5F6"/>
                </a:solidFill>
                <a:latin typeface="Segoe UI"/>
              </a:rPr>
              <a:t>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0CAF9"/>
                </a:solidFill>
                <a:latin typeface="Segoe UI"/>
              </a:rPr>
              <a:t>Lo necesario para adoptar el Framework DataOps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Requisitos del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3611880" cy="557784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🗄️  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Servicio de versionamiento de código: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GitLab / GitHub / Azure Repos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Manejo básico de Git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Rama dev/qa y rama prd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Convención de branches activa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1005840"/>
            <a:ext cx="3611880" cy="557784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25696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⚙️  Configuración Cloud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1389888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Por repositorio se configura: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Trigger dev/qa  (certificación)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Trigger prd  (producción)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Service Account con permisos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Variables _DATAOPS_VARIABLES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1005840"/>
            <a:ext cx="3611880" cy="557784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097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👥  Responsabilidades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389888"/>
            <a:ext cx="3383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Data / ML Engineer: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Configura el repositorio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Ejecuta y valida en dev/qa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Entrega Build Id al Operator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Cloud Operator: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Revisa el Build Id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Ejecuta trigger prd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4B5F6"/>
                </a:solidFill>
                <a:latin typeface="Segoe UI"/>
              </a:rPr>
              <a:t>Arquitectura
del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0CAF9"/>
                </a:solidFill>
                <a:latin typeface="Segoe UI"/>
              </a:rPr>
              <a:t>Arquetipo de proyecto, componentes y sistema de variables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Arquetipo de Proyecto — Estructura del Repositorio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Estructura estándar de carpetas en todo repositorio Dataops.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760720" cy="5166360"/>
          </a:xfrm>
          <a:prstGeom prst="rect">
            <a:avLst/>
          </a:prstGeom>
          <a:solidFill>
            <a:srgbClr val="080E1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50292" cy="51663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B5F6"/>
                </a:solidFill>
                <a:latin typeface="Consolas"/>
              </a:rPr>
              <a:t>[repositorio]/</a:t>
            </a:r>
          </a:p>
          <a:p>
            <a:r>
              <a:rPr sz="950">
                <a:solidFill>
                  <a:srgbClr val="E0E0E0"/>
                </a:solidFill>
                <a:latin typeface="Consolas"/>
              </a:rPr>
              <a:t>├── deploy/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├── deploy_dev.json    ← manifiestos de despliegue por ambiente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├── deploy_qa.json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└── deploy_prd.json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</a:t>
            </a:r>
          </a:p>
          <a:p>
            <a:r>
              <a:rPr sz="950">
                <a:solidFill>
                  <a:srgbClr val="E0E0E0"/>
                </a:solidFill>
                <a:latin typeface="Consolas"/>
              </a:rPr>
              <a:t>├── data/</a:t>
            </a:r>
          </a:p>
          <a:p>
            <a:r>
              <a:rPr sz="950">
                <a:solidFill>
                  <a:srgbClr val="FBBC04"/>
                </a:solidFill>
                <a:latin typeface="Consolas"/>
              </a:rPr>
              <a:t>│   └── bigquery/          ← scripts SQL — sin YAML de config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    ├── ddl/           ← CREATE TABLE, CREATE VIEW, ALTER TABLE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    │   └── [categoria]/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    ├── sp/            ← CREATE OR REPLACE PROCEDURE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    └── dml/           ← CALL, INSERT (solo dev)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</a:t>
            </a:r>
          </a:p>
          <a:p>
            <a:r>
              <a:rPr sz="950">
                <a:solidFill>
                  <a:srgbClr val="E0E0E0"/>
                </a:solidFill>
                <a:latin typeface="Consolas"/>
              </a:rPr>
              <a:t>├── image/                 ← Docker image YAMLs</a:t>
            </a:r>
          </a:p>
          <a:p>
            <a:r>
              <a:rPr sz="950">
                <a:solidFill>
                  <a:srgbClr val="E0E0E0"/>
                </a:solidFill>
                <a:latin typeface="Consolas"/>
              </a:rPr>
              <a:t>├── service/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│   ├── cloud_run/ │ cloud_function/ │ vertex/ │ pubsub/</a:t>
            </a:r>
          </a:p>
          <a:p>
            <a:r>
              <a:rPr sz="950">
                <a:solidFill>
                  <a:srgbClr val="E0E0E0"/>
                </a:solidFill>
                <a:latin typeface="Consolas"/>
              </a:rPr>
              <a:t>└── pipeline/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    └── workflow/          ← Cloud Workflows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89888"/>
            <a:ext cx="5257800" cy="155448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481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C04"/>
                </a:solidFill>
                <a:latin typeface="Segoe UI"/>
              </a:rPr>
              <a:t>📄  deploy_[env].json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7393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Lista declarativa de artefactos a desplegar.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El framework respeta el orden de ejecución automáticamente.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063240"/>
            <a:ext cx="5257800" cy="1554480"/>
          </a:xfrm>
          <a:prstGeom prst="rect">
            <a:avLst/>
          </a:prstGeom>
          <a:solidFill>
            <a:srgbClr val="0D1E30"/>
          </a:solidFill>
          <a:ln w="152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C04"/>
                </a:solidFill>
                <a:latin typeface="Segoe UI"/>
              </a:rPr>
              <a:t>📁  data/bigquery/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4728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Scripts SQL puros: DDL, SP, DML.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No necesitan YAML — el framework los ejecuta directamente en BigQuery.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736592"/>
            <a:ext cx="5257800" cy="155448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8280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⚙️  service/ y pipeline/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1206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Cada componente tiene su deploy_config.yaml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con flags de configuración y env_vars.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Arquetipo de Componentes — deploy_config.yaml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Cada componente (excepto SQL) se configura con un YAML en 2 bloques.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Bloque 1  —  Configuración de despliegue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5394960" cy="2468880"/>
          </a:xfrm>
          <a:prstGeom prst="rect">
            <a:avLst/>
          </a:prstGeom>
          <a:solidFill>
            <a:srgbClr val="080E1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50292" cy="24688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52120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46E7A"/>
                </a:solidFill>
                <a:latin typeface="Consolas"/>
              </a:rPr>
              <a:t># Flags del componente (Cloud Run ejemplo)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project:         ${env}-itc-customer-services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region:          us-central1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name:            ${env}-mi-servicio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service_account: ${env}-sa@${env}-itc-cs.iam...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image:           us-central1-docker.pkg.dev/...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min_instances:   0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max_instances: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A853"/>
                </a:solidFill>
                <a:latin typeface="Segoe UI"/>
              </a:rPr>
              <a:t>Bloque 2  —  Variables de entorno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10512"/>
            <a:ext cx="5257800" cy="4160520"/>
          </a:xfrm>
          <a:prstGeom prst="rect">
            <a:avLst/>
          </a:prstGeom>
          <a:solidFill>
            <a:srgbClr val="080E1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810512"/>
            <a:ext cx="50292" cy="4160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901952"/>
            <a:ext cx="5074920" cy="4023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E0E0E0"/>
                </a:solidFill>
                <a:latin typeface="Consolas"/>
              </a:rPr>
              <a:t>env_vars:</a:t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  # 1. Variables de framework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  ENV:              ${env}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>  DISPLAY_NAME:     ${env}-proceso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  # 2. Tablas BigQuery input</a:t>
            </a:r>
          </a:p>
          <a:p>
            <a:r>
              <a:rPr sz="950">
                <a:solidFill>
                  <a:srgbClr val="A5D6A7"/>
                </a:solidFill>
                <a:latin typeface="Consolas"/>
              </a:rPr>
              <a:t>  PROJECT_INPUT:    ${project_mi_tabla}</a:t>
            </a:r>
          </a:p>
          <a:p>
            <a:r>
              <a:rPr sz="950">
                <a:solidFill>
                  <a:srgbClr val="A5D6A7"/>
                </a:solidFill>
                <a:latin typeface="Consolas"/>
              </a:rPr>
              <a:t>  DATASET_INPUT:    ${dataset_mi_tabla}</a:t>
            </a:r>
          </a:p>
          <a:p>
            <a:r>
              <a:rPr sz="950">
                <a:solidFill>
                  <a:srgbClr val="A5D6A7"/>
                </a:solidFill>
                <a:latin typeface="Consolas"/>
              </a:rPr>
              <a:t>  TABLE_INPUT:      ${table_mi_tabla}</a:t>
            </a:r>
          </a:p>
          <a:p>
            <a:r>
              <a:rPr sz="950">
                <a:solidFill>
                  <a:srgbClr val="80CBC4"/>
                </a:solidFill>
                <a:latin typeface="Consolas"/>
              </a:rPr>
              <a:t/>
            </a:r>
          </a:p>
          <a:p>
            <a:r>
              <a:rPr sz="950">
                <a:solidFill>
                  <a:srgbClr val="546E7A"/>
                </a:solidFill>
                <a:latin typeface="Consolas"/>
              </a:rPr>
              <a:t>  # 3. Datasets de trabajo</a:t>
            </a:r>
          </a:p>
          <a:p>
            <a:r>
              <a:rPr sz="950">
                <a:solidFill>
                  <a:srgbClr val="FFF176"/>
                </a:solidFill>
                <a:latin typeface="Consolas"/>
              </a:rPr>
              <a:t>  PROJECT_OUT:      ${project_analytics}</a:t>
            </a:r>
          </a:p>
          <a:p>
            <a:r>
              <a:rPr sz="950">
                <a:solidFill>
                  <a:srgbClr val="FFF176"/>
                </a:solidFill>
                <a:latin typeface="Consolas"/>
              </a:rPr>
              <a:t>  DATASET_STAGE:    ${dataset_stage}</a:t>
            </a:r>
          </a:p>
          <a:p>
            <a:r>
              <a:rPr sz="950">
                <a:solidFill>
                  <a:srgbClr val="FFF176"/>
                </a:solidFill>
                <a:latin typeface="Consolas"/>
              </a:rPr>
              <a:t>  DATASET_OUT:      ${dataset_analytics}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C04"/>
                </a:solidFill>
                <a:latin typeface="Segoe UI"/>
              </a:rPr>
              <a:t>⚠  Nunca hardcodear proyectos, datasets ni nombres de tabla — todo va en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Sistema de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Tres tipos de variables disponibles en todos los YAMLs del framework.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1965960" cy="329184"/>
          </a:xfrm>
          <a:prstGeom prst="rect">
            <a:avLst/>
          </a:prstGeom>
          <a:solidFill>
            <a:srgbClr val="0D2040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1874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Sintaxis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399032"/>
            <a:ext cx="5257800" cy="329184"/>
          </a:xfrm>
          <a:prstGeom prst="rect">
            <a:avLst/>
          </a:prstGeom>
          <a:solidFill>
            <a:srgbClr val="0D2040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444752"/>
            <a:ext cx="5166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Origen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399032"/>
            <a:ext cx="3154680" cy="329184"/>
          </a:xfrm>
          <a:prstGeom prst="rect">
            <a:avLst/>
          </a:prstGeom>
          <a:solidFill>
            <a:srgbClr val="0D2040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444752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Cuándo se resuelve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1185855" cy="457200"/>
          </a:xfrm>
          <a:prstGeom prst="rect">
            <a:avLst/>
          </a:prstGeom>
          <a:solidFill>
            <a:srgbClr val="080E18"/>
          </a:solidFill>
          <a:ln w="635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C04"/>
                </a:solidFill>
                <a:latin typeface="Consolas"/>
              </a:rPr>
              <a:t>${env}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828800"/>
            <a:ext cx="690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DC"/>
                </a:solidFill>
                <a:latin typeface="Segoe UI"/>
              </a:rPr>
              <a:t>env_[env].json del framework — reemplazo estático por ambiente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Segoe UI"/>
              </a:rPr>
              <a:t>Antes de cada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40280"/>
            <a:ext cx="11185855" cy="457200"/>
          </a:xfrm>
          <a:prstGeom prst="rect">
            <a:avLst/>
          </a:prstGeom>
          <a:solidFill>
            <a:srgbClr val="080E18"/>
          </a:solidFill>
          <a:ln w="635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317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Consolas"/>
              </a:rPr>
              <a:t>${VARIABLE}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331720"/>
            <a:ext cx="690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DC"/>
                </a:solidFill>
                <a:latin typeface="Segoe UI"/>
              </a:rPr>
              <a:t>_DATAOPS_VARIABLES del trigger Cloud Build — config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331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Segoe UI"/>
              </a:rPr>
              <a:t>Antes de cada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43200"/>
            <a:ext cx="11185855" cy="457200"/>
          </a:xfrm>
          <a:prstGeom prst="rect">
            <a:avLst/>
          </a:prstGeom>
          <a:solidFill>
            <a:srgbClr val="080E18"/>
          </a:solidFill>
          <a:ln w="635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834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D6A7"/>
                </a:solidFill>
                <a:latin typeface="Consolas"/>
              </a:rPr>
              <a:t>${DATAOPS_VARIABLE}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834640"/>
            <a:ext cx="6903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FD8DC"/>
                </a:solidFill>
                <a:latin typeface="Segoe UI"/>
              </a:rPr>
              <a:t>dataops_variable_value.txt — outputs de steps anteriores en ejecución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Segoe UI"/>
              </a:rPr>
              <a:t>En tiempo de ejecución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37560"/>
            <a:ext cx="11185855" cy="548640"/>
          </a:xfrm>
          <a:prstGeom prst="rect">
            <a:avLst/>
          </a:prstGeom>
          <a:solidFill>
            <a:srgbClr val="0A1E10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01568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  <a:latin typeface="Consolas"/>
              </a:rPr>
              <a:t>Patrón de referencia BigQuery completa:   ${project_[tabla]}.${dataset_[tabla]}.${table_[tabla]}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77639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Consolas"/>
              </a:rPr>
              <a:t>Ejemplo:  ${project_ba_itc_attr_digital}.${dataset_ba_itc_attr_digital}.${table_ba_itc_attr_digital}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Convenciones BigQuery — Proyectos, Datasets y Tablas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Toda referencia a un objeto BigQuery se parametriza. Nunca se hardcodea.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0515600" cy="3383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846320"/>
            <a:ext cx="11185855" cy="1645920"/>
          </a:xfrm>
          <a:prstGeom prst="rect">
            <a:avLst/>
          </a:prstGeom>
          <a:solidFill>
            <a:srgbClr val="080E1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50292" cy="1645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937759"/>
            <a:ext cx="11002975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46E7A"/>
                </a:solidFill>
                <a:latin typeface="Consolas"/>
              </a:rPr>
              <a:t># _DATAOPS_VARIABLES — ejemplos de valores (trigger Cloud Build)</a:t>
            </a:r>
          </a:p>
          <a:p>
            <a:r>
              <a:rPr sz="950">
                <a:solidFill>
                  <a:srgbClr val="A5D6A7"/>
                </a:solidFill>
                <a:latin typeface="Consolas"/>
              </a:rPr>
              <a:t>project_ba_itc_attr_digital:  dev-itc-project-bq</a:t>
            </a:r>
          </a:p>
          <a:p>
            <a:r>
              <a:rPr sz="950">
                <a:solidFill>
                  <a:srgbClr val="A5D6A7"/>
                </a:solidFill>
                <a:latin typeface="Consolas"/>
              </a:rPr>
              <a:t>dataset_ba_itc_attr_digital:  ba_itc_customer</a:t>
            </a:r>
          </a:p>
          <a:p>
            <a:r>
              <a:rPr sz="950">
                <a:solidFill>
                  <a:srgbClr val="A5D6A7"/>
                </a:solidFill>
                <a:latin typeface="Consolas"/>
              </a:rPr>
              <a:t>table_ba_itc_attr_digital:    ba_itc_attr_digital</a:t>
            </a:r>
          </a:p>
          <a:p>
            <a:r>
              <a:rPr sz="950">
                <a:solidFill>
                  <a:srgbClr val="FFF176"/>
                </a:solidFill>
                <a:latin typeface="Consolas"/>
              </a:rPr>
              <a:t>project_analytics:  dev-itc-customer-services  |  dataset_stage: stage_tmp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Buenas Prácticas — Stored Procedures Parametrizados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Un SP que funciona en dev debe funcionar igual en prd — solo cambiando los parámetros.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657600" cy="1920240"/>
          </a:xfrm>
          <a:prstGeom prst="rect">
            <a:avLst/>
          </a:prstGeom>
          <a:solidFill>
            <a:srgbClr val="0A1E10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D6A7"/>
                </a:solidFill>
                <a:latin typeface="Segoe UI"/>
              </a:rPr>
              <a:t>✅  Premisas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• Toda referencia a tabla va parametrizada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(proyecto, dataset, nombre de tabla)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• Se trabaja con queries dinámicos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usando FORMAT() + EXECUTE IMMEDIATE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• El SP es portátil entre ambientes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3657600" cy="2194560"/>
          </a:xfrm>
          <a:prstGeom prst="rect">
            <a:avLst/>
          </a:prstGeom>
          <a:solidFill>
            <a:srgbClr val="0D1E3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B5F6"/>
                </a:solidFill>
                <a:latin typeface="Segoe UI"/>
              </a:rPr>
              <a:t>🔄  Orquestación recomendada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3429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• Cloud Workflows como orquestador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• Ejecución de SPs vía API (impersonando SA)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• Manejo de errores + notificación Pub/Sub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132320" cy="4206240"/>
          </a:xfrm>
          <a:prstGeom prst="rect">
            <a:avLst/>
          </a:prstGeom>
          <a:solidFill>
            <a:srgbClr val="080E1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0292" cy="4206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508760"/>
            <a:ext cx="6949440" cy="40690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B5F6"/>
                </a:solidFill>
                <a:latin typeface="Consolas"/>
              </a:rPr>
              <a:t>CREATE OR REPLACE PROCEDURE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`${project_analytics}.${dataset_sp}.sp_proceso`</a:t>
            </a:r>
          </a:p>
          <a:p>
            <a:r>
              <a:rPr sz="900">
                <a:solidFill>
                  <a:srgbClr val="E0E0E0"/>
                </a:solidFill>
                <a:latin typeface="Consolas"/>
              </a:rPr>
              <a:t>(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IN p_project_in  STRING, IN p_dataset_in  STRING,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IN p_table_in    STRING, IN p_project_out STRING,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IN p_dataset_out STRING</a:t>
            </a:r>
          </a:p>
          <a:p>
            <a:r>
              <a:rPr sz="900">
                <a:solidFill>
                  <a:srgbClr val="E0E0E0"/>
                </a:solidFill>
                <a:latin typeface="Consolas"/>
              </a:rPr>
              <a:t>)</a:t>
            </a:r>
          </a:p>
          <a:p>
            <a:r>
              <a:rPr sz="900">
                <a:solidFill>
                  <a:srgbClr val="64B5F6"/>
                </a:solidFill>
                <a:latin typeface="Consolas"/>
              </a:rPr>
              <a:t>BEGIN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DECLARE sql STRING;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SET sql = FORMAT("""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  INSERT INTO `%s.%s.resultado`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  SELECT * FROM `%s.%s.%s`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  WHERE fecha = CURRENT_DATE()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""", p_project_out, p_dataset_out,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     p_project_in,  p_dataset_in, p_table_in);</a:t>
            </a:r>
          </a:p>
          <a:p>
            <a:r>
              <a:rPr sz="900">
                <a:solidFill>
                  <a:srgbClr val="FBBC04"/>
                </a:solidFill>
                <a:latin typeface="Consolas"/>
              </a:rPr>
              <a:t>  EXECUTE IMMEDIATE sql;</a:t>
            </a:r>
          </a:p>
          <a:p>
            <a:r>
              <a:rPr sz="900">
                <a:solidFill>
                  <a:srgbClr val="64B5F6"/>
                </a:solidFill>
                <a:latin typeface="Consolas"/>
              </a:rPr>
              <a:t>END;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Servicios Soportados para Despliegue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El framework puede desplegar automáticamente los siguientes componentes GCP.</a:t>
            </a:r>
          </a:p>
        </p:txBody>
      </p:sp>
      <p:sp>
        <p:nvSpPr>
          <p:cNvPr id="5" name="Rectangle 4"/>
          <p:cNvSpPr/>
          <p:nvPr/>
        </p:nvSpPr>
        <p:spPr>
          <a:xfrm>
            <a:off x="-190652" y="1143000"/>
            <a:ext cx="2148840" cy="1005840"/>
          </a:xfrm>
          <a:prstGeom prst="rect">
            <a:avLst/>
          </a:prstGeom>
          <a:solidFill>
            <a:srgbClr val="1B3A1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190652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652" y="1691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BigQuery DDL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5387" y="1143000"/>
            <a:ext cx="2148840" cy="1005840"/>
          </a:xfrm>
          <a:prstGeom prst="rect">
            <a:avLst/>
          </a:prstGeom>
          <a:solidFill>
            <a:srgbClr val="1B3A1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5387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5387" y="1691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BigQuery SP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1427" y="1143000"/>
            <a:ext cx="2148840" cy="1005840"/>
          </a:xfrm>
          <a:prstGeom prst="rect">
            <a:avLst/>
          </a:prstGeom>
          <a:solidFill>
            <a:srgbClr val="1B3A1B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1427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1427" y="1691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BigQuery DML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7467" y="1143000"/>
            <a:ext cx="2148840" cy="1005840"/>
          </a:xfrm>
          <a:prstGeom prst="rect">
            <a:avLst/>
          </a:prstGeom>
          <a:solidFill>
            <a:srgbClr val="0D20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7467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7467" y="1691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Docker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33507" y="1143000"/>
            <a:ext cx="2148840" cy="1005840"/>
          </a:xfrm>
          <a:prstGeom prst="rect">
            <a:avLst/>
          </a:prstGeom>
          <a:solidFill>
            <a:srgbClr val="0D20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33507" y="11887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3507" y="1691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Cloud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190652" y="2532888"/>
            <a:ext cx="2148840" cy="1005840"/>
          </a:xfrm>
          <a:prstGeom prst="rect">
            <a:avLst/>
          </a:prstGeom>
          <a:solidFill>
            <a:srgbClr val="0D2040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190652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90652" y="30815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Cloud 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15387" y="2532888"/>
            <a:ext cx="2148840" cy="1005840"/>
          </a:xfrm>
          <a:prstGeom prst="rect">
            <a:avLst/>
          </a:prstGeom>
          <a:solidFill>
            <a:srgbClr val="3D2C00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15387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5387" y="30815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Cloud Workflows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1427" y="2532888"/>
            <a:ext cx="2148840" cy="1005840"/>
          </a:xfrm>
          <a:prstGeom prst="rect">
            <a:avLst/>
          </a:prstGeom>
          <a:solidFill>
            <a:srgbClr val="2A0D40"/>
          </a:solidFill>
          <a:ln w="1905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1427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1427" y="30815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Vertex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7467" y="2532888"/>
            <a:ext cx="2148840" cy="1005840"/>
          </a:xfrm>
          <a:prstGeom prst="rect">
            <a:avLst/>
          </a:prstGeom>
          <a:solidFill>
            <a:srgbClr val="3B0F0A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7467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7467" y="30815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Pub/Sub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33507" y="2532888"/>
            <a:ext cx="2148840" cy="1005840"/>
          </a:xfrm>
          <a:prstGeom prst="rect">
            <a:avLst/>
          </a:prstGeom>
          <a:solidFill>
            <a:srgbClr val="3D2C00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33507" y="2578608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FD8DC"/>
                </a:solidFill>
                <a:latin typeface="Segoe UI"/>
              </a:rPr>
              <a:t>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3507" y="308152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E0E0"/>
                </a:solidFill>
                <a:latin typeface="Segoe UI"/>
              </a:rPr>
              <a:t>Scheduler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Orden de Ejecución en Cloud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Garantizado automáticamente por el framework — las dependencias se resuelven solas.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0972800" cy="2834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389120"/>
            <a:ext cx="11185855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4348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Segoe UI"/>
              </a:rPr>
              <a:t>💡  DDL primero: asegura que las tablas existan antes de que SPs y servicios las referencien.
    DML solo en dev — el framework nunca ejecuta DML en prd.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4B5F6"/>
                </a:solidFill>
                <a:latin typeface="Segoe UI"/>
              </a:rPr>
              <a:t>Flujo de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0CAF9"/>
                </a:solidFill>
                <a:latin typeface="Segoe UI"/>
              </a:rPr>
              <a:t>De código a producción, paso a paso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Flujo Completo de Despliegue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De código a producción, con validación explícita del Cloud Operator antes de prd.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097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4B5F6"/>
                </a:solidFill>
                <a:latin typeface="Segoe UI"/>
              </a:rPr>
              <a:t>Framework XOps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0CAF9"/>
                </a:solidFill>
                <a:latin typeface="Segoe UI"/>
              </a:rPr>
              <a:t>Extensión MLOps — Vertex AI Pipelines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Framework XOps — MLOps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El mismo framework DataOps se extiende para desplegar pipelines de ML en Vertex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3566160" cy="3749039"/>
          </a:xfrm>
          <a:prstGeom prst="rect">
            <a:avLst/>
          </a:prstGeom>
          <a:solidFill>
            <a:srgbClr val="0D2040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FD8DC"/>
                </a:solidFill>
                <a:latin typeface="Segoe UI"/>
              </a:rPr>
              <a:t>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476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Flujo ML conservado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9424"/>
            <a:ext cx="32918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Los ML Engineers siguen desarrollando en Jupyter Notebooks — sin cambiar su forma de trabajo.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444752"/>
            <a:ext cx="3566160" cy="3749039"/>
          </a:xfrm>
          <a:prstGeom prst="rect">
            <a:avLst/>
          </a:prstGeom>
          <a:solidFill>
            <a:srgbClr val="2A0D40"/>
          </a:solidFill>
          <a:ln w="1524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554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FD8DC"/>
                </a:solidFill>
                <a:latin typeface="Segoe UI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9476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Compilación automática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249424"/>
            <a:ext cx="32918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El framework interpreta los notebooks y compila los artefactos del pipeline Vertex AI (KFP).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1444752"/>
            <a:ext cx="3566160" cy="3749039"/>
          </a:xfrm>
          <a:prstGeom prst="rect">
            <a:avLst/>
          </a:prstGeom>
          <a:solidFill>
            <a:srgbClr val="1B3A1B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1554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FD8DC"/>
                </a:solidFill>
                <a:latin typeface="Segoe UI"/>
              </a:rPr>
              <a:t>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19476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E0E0"/>
                </a:solidFill>
                <a:latin typeface="Segoe UI"/>
              </a:rPr>
              <a:t>BigQuery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249424"/>
            <a:ext cx="32918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  <a:latin typeface="Segoe UI"/>
              </a:rPr>
              <a:t>Los DDL y SPs del modelo se despliegan por el mismo framework en el mismo flujo CI/CD.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5285231"/>
            <a:ext cx="182880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2943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24AA"/>
                </a:solidFill>
                <a:latin typeface="Consolas"/>
              </a:rPr>
              <a:t>vertex_pipeline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5285231"/>
            <a:ext cx="1828800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529437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3E8"/>
                </a:solidFill>
                <a:latin typeface="Consolas"/>
              </a:rPr>
              <a:t>KFP Components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5285231"/>
            <a:ext cx="2016252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5294375"/>
            <a:ext cx="20162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C04"/>
                </a:solidFill>
                <a:latin typeface="Consolas"/>
              </a:rPr>
              <a:t>deploy_config_train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2652" y="5285231"/>
            <a:ext cx="2363724" cy="274320"/>
          </a:xfrm>
          <a:prstGeom prst="rect">
            <a:avLst/>
          </a:prstGeom>
          <a:solidFill>
            <a:srgbClr val="0A1520"/>
          </a:solidFill>
          <a:ln w="127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2652" y="5294375"/>
            <a:ext cx="23637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BBC04"/>
                </a:solidFill>
                <a:latin typeface="Consolas"/>
              </a:rPr>
              <a:t>deploy_config_inference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Flujo MLOps — Vertex AI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Desde el notebook del ML Engineer hasta el pipeline KFP desplegado en Vertex AI.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0972800" cy="3749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257800"/>
            <a:ext cx="11185855" cy="502920"/>
          </a:xfrm>
          <a:prstGeom prst="rect">
            <a:avLst/>
          </a:prstGeom>
          <a:solidFill>
            <a:srgbClr val="0A152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03520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46E7A"/>
                </a:solidFill>
                <a:latin typeface="Segoe UI"/>
              </a:rPr>
              <a:t>El framework convierte .ipynb a .py, compila el pipeline KFP a JSON y lo registra en Vertex AI Pipelines.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64B5F6"/>
                </a:solidFill>
                <a:latin typeface="Segoe UI"/>
              </a:rPr>
              <a:t>Variables en Vertex AI — deploy_config.yaml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68096"/>
            <a:ext cx="1118585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0CAF9"/>
                </a:solidFill>
                <a:latin typeface="Segoe UI"/>
              </a:rPr>
              <a:t>Las env_vars del pipeline se organizan en 4 bloques con convenciones estrictas de tipado.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6400800" cy="5166360"/>
          </a:xfrm>
          <a:prstGeom prst="rect">
            <a:avLst/>
          </a:prstGeom>
          <a:solidFill>
            <a:srgbClr val="080E1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50292" cy="51663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62179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46E7A"/>
                </a:solidFill>
                <a:latin typeface="Consolas"/>
              </a:rPr>
              <a:t># deploy_config_train.yaml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project:         ${project_analytics}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service_account: ${env}-pipeline-sa@...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region:          us-central1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bucket:          gs://${env}-pipeline-bucket</a:t>
            </a:r>
          </a:p>
          <a:p>
            <a:r>
              <a:rPr sz="900">
                <a:solidFill>
                  <a:srgbClr val="E0E0E0"/>
                </a:solidFill>
                <a:latin typeface="Consolas"/>
              </a:rPr>
              <a:t>pipelines: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- notebook/pipeline-train.ipynb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E0E0E0"/>
                </a:solidFill>
                <a:latin typeface="Consolas"/>
              </a:rPr>
              <a:t>env_vars:</a:t>
            </a:r>
          </a:p>
          <a:p>
            <a:r>
              <a:rPr sz="900">
                <a:solidFill>
                  <a:srgbClr val="546E7A"/>
                </a:solidFill>
                <a:latin typeface="Consolas"/>
              </a:rPr>
              <a:t>  # ── 1. Framework ─────────────────────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ENV:                   ${env}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PIPELINE_DISPLAY_NAME: ${env}-mi-modelo-train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PIPELINE_BUCKET_PROJECT_PATH: gs://bucket/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PIPELINE_PATH_ROOT:    mi-modelo/train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PIPELINE_BUCKET:       gs://${env}-pipeline-bucket</a:t>
            </a:r>
          </a:p>
          <a:p>
            <a:r>
              <a:rPr sz="900">
                <a:solidFill>
                  <a:srgbClr val="546E7A"/>
                </a:solidFill>
                <a:latin typeface="Consolas"/>
              </a:rPr>
              <a:t>  # ── 2. Tablas BigQuery input ──────────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PROJECT_INPUT:  ${project_mi_tabla}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DATASET_INPUT:  ${dataset_mi_tabla}</a:t>
            </a:r>
          </a:p>
          <a:p>
            <a:r>
              <a:rPr sz="900">
                <a:solidFill>
                  <a:srgbClr val="A5D6A7"/>
                </a:solidFill>
                <a:latin typeface="Consolas"/>
              </a:rPr>
              <a:t>  TABLE_INPUT:    ${table_mi_tabla}</a:t>
            </a:r>
          </a:p>
          <a:p>
            <a:r>
              <a:rPr sz="900">
                <a:solidFill>
                  <a:srgbClr val="546E7A"/>
                </a:solidFill>
                <a:latin typeface="Consolas"/>
              </a:rPr>
              <a:t>  # ── 3. Paths GCS ─────────────────────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MODEL_ARTIFACTS: gs://${env}-bucket/artifacts/</a:t>
            </a:r>
          </a:p>
          <a:p>
            <a:r>
              <a:rPr sz="900">
                <a:solidFill>
                  <a:srgbClr val="546E7A"/>
                </a:solidFill>
                <a:latin typeface="Consolas"/>
              </a:rPr>
              <a:t>  # ── 4. Hiperparámetros y recursos ────</a:t>
            </a:r>
          </a:p>
          <a:p>
            <a:r>
              <a:rPr sz="900">
                <a:solidFill>
                  <a:srgbClr val="FBBC04"/>
                </a:solidFill>
                <a:latin typeface="Consolas"/>
              </a:rPr>
              <a:t>  LEARNING_RATE:       0.01         # sin comillas → float()</a:t>
            </a:r>
          </a:p>
          <a:p>
            <a:r>
              <a:rPr sz="900">
                <a:solidFill>
                  <a:srgbClr val="FBBC04"/>
                </a:solidFill>
                <a:latin typeface="Consolas"/>
              </a:rPr>
              <a:t>  N_ESTIMATORS:        100          # sin comillas → int()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MACHINE_TYPE:        "n1-standard-4"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MACHINE_CPU_LIMIT:   "4"          # siempre string</a:t>
            </a:r>
          </a:p>
          <a:p>
            <a:r>
              <a:rPr sz="900">
                <a:solidFill>
                  <a:srgbClr val="80CBC4"/>
                </a:solidFill>
                <a:latin typeface="Consolas"/>
              </a:rPr>
              <a:t>  MACHINE_MEMORY_LIMIT: "15G"       # siempre string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1389888"/>
            <a:ext cx="5120640" cy="2377440"/>
          </a:xfrm>
          <a:prstGeom prst="rect">
            <a:avLst/>
          </a:prstGeom>
          <a:solidFill>
            <a:srgbClr val="3B0F0A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48132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9A9A"/>
                </a:solidFill>
                <a:latin typeface="Segoe UI"/>
              </a:rPr>
              <a:t>🚫  Variables auto-inyectadas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73936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NO van en env_vars — el framework las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inyecta desde los flags top-level del YAML: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/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PIPELINE_PROJECT_ID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PIPELINE_SERVICE_ACCOUNT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PIPELINE_REGION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• PIPELINE_COMPILE_FILE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3886200"/>
            <a:ext cx="5120640" cy="2651760"/>
          </a:xfrm>
          <a:prstGeom prst="rect">
            <a:avLst/>
          </a:prstGeom>
          <a:solidFill>
            <a:srgbClr val="3D2C00"/>
          </a:solidFill>
          <a:ln w="152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977639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C04"/>
                </a:solidFill>
                <a:latin typeface="Segoe UI"/>
              </a:rPr>
              <a:t>⚠  Tipado en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270248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os.getenv() siempre retorna string.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Numéricos sin comillas en YAML: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/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int(os.getenv("N_ESTIMATORS"))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  float(os.getenv("LEARNING_RATE"))</a:t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/>
            </a:r>
          </a:p>
          <a:p>
            <a:pPr algn="l"/>
            <a:r>
              <a:rPr sz="1000" b="0">
                <a:solidFill>
                  <a:srgbClr val="CFD8DC"/>
                </a:solidFill>
                <a:latin typeface="Segoe UI"/>
              </a:rPr>
              <a:t>Resources (CPU, Memory): siempre string.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A73E8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4B5F6"/>
                </a:solidFill>
                <a:latin typeface="Segoe UI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FD8DC"/>
                </a:solidFill>
                <a:latin typeface="Segoe UI"/>
              </a:rPr>
              <a:t>¿Preguntas?
Estamos listos para responderlas.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2487" y="4389120"/>
            <a:ext cx="1463040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72487" y="440740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3E8"/>
                </a:solidFill>
                <a:latin typeface="Segoe UI"/>
              </a:rPr>
              <a:t>DataOps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8407" y="4389120"/>
            <a:ext cx="1463040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440740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24AA"/>
                </a:solidFill>
                <a:latin typeface="Segoe UI"/>
              </a:rPr>
              <a:t>XOps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4327" y="4389120"/>
            <a:ext cx="1463040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4327" y="440740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24AA"/>
                </a:solidFill>
                <a:latin typeface="Segoe UI"/>
              </a:rPr>
              <a:t>MLOps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247" y="4389120"/>
            <a:ext cx="1463040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0247" y="440740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4A853"/>
                </a:solidFill>
                <a:latin typeface="Segoe UI"/>
              </a:rPr>
              <a:t>GCP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56167" y="4389120"/>
            <a:ext cx="1463040" cy="320040"/>
          </a:xfrm>
          <a:prstGeom prst="rect">
            <a:avLst/>
          </a:prstGeom>
          <a:solidFill>
            <a:srgbClr val="0D2040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6167" y="4407408"/>
            <a:ext cx="146304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3E8"/>
                </a:solidFill>
                <a:latin typeface="Segoe UI"/>
              </a:rP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Segoe UI"/>
              </a:rPr>
              <a:t>ITC — Equipo de Data Platform  ·  Lima,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