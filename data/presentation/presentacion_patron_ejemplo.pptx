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y="5143500" cx="9144000"/>
  <p:notesSz cx="6858000" cy="9144000"/>
  <p:embeddedFontLst>
    <p:embeddedFont>
      <p:font typeface="Montserrat SemiBold"/>
      <p:regular r:id="rId76"/>
      <p:bold r:id="rId77"/>
      <p:italic r:id="rId78"/>
      <p:boldItalic r:id="rId79"/>
    </p:embeddedFont>
    <p:embeddedFont>
      <p:font typeface="Inconsolata"/>
      <p:regular r:id="rId80"/>
      <p:bold r:id="rId81"/>
    </p:embeddedFont>
    <p:embeddedFont>
      <p:font typeface="Montserrat"/>
      <p:regular r:id="rId82"/>
      <p:bold r:id="rId83"/>
      <p:italic r:id="rId84"/>
      <p:boldItalic r:id="rId85"/>
    </p:embeddedFont>
    <p:embeddedFont>
      <p:font typeface="Montserrat Medium"/>
      <p:regular r:id="rId86"/>
      <p:bold r:id="rId87"/>
      <p:italic r:id="rId88"/>
      <p:boldItalic r:id="rId89"/>
    </p:embeddedFont>
    <p:embeddedFont>
      <p:font typeface="Montserrat ExtraBold"/>
      <p:bold r:id="rId90"/>
      <p:boldItalic r:id="rId91"/>
    </p:embeddedFont>
    <p:embeddedFont>
      <p:font typeface="Asap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28">
          <p15:clr>
            <a:srgbClr val="9AA0A6"/>
          </p15:clr>
        </p15:guide>
        <p15:guide id="2" pos="3231">
          <p15:clr>
            <a:srgbClr val="9AA0A6"/>
          </p15:clr>
        </p15:guide>
        <p15:guide id="3" pos="138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28"/>
        <p:guide pos="3231"/>
        <p:guide pos="138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Montserrat-italic.fntdata"/><Relationship Id="rId83" Type="http://schemas.openxmlformats.org/officeDocument/2006/relationships/font" Target="fonts/Montserrat-bold.fntdata"/><Relationship Id="rId42" Type="http://schemas.openxmlformats.org/officeDocument/2006/relationships/slide" Target="slides/slide35.xml"/><Relationship Id="rId86" Type="http://schemas.openxmlformats.org/officeDocument/2006/relationships/font" Target="fonts/MontserratMedium-regular.fntdata"/><Relationship Id="rId41" Type="http://schemas.openxmlformats.org/officeDocument/2006/relationships/slide" Target="slides/slide34.xml"/><Relationship Id="rId85" Type="http://schemas.openxmlformats.org/officeDocument/2006/relationships/font" Target="fonts/Montserrat-boldItalic.fntdata"/><Relationship Id="rId44" Type="http://schemas.openxmlformats.org/officeDocument/2006/relationships/slide" Target="slides/slide37.xml"/><Relationship Id="rId88" Type="http://schemas.openxmlformats.org/officeDocument/2006/relationships/font" Target="fonts/MontserratMedium-italic.fntdata"/><Relationship Id="rId43" Type="http://schemas.openxmlformats.org/officeDocument/2006/relationships/slide" Target="slides/slide36.xml"/><Relationship Id="rId87" Type="http://schemas.openxmlformats.org/officeDocument/2006/relationships/font" Target="fonts/MontserratMedium-bold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9" Type="http://schemas.openxmlformats.org/officeDocument/2006/relationships/font" Target="fonts/MontserratMedium-boldItalic.fntdata"/><Relationship Id="rId80" Type="http://schemas.openxmlformats.org/officeDocument/2006/relationships/font" Target="fonts/Inconsolata-regular.fntdata"/><Relationship Id="rId82" Type="http://schemas.openxmlformats.org/officeDocument/2006/relationships/font" Target="fonts/Montserrat-regular.fntdata"/><Relationship Id="rId81" Type="http://schemas.openxmlformats.org/officeDocument/2006/relationships/font" Target="fonts/Inconsolat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font" Target="fonts/MontserratSemiBold-bold.fntdata"/><Relationship Id="rId32" Type="http://schemas.openxmlformats.org/officeDocument/2006/relationships/slide" Target="slides/slide25.xml"/><Relationship Id="rId76" Type="http://schemas.openxmlformats.org/officeDocument/2006/relationships/font" Target="fonts/MontserratSemiBold-regular.fntdata"/><Relationship Id="rId35" Type="http://schemas.openxmlformats.org/officeDocument/2006/relationships/slide" Target="slides/slide28.xml"/><Relationship Id="rId79" Type="http://schemas.openxmlformats.org/officeDocument/2006/relationships/font" Target="fonts/MontserratSemiBold-boldItalic.fntdata"/><Relationship Id="rId34" Type="http://schemas.openxmlformats.org/officeDocument/2006/relationships/slide" Target="slides/slide27.xml"/><Relationship Id="rId78" Type="http://schemas.openxmlformats.org/officeDocument/2006/relationships/font" Target="fonts/MontserratSemiBold-italic.fntdata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95" Type="http://schemas.openxmlformats.org/officeDocument/2006/relationships/font" Target="fonts/Asap-boldItalic.fntdata"/><Relationship Id="rId50" Type="http://schemas.openxmlformats.org/officeDocument/2006/relationships/slide" Target="slides/slide43.xml"/><Relationship Id="rId94" Type="http://schemas.openxmlformats.org/officeDocument/2006/relationships/font" Target="fonts/Asap-italic.fntdata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91" Type="http://schemas.openxmlformats.org/officeDocument/2006/relationships/font" Target="fonts/MontserratExtraBold-boldItalic.fntdata"/><Relationship Id="rId90" Type="http://schemas.openxmlformats.org/officeDocument/2006/relationships/font" Target="fonts/MontserratExtraBold-bold.fntdata"/><Relationship Id="rId93" Type="http://schemas.openxmlformats.org/officeDocument/2006/relationships/font" Target="fonts/Asap-bold.fntdata"/><Relationship Id="rId92" Type="http://schemas.openxmlformats.org/officeDocument/2006/relationships/font" Target="fonts/Asap-regular.fntdata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KytW151dpqU" TargetMode="External"/><Relationship Id="rId3" Type="http://schemas.openxmlformats.org/officeDocument/2006/relationships/hyperlink" Target="https://www.youtube.com/watch?v=oT3arRRB2Cw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ublic.tableau.com/app/profile/roony/viz/Superstore_16390835368830/Dashboard1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ublic.tableau.com/app/profile/roony/viz/Superstore_16390835368830/Dashboard1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ublic.tableau.com/app/profile/roony/viz/Superstore_16390835368830/Dashboard1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ec4ec11d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ec4ec11d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eb110f9eb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eb110f9eb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0d6781ee3c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0d6781ee3c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ec4ec11d2f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ec4ec11d2f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01413539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01413539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(Por qué)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(Cómo)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(comunidad)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Equipo, cómo lograrlo, 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escalamiento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e92c57bc9d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e92c57bc9d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0a7f0448ed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0a7f0448e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0a7f0448e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0a7f0448e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0a7f0448ed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0a7f0448e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0a7f0448e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0a7f0448e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0a7f0448ed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0a7f0448ed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0a7f0448ed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0a7f0448ed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0a7f0448ed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0a7f0448ed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0a7f0448ed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0a7f0448ed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0a7f0448ed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0a7f0448ed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0a7f0448ed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0a7f0448ed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0a7f0448ed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0a7f0448ed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0a7f0448ed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0a7f0448ed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0a7f0448ed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0a7f0448ed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0a7f0448ed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0a7f0448ed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0a7f0448e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g10a7f0448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Machine learningl: </a:t>
            </a:r>
            <a:r>
              <a:rPr lang="es" u="sng">
                <a:solidFill>
                  <a:schemeClr val="hlink"/>
                </a:solidFill>
                <a:hlinkClick r:id="rId2"/>
              </a:rPr>
              <a:t>https://www.youtube.com/watch?v=KytW151dpqU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rgbClr val="222222"/>
                </a:solidFill>
              </a:rPr>
              <a:t>Aprendizaje supervisado y no supervisado: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https://www.youtube.com/watch?v=oT3arRRB2Cw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0a7f0448ed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0a7f0448ed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rgbClr val="1C1D1E"/>
                </a:solidFill>
                <a:highlight>
                  <a:srgbClr val="F4F4F4"/>
                </a:highlight>
              </a:rPr>
              <a:t>Baker Tilly’s Data Analytics maturity model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0a7f0448ed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10a7f0448ed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rgbClr val="1C1D1E"/>
                </a:solidFill>
                <a:highlight>
                  <a:srgbClr val="F4F4F4"/>
                </a:highlight>
              </a:rPr>
              <a:t>Baker Tilly’s Data Analytics maturity model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10a7f0448ed_0_1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10a7f0448ed_0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rgbClr val="1C1D1E"/>
                </a:solidFill>
                <a:highlight>
                  <a:srgbClr val="F4F4F4"/>
                </a:highlight>
              </a:rPr>
              <a:t>Baker Tilly’s Data Analytics maturity model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0a7f0448ed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0a7f0448ed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rgbClr val="1C1D1E"/>
                </a:solidFill>
                <a:highlight>
                  <a:srgbClr val="F4F4F4"/>
                </a:highlight>
              </a:rPr>
              <a:t>Baker Tilly’s Data Analytics maturity model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10a7f0448ed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10a7f0448ed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10a7f0448ed_0_1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10a7f0448ed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0a7f0448ed_0_1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0a7f0448ed_0_1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10a7f0448ed_0_1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0a7f0448ed_0_1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https://public.tableau.com/app/profile/roony/viz/Superstore_16390835368830/Dashboard1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0a7f0448ed_0_1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0a7f0448ed_0_1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https://public.tableau.com/app/profile/roony/viz/Superstore_16390835368830/Dashboard1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10a7f0448ed_0_1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10a7f0448ed_0_1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https://public.tableau.com/app/profile/roony/viz/Superstore_16390835368830/Dashboard1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10a7f0448ed_0_1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10a7f0448ed_0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10a7f0448ed_0_1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10a7f0448ed_0_1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10a7f0448ed_0_1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10a7f0448ed_0_1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10a7f0448ed_0_1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10a7f0448ed_0_1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10a7f0448ed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10a7f0448ed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0a7f0448ed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0a7f0448ed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10a7f0448ed_0_1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10a7f0448ed_0_1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0a7f0448ed_0_1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10a7f0448ed_0_1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10a7f0448ed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10a7f0448ed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10d6781ee3c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10d6781ee3c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10d6781ee3c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10d6781ee3c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10d6781ee3c_0_6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3" name="Google Shape;1223;g10d6781ee3c_0_6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10d6781ee3c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10d6781ee3c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10d6781ee3c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10d6781ee3c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0d6781ee3c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0d6781ee3c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10a7f0448ed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10a7f0448ed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10d6781ee3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10d6781ee3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10d6781ee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10d6781ee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10d6781ee3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10d6781ee3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10d6781ee3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10d6781ee3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10a7f0448ed_0_1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10a7f0448ed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0a7f0448ed_0_1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0a7f0448ed_0_1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Development: Utiliza lo que ya se conoce del research 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10d6781ee3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10d6781ee3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(Por qué)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(Cómo)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(comunidad)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Equipo, cómo lograrlo, 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escalamiento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0d6781ee3c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0d6781ee3c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(Por qué)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(Cómo)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(comunidad)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Equipo, cómo lograrlo, 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escalamiento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10d6781ee3c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10d6781ee3c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(Por qué)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(Cómo)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(comunidad)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Equipo, cómo lograrlo, 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escalamiento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10d6781ee3c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10d6781ee3c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(Por qué)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(Cómo)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(comunidad)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Equipo, cómo lograrlo, 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escalamiento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10d6781ee3c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10d6781ee3c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(Por qué)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(Cómo)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(comunidad)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Equipo, cómo lograrlo, 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escalamiento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10d6781ee3c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10d6781ee3c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(Por qué)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(Cómo)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(comunidad)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Equipo, cómo lograrlo, 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escalamiento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10d6781ee3c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10d6781ee3c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(Por qué)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(Cómo)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(comunidad)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Equipo, cómo lograrlo, 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escalamiento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10a7f0448ed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10a7f0448ed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10a7f0448ed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10a7f0448ed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0d6781ee3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0d6781ee3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10d6781ee3c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10d6781ee3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10d6781ee3c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10d6781ee3c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Gobierno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Gestión de metadatos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Calidad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Protección  de datos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Data Ops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ec4ec11d2f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ec4ec11d2f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ec4ec11d2f_0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ec4ec11d2f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ed155835c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4" name="Google Shape;1744;ged155835c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 1">
  <p:cSld name="TITLE_AND_BODY_1_1">
    <p:bg>
      <p:bgPr>
        <a:solidFill>
          <a:srgbClr val="F3F3F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075950" y="2808850"/>
            <a:ext cx="4793100" cy="33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3500"/>
              <a:buFont typeface="Montserrat"/>
              <a:buNone/>
              <a:defRPr b="1" sz="3500">
                <a:solidFill>
                  <a:srgbClr val="FF3B3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500">
              <a:solidFill>
                <a:srgbClr val="FF3B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4333" y="911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103513" y="3133825"/>
            <a:ext cx="3804300" cy="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_2">
  <p:cSld name="TITLE_AND_BODY_1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1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 1">
  <p:cSld name="TITLE_AND_BODY_1_1">
    <p:bg>
      <p:bgPr>
        <a:solidFill>
          <a:srgbClr val="F3F3F3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1075950" y="2808850"/>
            <a:ext cx="4793100" cy="33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3500"/>
              <a:buFont typeface="Montserrat"/>
              <a:buNone/>
              <a:defRPr b="1" sz="3500">
                <a:solidFill>
                  <a:srgbClr val="FF3B3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12" name="Google Shape;112;p28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500">
              <a:solidFill>
                <a:srgbClr val="FF3B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8"/>
          <p:cNvSpPr txBox="1"/>
          <p:nvPr>
            <p:ph idx="12" type="sldNum"/>
          </p:nvPr>
        </p:nvSpPr>
        <p:spPr>
          <a:xfrm>
            <a:off x="8474333" y="911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4" name="Google Shape;114;p28"/>
          <p:cNvSpPr txBox="1"/>
          <p:nvPr>
            <p:ph idx="1" type="subTitle"/>
          </p:nvPr>
        </p:nvSpPr>
        <p:spPr>
          <a:xfrm>
            <a:off x="1103513" y="3133825"/>
            <a:ext cx="3804300" cy="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200"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200"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200"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200"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200"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200"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200"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 2">
  <p:cSld name="TITLE_AND_BODY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/>
          <p:nvPr>
            <p:ph idx="1" type="subTitle"/>
          </p:nvPr>
        </p:nvSpPr>
        <p:spPr>
          <a:xfrm>
            <a:off x="592331" y="3015131"/>
            <a:ext cx="8520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>
                <a:solidFill>
                  <a:srgbClr val="FFFFFF"/>
                </a:solidFill>
                <a:highlight>
                  <a:srgbClr val="FF3B3B"/>
                </a:highlight>
                <a:latin typeface="Asap"/>
                <a:ea typeface="Asap"/>
                <a:cs typeface="Asap"/>
                <a:sym typeface="Asa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9pPr>
          </a:lstStyle>
          <a:p/>
        </p:txBody>
      </p:sp>
      <p:sp>
        <p:nvSpPr>
          <p:cNvPr id="122" name="Google Shape;122;p31"/>
          <p:cNvSpPr txBox="1"/>
          <p:nvPr>
            <p:ph type="ctrTitle"/>
          </p:nvPr>
        </p:nvSpPr>
        <p:spPr>
          <a:xfrm>
            <a:off x="592331" y="32381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7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592331" y="3015131"/>
            <a:ext cx="8520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>
                <a:solidFill>
                  <a:srgbClr val="FFFFFF"/>
                </a:solidFill>
                <a:highlight>
                  <a:srgbClr val="FF3B3B"/>
                </a:highlight>
                <a:latin typeface="Asap"/>
                <a:ea typeface="Asap"/>
                <a:cs typeface="Asap"/>
                <a:sym typeface="Asa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9pPr>
          </a:lstStyle>
          <a:p/>
        </p:txBody>
      </p:sp>
      <p:sp>
        <p:nvSpPr>
          <p:cNvPr id="125" name="Google Shape;125;p32"/>
          <p:cNvSpPr txBox="1"/>
          <p:nvPr>
            <p:ph type="ctrTitle"/>
          </p:nvPr>
        </p:nvSpPr>
        <p:spPr>
          <a:xfrm>
            <a:off x="592331" y="32381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72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9pPr>
          </a:lstStyle>
          <a:p/>
        </p:txBody>
      </p:sp>
      <p:sp>
        <p:nvSpPr>
          <p:cNvPr id="126" name="Google Shape;126;p32"/>
          <p:cNvSpPr/>
          <p:nvPr/>
        </p:nvSpPr>
        <p:spPr>
          <a:xfrm>
            <a:off x="6189500" y="-504025"/>
            <a:ext cx="5079300" cy="5412300"/>
          </a:xfrm>
          <a:prstGeom prst="diamond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2"/>
          <p:cNvSpPr/>
          <p:nvPr/>
        </p:nvSpPr>
        <p:spPr>
          <a:xfrm>
            <a:off x="-1022475" y="-1590025"/>
            <a:ext cx="4068300" cy="4335000"/>
          </a:xfrm>
          <a:prstGeom prst="diamond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2"/>
          <p:cNvSpPr/>
          <p:nvPr/>
        </p:nvSpPr>
        <p:spPr>
          <a:xfrm>
            <a:off x="5148575" y="-329400"/>
            <a:ext cx="1315800" cy="1402200"/>
          </a:xfrm>
          <a:prstGeom prst="diamond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2"/>
          <p:cNvSpPr/>
          <p:nvPr/>
        </p:nvSpPr>
        <p:spPr>
          <a:xfrm>
            <a:off x="2564450" y="1314825"/>
            <a:ext cx="1043400" cy="1111800"/>
          </a:xfrm>
          <a:prstGeom prst="diamond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2"/>
          <p:cNvSpPr/>
          <p:nvPr/>
        </p:nvSpPr>
        <p:spPr>
          <a:xfrm>
            <a:off x="6512000" y="-50402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2"/>
          <p:cNvSpPr/>
          <p:nvPr/>
        </p:nvSpPr>
        <p:spPr>
          <a:xfrm>
            <a:off x="-1174827" y="-1533025"/>
            <a:ext cx="4014900" cy="4278000"/>
          </a:xfrm>
          <a:prstGeom prst="diamond">
            <a:avLst/>
          </a:prstGeom>
          <a:noFill/>
          <a:ln cap="flat" cmpd="sng" w="9525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 1">
  <p:cSld name="TITLE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 txBox="1"/>
          <p:nvPr>
            <p:ph idx="1" type="subTitle"/>
          </p:nvPr>
        </p:nvSpPr>
        <p:spPr>
          <a:xfrm>
            <a:off x="592331" y="3015131"/>
            <a:ext cx="8520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>
                <a:solidFill>
                  <a:srgbClr val="FFFFFF"/>
                </a:solidFill>
                <a:highlight>
                  <a:srgbClr val="FF3B3B"/>
                </a:highlight>
                <a:latin typeface="Asap"/>
                <a:ea typeface="Asap"/>
                <a:cs typeface="Asap"/>
                <a:sym typeface="Asa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highlight>
                  <a:srgbClr val="FF3B3B"/>
                </a:highlight>
              </a:defRPr>
            </a:lvl9pPr>
          </a:lstStyle>
          <a:p/>
        </p:txBody>
      </p:sp>
      <p:sp>
        <p:nvSpPr>
          <p:cNvPr id="134" name="Google Shape;134;p33"/>
          <p:cNvSpPr txBox="1"/>
          <p:nvPr>
            <p:ph type="ctrTitle"/>
          </p:nvPr>
        </p:nvSpPr>
        <p:spPr>
          <a:xfrm>
            <a:off x="592331" y="32381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72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200"/>
              <a:buNone/>
              <a:defRPr sz="5200">
                <a:solidFill>
                  <a:srgbClr val="595959"/>
                </a:solidFill>
              </a:defRPr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6189500" y="-504025"/>
            <a:ext cx="5079300" cy="54123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3"/>
          <p:cNvSpPr/>
          <p:nvPr/>
        </p:nvSpPr>
        <p:spPr>
          <a:xfrm>
            <a:off x="-1022475" y="-1590025"/>
            <a:ext cx="4068300" cy="4335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3"/>
          <p:cNvSpPr/>
          <p:nvPr/>
        </p:nvSpPr>
        <p:spPr>
          <a:xfrm>
            <a:off x="5148575" y="-329400"/>
            <a:ext cx="1315800" cy="14022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3"/>
          <p:cNvSpPr/>
          <p:nvPr/>
        </p:nvSpPr>
        <p:spPr>
          <a:xfrm>
            <a:off x="2564450" y="1314825"/>
            <a:ext cx="1043400" cy="11118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3"/>
          <p:cNvSpPr/>
          <p:nvPr/>
        </p:nvSpPr>
        <p:spPr>
          <a:xfrm>
            <a:off x="6512000" y="-50402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3"/>
          <p:cNvSpPr/>
          <p:nvPr/>
        </p:nvSpPr>
        <p:spPr>
          <a:xfrm>
            <a:off x="-717975" y="-1265874"/>
            <a:ext cx="3459300" cy="3686700"/>
          </a:xfrm>
          <a:prstGeom prst="diamond">
            <a:avLst/>
          </a:prstGeom>
          <a:noFill/>
          <a:ln cap="flat" cmpd="sng" w="9525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3"/>
          <p:cNvSpPr/>
          <p:nvPr/>
        </p:nvSpPr>
        <p:spPr>
          <a:xfrm>
            <a:off x="5343125" y="-122091"/>
            <a:ext cx="926700" cy="987600"/>
          </a:xfrm>
          <a:prstGeom prst="diamond">
            <a:avLst/>
          </a:prstGeom>
          <a:noFill/>
          <a:ln cap="flat" cmpd="sng" w="9525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/>
          <p:nvPr/>
        </p:nvSpPr>
        <p:spPr>
          <a:xfrm>
            <a:off x="5459400" y="-61887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4"/>
          <p:cNvSpPr/>
          <p:nvPr/>
        </p:nvSpPr>
        <p:spPr>
          <a:xfrm>
            <a:off x="-1096500" y="-778200"/>
            <a:ext cx="3281700" cy="34971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4"/>
          <p:cNvSpPr txBox="1"/>
          <p:nvPr>
            <p:ph type="ctrTitle"/>
          </p:nvPr>
        </p:nvSpPr>
        <p:spPr>
          <a:xfrm>
            <a:off x="592325" y="2686825"/>
            <a:ext cx="8174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5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SECTION_HEADER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8" name="Google Shape;148;p35"/>
          <p:cNvSpPr/>
          <p:nvPr/>
        </p:nvSpPr>
        <p:spPr>
          <a:xfrm>
            <a:off x="5459400" y="-61887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5"/>
          <p:cNvSpPr/>
          <p:nvPr/>
        </p:nvSpPr>
        <p:spPr>
          <a:xfrm>
            <a:off x="-1096500" y="-778200"/>
            <a:ext cx="3281700" cy="34971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5"/>
          <p:cNvSpPr txBox="1"/>
          <p:nvPr>
            <p:ph type="ctrTitle"/>
          </p:nvPr>
        </p:nvSpPr>
        <p:spPr>
          <a:xfrm>
            <a:off x="592325" y="2686825"/>
            <a:ext cx="8174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5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 1">
  <p:cSld name="SECTION_HEADER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3" name="Google Shape;153;p36"/>
          <p:cNvSpPr/>
          <p:nvPr/>
        </p:nvSpPr>
        <p:spPr>
          <a:xfrm>
            <a:off x="5459400" y="-61887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6"/>
          <p:cNvSpPr/>
          <p:nvPr/>
        </p:nvSpPr>
        <p:spPr>
          <a:xfrm>
            <a:off x="-1096500" y="-778200"/>
            <a:ext cx="3281700" cy="34971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6"/>
          <p:cNvSpPr txBox="1"/>
          <p:nvPr>
            <p:ph type="ctrTitle"/>
          </p:nvPr>
        </p:nvSpPr>
        <p:spPr>
          <a:xfrm>
            <a:off x="592325" y="2686825"/>
            <a:ext cx="8174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5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 txBox="1"/>
          <p:nvPr>
            <p:ph type="title"/>
          </p:nvPr>
        </p:nvSpPr>
        <p:spPr>
          <a:xfrm>
            <a:off x="616500" y="597425"/>
            <a:ext cx="415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58" name="Google Shape;158;p37"/>
          <p:cNvSpPr txBox="1"/>
          <p:nvPr>
            <p:ph idx="1" type="body"/>
          </p:nvPr>
        </p:nvSpPr>
        <p:spPr>
          <a:xfrm>
            <a:off x="616500" y="1152475"/>
            <a:ext cx="643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9" name="Google Shape;159;p37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7"/>
          <p:cNvSpPr txBox="1"/>
          <p:nvPr/>
        </p:nvSpPr>
        <p:spPr>
          <a:xfrm>
            <a:off x="8093333" y="911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595959"/>
                </a:solidFill>
                <a:latin typeface="Inconsolata"/>
                <a:ea typeface="Inconsolata"/>
                <a:cs typeface="Inconsolata"/>
                <a:sym typeface="Inconsolata"/>
              </a:rPr>
              <a:t>‹#›</a:t>
            </a:fld>
            <a:endParaRPr b="0" i="0" sz="1400" u="none" cap="none" strike="noStrike">
              <a:solidFill>
                <a:srgbClr val="59595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61" name="Google Shape;16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300" y="122713"/>
            <a:ext cx="350700" cy="3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8"/>
          <p:cNvSpPr txBox="1"/>
          <p:nvPr>
            <p:ph type="title"/>
          </p:nvPr>
        </p:nvSpPr>
        <p:spPr>
          <a:xfrm>
            <a:off x="616500" y="597425"/>
            <a:ext cx="415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64" name="Google Shape;164;p38"/>
          <p:cNvSpPr txBox="1"/>
          <p:nvPr>
            <p:ph idx="1" type="body"/>
          </p:nvPr>
        </p:nvSpPr>
        <p:spPr>
          <a:xfrm>
            <a:off x="616500" y="1152475"/>
            <a:ext cx="643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5" name="Google Shape;165;p38"/>
          <p:cNvSpPr/>
          <p:nvPr/>
        </p:nvSpPr>
        <p:spPr>
          <a:xfrm>
            <a:off x="5410300" y="705725"/>
            <a:ext cx="5079300" cy="5412300"/>
          </a:xfrm>
          <a:prstGeom prst="diamond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8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8"/>
          <p:cNvSpPr txBox="1"/>
          <p:nvPr/>
        </p:nvSpPr>
        <p:spPr>
          <a:xfrm>
            <a:off x="8093333" y="911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595959"/>
                </a:solidFill>
                <a:latin typeface="Inconsolata"/>
                <a:ea typeface="Inconsolata"/>
                <a:cs typeface="Inconsolata"/>
                <a:sym typeface="Inconsolata"/>
              </a:rPr>
              <a:t>‹#›</a:t>
            </a:fld>
            <a:endParaRPr b="0" i="0" sz="1400" u="none" cap="none" strike="noStrike">
              <a:solidFill>
                <a:srgbClr val="59595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68" name="Google Shape;1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300" y="122713"/>
            <a:ext cx="350700" cy="3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/>
          <p:nvPr>
            <p:ph type="title"/>
          </p:nvPr>
        </p:nvSpPr>
        <p:spPr>
          <a:xfrm>
            <a:off x="616500" y="597425"/>
            <a:ext cx="415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71" name="Google Shape;171;p39"/>
          <p:cNvSpPr txBox="1"/>
          <p:nvPr>
            <p:ph idx="1" type="body"/>
          </p:nvPr>
        </p:nvSpPr>
        <p:spPr>
          <a:xfrm>
            <a:off x="616500" y="1152475"/>
            <a:ext cx="643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Montserrat"/>
              <a:buChar char="■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2" name="Google Shape;172;p39"/>
          <p:cNvSpPr/>
          <p:nvPr/>
        </p:nvSpPr>
        <p:spPr>
          <a:xfrm>
            <a:off x="5410300" y="705725"/>
            <a:ext cx="5079300" cy="54123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 txBox="1"/>
          <p:nvPr/>
        </p:nvSpPr>
        <p:spPr>
          <a:xfrm>
            <a:off x="8093333" y="911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595959"/>
                </a:solidFill>
                <a:latin typeface="Inconsolata"/>
                <a:ea typeface="Inconsolata"/>
                <a:cs typeface="Inconsolata"/>
                <a:sym typeface="Inconsolata"/>
              </a:rPr>
              <a:t>‹#›</a:t>
            </a:fld>
            <a:endParaRPr b="0" i="0" sz="1400" u="none" cap="none" strike="noStrike">
              <a:solidFill>
                <a:srgbClr val="59595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75" name="Google Shape;17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300" y="122713"/>
            <a:ext cx="350700" cy="3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">
  <p:cSld name="TITLE_AND_BODY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0"/>
          <p:cNvSpPr txBox="1"/>
          <p:nvPr>
            <p:ph type="title"/>
          </p:nvPr>
        </p:nvSpPr>
        <p:spPr>
          <a:xfrm>
            <a:off x="616500" y="597425"/>
            <a:ext cx="415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78" name="Google Shape;178;p40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0"/>
          <p:cNvSpPr txBox="1"/>
          <p:nvPr>
            <p:ph idx="1" type="body"/>
          </p:nvPr>
        </p:nvSpPr>
        <p:spPr>
          <a:xfrm>
            <a:off x="616500" y="3908150"/>
            <a:ext cx="69957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consolata"/>
              <a:buChar char="○"/>
              <a:defRPr sz="800">
                <a:latin typeface="Inconsolata"/>
                <a:ea typeface="Inconsolata"/>
                <a:cs typeface="Inconsolata"/>
                <a:sym typeface="Inconsolata"/>
              </a:defRPr>
            </a:lvl2pPr>
            <a:lvl3pPr indent="-2794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Inconsolata"/>
              <a:buChar char="■"/>
              <a:defRPr sz="800">
                <a:latin typeface="Inconsolata"/>
                <a:ea typeface="Inconsolata"/>
                <a:cs typeface="Inconsolata"/>
                <a:sym typeface="Inconsolata"/>
              </a:defRPr>
            </a:lvl3pPr>
            <a:lvl4pPr indent="-2794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Inconsolata"/>
              <a:buChar char="●"/>
              <a:defRPr sz="800">
                <a:latin typeface="Inconsolata"/>
                <a:ea typeface="Inconsolata"/>
                <a:cs typeface="Inconsolata"/>
                <a:sym typeface="Inconsolata"/>
              </a:defRPr>
            </a:lvl4pPr>
            <a:lvl5pPr indent="-2794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Inconsolata"/>
              <a:buChar char="○"/>
              <a:defRPr sz="800">
                <a:latin typeface="Inconsolata"/>
                <a:ea typeface="Inconsolata"/>
                <a:cs typeface="Inconsolata"/>
                <a:sym typeface="Inconsolata"/>
              </a:defRPr>
            </a:lvl5pPr>
            <a:lvl6pPr indent="-2794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Inconsolata"/>
              <a:buChar char="■"/>
              <a:defRPr sz="800">
                <a:latin typeface="Inconsolata"/>
                <a:ea typeface="Inconsolata"/>
                <a:cs typeface="Inconsolata"/>
                <a:sym typeface="Inconsolata"/>
              </a:defRPr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Inconsolata"/>
              <a:buChar char="●"/>
              <a:defRPr sz="800">
                <a:latin typeface="Inconsolata"/>
                <a:ea typeface="Inconsolata"/>
                <a:cs typeface="Inconsolata"/>
                <a:sym typeface="Inconsolata"/>
              </a:defRPr>
            </a:lvl7pPr>
            <a:lvl8pPr indent="-2794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Inconsolata"/>
              <a:buChar char="○"/>
              <a:defRPr sz="800">
                <a:latin typeface="Inconsolata"/>
                <a:ea typeface="Inconsolata"/>
                <a:cs typeface="Inconsolata"/>
                <a:sym typeface="Inconsolata"/>
              </a:defRPr>
            </a:lvl8pPr>
            <a:lvl9pPr indent="-2794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Inconsolata"/>
              <a:buChar char="■"/>
              <a:defRPr sz="8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80" name="Google Shape;180;p40"/>
          <p:cNvSpPr txBox="1"/>
          <p:nvPr/>
        </p:nvSpPr>
        <p:spPr>
          <a:xfrm>
            <a:off x="8093333" y="911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595959"/>
                </a:solidFill>
                <a:latin typeface="Inconsolata"/>
                <a:ea typeface="Inconsolata"/>
                <a:cs typeface="Inconsolata"/>
                <a:sym typeface="Inconsolata"/>
              </a:rPr>
              <a:t>‹#›</a:t>
            </a:fld>
            <a:endParaRPr b="0" i="0" sz="1400" u="none" cap="none" strike="noStrike">
              <a:solidFill>
                <a:srgbClr val="59595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81" name="Google Shape;181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300" y="122713"/>
            <a:ext cx="350700" cy="3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 1">
  <p:cSld name="TITLE_AND_BODY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 txBox="1"/>
          <p:nvPr>
            <p:ph type="title"/>
          </p:nvPr>
        </p:nvSpPr>
        <p:spPr>
          <a:xfrm>
            <a:off x="1075950" y="2808850"/>
            <a:ext cx="4793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3500"/>
              <a:buFont typeface="Montserrat"/>
              <a:buNone/>
              <a:defRPr b="1" sz="3500">
                <a:solidFill>
                  <a:srgbClr val="FF3B3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84" name="Google Shape;184;p41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FF3B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41"/>
          <p:cNvSpPr txBox="1"/>
          <p:nvPr>
            <p:ph idx="12" type="sldNum"/>
          </p:nvPr>
        </p:nvSpPr>
        <p:spPr>
          <a:xfrm>
            <a:off x="8474333" y="911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6" name="Google Shape;186;p41"/>
          <p:cNvSpPr txBox="1"/>
          <p:nvPr>
            <p:ph idx="1" type="subTitle"/>
          </p:nvPr>
        </p:nvSpPr>
        <p:spPr>
          <a:xfrm>
            <a:off x="1103513" y="3133825"/>
            <a:ext cx="38043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 1 1">
  <p:cSld name="TITLE_AND_BODY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2"/>
          <p:cNvSpPr txBox="1"/>
          <p:nvPr>
            <p:ph type="title"/>
          </p:nvPr>
        </p:nvSpPr>
        <p:spPr>
          <a:xfrm>
            <a:off x="1075950" y="2808850"/>
            <a:ext cx="4793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b="1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consolata"/>
              <a:buNone/>
              <a:defRPr b="1" sz="10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consolata"/>
              <a:buNone/>
              <a:defRPr b="1" sz="10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consolata"/>
              <a:buNone/>
              <a:defRPr b="1" sz="10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consolata"/>
              <a:buNone/>
              <a:defRPr b="1" sz="10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consolata"/>
              <a:buNone/>
              <a:defRPr b="1" sz="10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consolata"/>
              <a:buNone/>
              <a:defRPr b="1" sz="10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consolata"/>
              <a:buNone/>
              <a:defRPr b="1" sz="10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consolata"/>
              <a:buNone/>
              <a:defRPr b="1" sz="10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89" name="Google Shape;189;p42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FF3B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42"/>
          <p:cNvSpPr txBox="1"/>
          <p:nvPr>
            <p:ph idx="1" type="subTitle"/>
          </p:nvPr>
        </p:nvSpPr>
        <p:spPr>
          <a:xfrm>
            <a:off x="1103513" y="3133825"/>
            <a:ext cx="38043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3"/>
          <p:cNvSpPr txBox="1"/>
          <p:nvPr>
            <p:ph idx="12" type="sldNum"/>
          </p:nvPr>
        </p:nvSpPr>
        <p:spPr>
          <a:xfrm>
            <a:off x="8684343" y="4700818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jp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1.png"/><Relationship Id="rId13" Type="http://schemas.openxmlformats.org/officeDocument/2006/relationships/image" Target="../media/image4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1.png"/><Relationship Id="rId13" Type="http://schemas.openxmlformats.org/officeDocument/2006/relationships/image" Target="../media/image4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5" Type="http://schemas.openxmlformats.org/officeDocument/2006/relationships/image" Target="../media/image24.png"/><Relationship Id="rId14" Type="http://schemas.openxmlformats.org/officeDocument/2006/relationships/image" Target="../media/image31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1.png"/><Relationship Id="rId13" Type="http://schemas.openxmlformats.org/officeDocument/2006/relationships/image" Target="../media/image4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3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1.png"/><Relationship Id="rId13" Type="http://schemas.openxmlformats.org/officeDocument/2006/relationships/image" Target="../media/image37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0.png"/><Relationship Id="rId8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hyperlink" Target="https://public.tableau.com/app/profile/roony/viz/Superstore_16390835368830/Dashboard1" TargetMode="External"/><Relationship Id="rId6" Type="http://schemas.openxmlformats.org/officeDocument/2006/relationships/image" Target="../media/image39.png"/><Relationship Id="rId7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hyperlink" Target="https://public.tableau.com/app/profile/roony/viz/Superstore_16390835368830/Dashboard1" TargetMode="External"/><Relationship Id="rId6" Type="http://schemas.openxmlformats.org/officeDocument/2006/relationships/image" Target="../media/image39.png"/><Relationship Id="rId7" Type="http://schemas.openxmlformats.org/officeDocument/2006/relationships/image" Target="../media/image41.png"/><Relationship Id="rId8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46.png"/><Relationship Id="rId5" Type="http://schemas.openxmlformats.org/officeDocument/2006/relationships/hyperlink" Target="https://public.tableau.com/app/profile/roony/viz/Superstore_16390835368830/Dashboard1" TargetMode="External"/><Relationship Id="rId6" Type="http://schemas.openxmlformats.org/officeDocument/2006/relationships/image" Target="../media/image39.png"/><Relationship Id="rId7" Type="http://schemas.openxmlformats.org/officeDocument/2006/relationships/image" Target="../media/image41.png"/><Relationship Id="rId8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50.png"/><Relationship Id="rId6" Type="http://schemas.openxmlformats.org/officeDocument/2006/relationships/image" Target="../media/image42.png"/><Relationship Id="rId7" Type="http://schemas.openxmlformats.org/officeDocument/2006/relationships/image" Target="../media/image4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50.png"/><Relationship Id="rId6" Type="http://schemas.openxmlformats.org/officeDocument/2006/relationships/image" Target="../media/image48.png"/><Relationship Id="rId7" Type="http://schemas.openxmlformats.org/officeDocument/2006/relationships/image" Target="../media/image42.png"/><Relationship Id="rId8" Type="http://schemas.openxmlformats.org/officeDocument/2006/relationships/image" Target="../media/image49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50.png"/></Relationships>
</file>

<file path=ppt/slides/_rels/slide3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51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21.png"/><Relationship Id="rId13" Type="http://schemas.openxmlformats.org/officeDocument/2006/relationships/image" Target="../media/image54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52.png"/><Relationship Id="rId6" Type="http://schemas.openxmlformats.org/officeDocument/2006/relationships/image" Target="../media/image5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52.png"/><Relationship Id="rId6" Type="http://schemas.openxmlformats.org/officeDocument/2006/relationships/image" Target="../media/image56.png"/><Relationship Id="rId7" Type="http://schemas.openxmlformats.org/officeDocument/2006/relationships/image" Target="../media/image53.png"/><Relationship Id="rId8" Type="http://schemas.openxmlformats.org/officeDocument/2006/relationships/image" Target="../media/image57.png"/></Relationships>
</file>

<file path=ppt/slides/_rels/slide4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62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66.png"/><Relationship Id="rId5" Type="http://schemas.openxmlformats.org/officeDocument/2006/relationships/image" Target="../media/image52.png"/><Relationship Id="rId6" Type="http://schemas.openxmlformats.org/officeDocument/2006/relationships/image" Target="../media/image56.png"/><Relationship Id="rId7" Type="http://schemas.openxmlformats.org/officeDocument/2006/relationships/image" Target="../media/image53.png"/><Relationship Id="rId8" Type="http://schemas.openxmlformats.org/officeDocument/2006/relationships/image" Target="../media/image57.png"/></Relationships>
</file>

<file path=ppt/slides/_rels/slide4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4.png"/><Relationship Id="rId10" Type="http://schemas.openxmlformats.org/officeDocument/2006/relationships/image" Target="../media/image65.png"/><Relationship Id="rId13" Type="http://schemas.openxmlformats.org/officeDocument/2006/relationships/image" Target="../media/image74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9" Type="http://schemas.openxmlformats.org/officeDocument/2006/relationships/image" Target="../media/image72.png"/><Relationship Id="rId15" Type="http://schemas.openxmlformats.org/officeDocument/2006/relationships/image" Target="../media/image76.png"/><Relationship Id="rId14" Type="http://schemas.openxmlformats.org/officeDocument/2006/relationships/image" Target="../media/image71.png"/><Relationship Id="rId16" Type="http://schemas.openxmlformats.org/officeDocument/2006/relationships/image" Target="../media/image75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73.png"/><Relationship Id="rId8" Type="http://schemas.openxmlformats.org/officeDocument/2006/relationships/image" Target="../media/image6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7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77.png"/><Relationship Id="rId6" Type="http://schemas.openxmlformats.org/officeDocument/2006/relationships/image" Target="../media/image83.png"/><Relationship Id="rId7" Type="http://schemas.openxmlformats.org/officeDocument/2006/relationships/image" Target="../media/image78.png"/></Relationships>
</file>

<file path=ppt/slides/_rels/slide46.xml.rels><?xml version="1.0" encoding="UTF-8" standalone="yes"?><Relationships xmlns="http://schemas.openxmlformats.org/package/2006/relationships"><Relationship Id="rId10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77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50.png"/><Relationship Id="rId6" Type="http://schemas.openxmlformats.org/officeDocument/2006/relationships/image" Target="../media/image42.png"/><Relationship Id="rId7" Type="http://schemas.openxmlformats.org/officeDocument/2006/relationships/image" Target="../media/image4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48.png"/><Relationship Id="rId6" Type="http://schemas.openxmlformats.org/officeDocument/2006/relationships/image" Target="../media/image50.png"/><Relationship Id="rId7" Type="http://schemas.openxmlformats.org/officeDocument/2006/relationships/image" Target="../media/image42.png"/><Relationship Id="rId8" Type="http://schemas.openxmlformats.org/officeDocument/2006/relationships/image" Target="../media/image49.png"/></Relationships>
</file>

<file path=ppt/slides/_rels/slide49.xml.rels><?xml version="1.0" encoding="UTF-8" standalone="yes"?><Relationships xmlns="http://schemas.openxmlformats.org/package/2006/relationships"><Relationship Id="rId1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42.png"/><Relationship Id="rId5" Type="http://schemas.openxmlformats.org/officeDocument/2006/relationships/image" Target="../media/image86.png"/><Relationship Id="rId6" Type="http://schemas.openxmlformats.org/officeDocument/2006/relationships/image" Target="../media/image81.png"/><Relationship Id="rId7" Type="http://schemas.openxmlformats.org/officeDocument/2006/relationships/image" Target="../media/image48.png"/><Relationship Id="rId8" Type="http://schemas.openxmlformats.org/officeDocument/2006/relationships/image" Target="../media/image50.png"/></Relationships>
</file>

<file path=ppt/slides/_rels/slide50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42.png"/><Relationship Id="rId5" Type="http://schemas.openxmlformats.org/officeDocument/2006/relationships/image" Target="../media/image86.png"/><Relationship Id="rId6" Type="http://schemas.openxmlformats.org/officeDocument/2006/relationships/image" Target="../media/image81.png"/><Relationship Id="rId7" Type="http://schemas.openxmlformats.org/officeDocument/2006/relationships/image" Target="../media/image48.png"/><Relationship Id="rId8" Type="http://schemas.openxmlformats.org/officeDocument/2006/relationships/image" Target="../media/image50.png"/></Relationships>
</file>

<file path=ppt/slides/_rels/slide5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49.png"/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42.png"/><Relationship Id="rId5" Type="http://schemas.openxmlformats.org/officeDocument/2006/relationships/image" Target="../media/image86.png"/><Relationship Id="rId6" Type="http://schemas.openxmlformats.org/officeDocument/2006/relationships/image" Target="../media/image81.png"/><Relationship Id="rId7" Type="http://schemas.openxmlformats.org/officeDocument/2006/relationships/image" Target="../media/image48.png"/><Relationship Id="rId8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88.png"/><Relationship Id="rId6" Type="http://schemas.openxmlformats.org/officeDocument/2006/relationships/image" Target="../media/image8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8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6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6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40.png"/><Relationship Id="rId13" Type="http://schemas.openxmlformats.org/officeDocument/2006/relationships/image" Target="../media/image55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www.linkedin.com/in/rinchaustegui/" TargetMode="External"/><Relationship Id="rId4" Type="http://schemas.openxmlformats.org/officeDocument/2006/relationships/image" Target="../media/image91.png"/><Relationship Id="rId5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89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4"/>
          <p:cNvPicPr preferRelativeResize="0"/>
          <p:nvPr/>
        </p:nvPicPr>
        <p:blipFill rotWithShape="1">
          <a:blip r:embed="rId3">
            <a:alphaModFix/>
          </a:blip>
          <a:srcRect b="5539" l="61712" r="1465" t="8571"/>
          <a:stretch/>
        </p:blipFill>
        <p:spPr>
          <a:xfrm>
            <a:off x="5156325" y="0"/>
            <a:ext cx="3987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4"/>
          <p:cNvSpPr txBox="1"/>
          <p:nvPr/>
        </p:nvSpPr>
        <p:spPr>
          <a:xfrm>
            <a:off x="588275" y="1726075"/>
            <a:ext cx="77982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&amp; </a:t>
            </a:r>
            <a:endParaRPr b="1" sz="5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Analítica</a:t>
            </a:r>
            <a:endParaRPr b="1" sz="7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44"/>
          <p:cNvSpPr txBox="1"/>
          <p:nvPr/>
        </p:nvSpPr>
        <p:spPr>
          <a:xfrm>
            <a:off x="1122800" y="3385900"/>
            <a:ext cx="409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Roberto Inchaustegui</a:t>
            </a:r>
            <a:endParaRPr b="1" sz="1200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Operations Manager</a:t>
            </a:r>
            <a:endParaRPr sz="1200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1778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0" name="Google Shape;200;p44"/>
          <p:cNvPicPr preferRelativeResize="0"/>
          <p:nvPr/>
        </p:nvPicPr>
        <p:blipFill rotWithShape="1">
          <a:blip r:embed="rId4">
            <a:alphaModFix/>
          </a:blip>
          <a:srcRect b="5381" l="8567" r="2186" t="5372"/>
          <a:stretch/>
        </p:blipFill>
        <p:spPr>
          <a:xfrm>
            <a:off x="724275" y="3322925"/>
            <a:ext cx="640200" cy="640200"/>
          </a:xfrm>
          <a:prstGeom prst="ellipse">
            <a:avLst/>
          </a:prstGeom>
          <a:noFill/>
          <a:ln>
            <a:noFill/>
          </a:ln>
          <a:effectLst>
            <a:outerShdw blurRad="100013" rotWithShape="0" algn="bl" dir="7620000" dist="47625">
              <a:srgbClr val="000000">
                <a:alpha val="35000"/>
              </a:srgbClr>
            </a:outerShdw>
          </a:effectLst>
        </p:spPr>
      </p:pic>
      <p:pic>
        <p:nvPicPr>
          <p:cNvPr id="201" name="Google Shape;201;p44"/>
          <p:cNvPicPr preferRelativeResize="0"/>
          <p:nvPr/>
        </p:nvPicPr>
        <p:blipFill rotWithShape="1">
          <a:blip r:embed="rId5">
            <a:alphaModFix amt="36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4"/>
          <p:cNvPicPr preferRelativeResize="0"/>
          <p:nvPr/>
        </p:nvPicPr>
        <p:blipFill rotWithShape="1">
          <a:blip r:embed="rId6">
            <a:alphaModFix amt="74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89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5"/>
          <p:cNvSpPr/>
          <p:nvPr/>
        </p:nvSpPr>
        <p:spPr>
          <a:xfrm>
            <a:off x="5162038" y="1616900"/>
            <a:ext cx="346493" cy="343561"/>
          </a:xfrm>
          <a:custGeom>
            <a:rect b="b" l="l" r="r" t="t"/>
            <a:pathLst>
              <a:path extrusionOk="0" h="12653" w="12761">
                <a:moveTo>
                  <a:pt x="6396" y="866"/>
                </a:moveTo>
                <a:lnTo>
                  <a:pt x="11469" y="3796"/>
                </a:lnTo>
                <a:cubicBezTo>
                  <a:pt x="8759" y="5340"/>
                  <a:pt x="12729" y="3072"/>
                  <a:pt x="6396" y="6695"/>
                </a:cubicBezTo>
                <a:cubicBezTo>
                  <a:pt x="1" y="3072"/>
                  <a:pt x="4097" y="5403"/>
                  <a:pt x="1324" y="3796"/>
                </a:cubicBezTo>
                <a:lnTo>
                  <a:pt x="6396" y="866"/>
                </a:lnTo>
                <a:close/>
                <a:moveTo>
                  <a:pt x="10208" y="5498"/>
                </a:moveTo>
                <a:lnTo>
                  <a:pt x="10208" y="8081"/>
                </a:lnTo>
                <a:cubicBezTo>
                  <a:pt x="10177" y="8207"/>
                  <a:pt x="10051" y="8365"/>
                  <a:pt x="9925" y="8428"/>
                </a:cubicBezTo>
                <a:cubicBezTo>
                  <a:pt x="9312" y="8970"/>
                  <a:pt x="7887" y="9300"/>
                  <a:pt x="6364" y="9300"/>
                </a:cubicBezTo>
                <a:cubicBezTo>
                  <a:pt x="5852" y="9300"/>
                  <a:pt x="5329" y="9263"/>
                  <a:pt x="4821" y="9184"/>
                </a:cubicBezTo>
                <a:cubicBezTo>
                  <a:pt x="4317" y="9121"/>
                  <a:pt x="3718" y="8963"/>
                  <a:pt x="3246" y="8711"/>
                </a:cubicBezTo>
                <a:cubicBezTo>
                  <a:pt x="2994" y="8585"/>
                  <a:pt x="2584" y="8333"/>
                  <a:pt x="2584" y="8050"/>
                </a:cubicBezTo>
                <a:lnTo>
                  <a:pt x="2584" y="5498"/>
                </a:lnTo>
                <a:cubicBezTo>
                  <a:pt x="4412" y="6537"/>
                  <a:pt x="4317" y="6474"/>
                  <a:pt x="6207" y="7545"/>
                </a:cubicBezTo>
                <a:cubicBezTo>
                  <a:pt x="6255" y="7577"/>
                  <a:pt x="6318" y="7593"/>
                  <a:pt x="6385" y="7593"/>
                </a:cubicBezTo>
                <a:cubicBezTo>
                  <a:pt x="6452" y="7593"/>
                  <a:pt x="6522" y="7577"/>
                  <a:pt x="6585" y="7545"/>
                </a:cubicBezTo>
                <a:cubicBezTo>
                  <a:pt x="6617" y="7482"/>
                  <a:pt x="9925" y="5592"/>
                  <a:pt x="10208" y="5498"/>
                </a:cubicBezTo>
                <a:close/>
                <a:moveTo>
                  <a:pt x="6385" y="0"/>
                </a:moveTo>
                <a:cubicBezTo>
                  <a:pt x="6318" y="0"/>
                  <a:pt x="6255" y="16"/>
                  <a:pt x="6207" y="47"/>
                </a:cubicBezTo>
                <a:lnTo>
                  <a:pt x="284" y="3450"/>
                </a:lnTo>
                <a:cubicBezTo>
                  <a:pt x="1" y="3607"/>
                  <a:pt x="1" y="3985"/>
                  <a:pt x="284" y="4143"/>
                </a:cubicBezTo>
                <a:lnTo>
                  <a:pt x="1797" y="4962"/>
                </a:lnTo>
                <a:lnTo>
                  <a:pt x="1797" y="8018"/>
                </a:lnTo>
                <a:cubicBezTo>
                  <a:pt x="1797" y="8711"/>
                  <a:pt x="2458" y="9215"/>
                  <a:pt x="3088" y="9499"/>
                </a:cubicBezTo>
                <a:cubicBezTo>
                  <a:pt x="3994" y="9903"/>
                  <a:pt x="5215" y="10104"/>
                  <a:pt x="6430" y="10104"/>
                </a:cubicBezTo>
                <a:cubicBezTo>
                  <a:pt x="7963" y="10104"/>
                  <a:pt x="9488" y="9785"/>
                  <a:pt x="10366" y="9152"/>
                </a:cubicBezTo>
                <a:cubicBezTo>
                  <a:pt x="10776" y="8869"/>
                  <a:pt x="11091" y="8491"/>
                  <a:pt x="11091" y="8018"/>
                </a:cubicBezTo>
                <a:lnTo>
                  <a:pt x="11091" y="4962"/>
                </a:lnTo>
                <a:lnTo>
                  <a:pt x="11941" y="4490"/>
                </a:lnTo>
                <a:lnTo>
                  <a:pt x="11941" y="12208"/>
                </a:lnTo>
                <a:cubicBezTo>
                  <a:pt x="11941" y="12429"/>
                  <a:pt x="12099" y="12618"/>
                  <a:pt x="12288" y="12649"/>
                </a:cubicBezTo>
                <a:cubicBezTo>
                  <a:pt x="12306" y="12652"/>
                  <a:pt x="12325" y="12653"/>
                  <a:pt x="12343" y="12653"/>
                </a:cubicBezTo>
                <a:cubicBezTo>
                  <a:pt x="12571" y="12653"/>
                  <a:pt x="12760" y="12475"/>
                  <a:pt x="12760" y="12271"/>
                </a:cubicBezTo>
                <a:lnTo>
                  <a:pt x="12760" y="3796"/>
                </a:lnTo>
                <a:cubicBezTo>
                  <a:pt x="12729" y="3639"/>
                  <a:pt x="12666" y="3513"/>
                  <a:pt x="12508" y="3450"/>
                </a:cubicBezTo>
                <a:lnTo>
                  <a:pt x="6585" y="47"/>
                </a:lnTo>
                <a:cubicBezTo>
                  <a:pt x="6522" y="16"/>
                  <a:pt x="6452" y="0"/>
                  <a:pt x="638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45"/>
          <p:cNvGrpSpPr/>
          <p:nvPr/>
        </p:nvGrpSpPr>
        <p:grpSpPr>
          <a:xfrm>
            <a:off x="-201827" y="4363884"/>
            <a:ext cx="2433180" cy="1619752"/>
            <a:chOff x="326788" y="3864725"/>
            <a:chExt cx="2275914" cy="1515061"/>
          </a:xfrm>
        </p:grpSpPr>
        <p:sp>
          <p:nvSpPr>
            <p:cNvPr id="209" name="Google Shape;209;p45"/>
            <p:cNvSpPr/>
            <p:nvPr/>
          </p:nvSpPr>
          <p:spPr>
            <a:xfrm>
              <a:off x="1132414" y="3864725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26800" y="4308486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729607" y="4308486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1132414" y="4308486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1601663" y="3864725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004470" y="3864725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2407277" y="3864725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601663" y="4308486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2004470" y="4308486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2407277" y="4308486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45"/>
            <p:cNvGrpSpPr/>
            <p:nvPr/>
          </p:nvGrpSpPr>
          <p:grpSpPr>
            <a:xfrm>
              <a:off x="1622188" y="4761125"/>
              <a:ext cx="980514" cy="618661"/>
              <a:chOff x="326788" y="4761125"/>
              <a:chExt cx="980514" cy="618661"/>
            </a:xfrm>
          </p:grpSpPr>
          <p:sp>
            <p:nvSpPr>
              <p:cNvPr id="220" name="Google Shape;220;p45"/>
              <p:cNvSpPr/>
              <p:nvPr/>
            </p:nvSpPr>
            <p:spPr>
              <a:xfrm>
                <a:off x="326788" y="4761125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45"/>
              <p:cNvSpPr/>
              <p:nvPr/>
            </p:nvSpPr>
            <p:spPr>
              <a:xfrm>
                <a:off x="729595" y="4761125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45"/>
              <p:cNvSpPr/>
              <p:nvPr/>
            </p:nvSpPr>
            <p:spPr>
              <a:xfrm>
                <a:off x="1132402" y="4761125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45"/>
              <p:cNvSpPr/>
              <p:nvPr/>
            </p:nvSpPr>
            <p:spPr>
              <a:xfrm>
                <a:off x="326788" y="5204886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45"/>
              <p:cNvSpPr/>
              <p:nvPr/>
            </p:nvSpPr>
            <p:spPr>
              <a:xfrm>
                <a:off x="729595" y="5204886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45"/>
              <p:cNvSpPr/>
              <p:nvPr/>
            </p:nvSpPr>
            <p:spPr>
              <a:xfrm>
                <a:off x="1132402" y="5204886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45"/>
            <p:cNvGrpSpPr/>
            <p:nvPr/>
          </p:nvGrpSpPr>
          <p:grpSpPr>
            <a:xfrm>
              <a:off x="326788" y="4761125"/>
              <a:ext cx="980514" cy="618661"/>
              <a:chOff x="326788" y="4761125"/>
              <a:chExt cx="980514" cy="618661"/>
            </a:xfrm>
          </p:grpSpPr>
          <p:sp>
            <p:nvSpPr>
              <p:cNvPr id="227" name="Google Shape;227;p45"/>
              <p:cNvSpPr/>
              <p:nvPr/>
            </p:nvSpPr>
            <p:spPr>
              <a:xfrm>
                <a:off x="326788" y="4761125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45"/>
              <p:cNvSpPr/>
              <p:nvPr/>
            </p:nvSpPr>
            <p:spPr>
              <a:xfrm>
                <a:off x="729595" y="4761125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45"/>
              <p:cNvSpPr/>
              <p:nvPr/>
            </p:nvSpPr>
            <p:spPr>
              <a:xfrm>
                <a:off x="326788" y="5204886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5"/>
              <p:cNvSpPr/>
              <p:nvPr/>
            </p:nvSpPr>
            <p:spPr>
              <a:xfrm>
                <a:off x="729595" y="5204886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45"/>
              <p:cNvSpPr/>
              <p:nvPr/>
            </p:nvSpPr>
            <p:spPr>
              <a:xfrm>
                <a:off x="1132402" y="5204886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45"/>
              <p:cNvSpPr/>
              <p:nvPr/>
            </p:nvSpPr>
            <p:spPr>
              <a:xfrm>
                <a:off x="1132402" y="4761125"/>
                <a:ext cx="174900" cy="174900"/>
              </a:xfrm>
              <a:prstGeom prst="ellipse">
                <a:avLst/>
              </a:prstGeom>
              <a:solidFill>
                <a:srgbClr val="D9D9D9">
                  <a:alpha val="267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3" name="Google Shape;233;p45"/>
            <p:cNvSpPr/>
            <p:nvPr/>
          </p:nvSpPr>
          <p:spPr>
            <a:xfrm>
              <a:off x="326800" y="3864725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5"/>
            <p:cNvSpPr/>
            <p:nvPr/>
          </p:nvSpPr>
          <p:spPr>
            <a:xfrm>
              <a:off x="729607" y="3864725"/>
              <a:ext cx="174900" cy="174900"/>
            </a:xfrm>
            <a:prstGeom prst="ellipse">
              <a:avLst/>
            </a:prstGeom>
            <a:solidFill>
              <a:srgbClr val="D9D9D9">
                <a:alpha val="267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45"/>
          <p:cNvSpPr txBox="1"/>
          <p:nvPr/>
        </p:nvSpPr>
        <p:spPr>
          <a:xfrm>
            <a:off x="525000" y="285850"/>
            <a:ext cx="684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200">
                <a:solidFill>
                  <a:srgbClr val="00338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</a:t>
            </a:r>
            <a:r>
              <a:rPr i="1" lang="es" sz="7200">
                <a:solidFill>
                  <a:srgbClr val="00338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OBRE MÍ</a:t>
            </a:r>
            <a:endParaRPr i="1" sz="7200">
              <a:solidFill>
                <a:srgbClr val="00338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6" name="Google Shape;236;p45"/>
          <p:cNvSpPr txBox="1"/>
          <p:nvPr/>
        </p:nvSpPr>
        <p:spPr>
          <a:xfrm>
            <a:off x="5640875" y="1588575"/>
            <a:ext cx="2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Estudios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7" name="Google Shape;237;p45"/>
          <p:cNvSpPr txBox="1"/>
          <p:nvPr/>
        </p:nvSpPr>
        <p:spPr>
          <a:xfrm>
            <a:off x="5640875" y="1817175"/>
            <a:ext cx="297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Ingeniero de sistemas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Master en gestión de tecnología 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45"/>
          <p:cNvSpPr txBox="1"/>
          <p:nvPr/>
        </p:nvSpPr>
        <p:spPr>
          <a:xfrm>
            <a:off x="5640875" y="2426775"/>
            <a:ext cx="2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Experiencia laboral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9" name="Google Shape;239;p45"/>
          <p:cNvSpPr txBox="1"/>
          <p:nvPr/>
        </p:nvSpPr>
        <p:spPr>
          <a:xfrm>
            <a:off x="5640875" y="2655375"/>
            <a:ext cx="292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Consultoría de tecnología, gestión, data y analítica, estrategia de datos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0" name="Google Shape;240;p45"/>
          <p:cNvGrpSpPr/>
          <p:nvPr/>
        </p:nvGrpSpPr>
        <p:grpSpPr>
          <a:xfrm>
            <a:off x="5148869" y="2410832"/>
            <a:ext cx="372824" cy="372058"/>
            <a:chOff x="-38686275" y="2314400"/>
            <a:chExt cx="316650" cy="316000"/>
          </a:xfrm>
        </p:grpSpPr>
        <p:sp>
          <p:nvSpPr>
            <p:cNvPr id="241" name="Google Shape;241;p45"/>
            <p:cNvSpPr/>
            <p:nvPr/>
          </p:nvSpPr>
          <p:spPr>
            <a:xfrm>
              <a:off x="-38686275" y="2314400"/>
              <a:ext cx="316650" cy="316000"/>
            </a:xfrm>
            <a:custGeom>
              <a:rect b="b" l="l" r="r" t="t"/>
              <a:pathLst>
                <a:path extrusionOk="0" h="12640" w="12666">
                  <a:moveTo>
                    <a:pt x="8161" y="852"/>
                  </a:moveTo>
                  <a:cubicBezTo>
                    <a:pt x="8381" y="852"/>
                    <a:pt x="8539" y="1041"/>
                    <a:pt x="8570" y="1262"/>
                  </a:cubicBezTo>
                  <a:lnTo>
                    <a:pt x="8570" y="1703"/>
                  </a:lnTo>
                  <a:lnTo>
                    <a:pt x="4160" y="1703"/>
                  </a:lnTo>
                  <a:lnTo>
                    <a:pt x="4160" y="1230"/>
                  </a:lnTo>
                  <a:lnTo>
                    <a:pt x="4128" y="1230"/>
                  </a:lnTo>
                  <a:cubicBezTo>
                    <a:pt x="4128" y="1199"/>
                    <a:pt x="4128" y="1104"/>
                    <a:pt x="4160" y="1073"/>
                  </a:cubicBezTo>
                  <a:cubicBezTo>
                    <a:pt x="4254" y="915"/>
                    <a:pt x="4380" y="852"/>
                    <a:pt x="4569" y="852"/>
                  </a:cubicBezTo>
                  <a:close/>
                  <a:moveTo>
                    <a:pt x="11437" y="2427"/>
                  </a:moveTo>
                  <a:cubicBezTo>
                    <a:pt x="11658" y="2427"/>
                    <a:pt x="11815" y="2616"/>
                    <a:pt x="11847" y="2805"/>
                  </a:cubicBezTo>
                  <a:lnTo>
                    <a:pt x="11847" y="5641"/>
                  </a:lnTo>
                  <a:cubicBezTo>
                    <a:pt x="11847" y="5830"/>
                    <a:pt x="11721" y="5987"/>
                    <a:pt x="11563" y="6050"/>
                  </a:cubicBezTo>
                  <a:cubicBezTo>
                    <a:pt x="11542" y="6061"/>
                    <a:pt x="11532" y="6064"/>
                    <a:pt x="11478" y="6064"/>
                  </a:cubicBezTo>
                  <a:cubicBezTo>
                    <a:pt x="11371" y="6064"/>
                    <a:pt x="11091" y="6050"/>
                    <a:pt x="10208" y="6050"/>
                  </a:cubicBezTo>
                  <a:lnTo>
                    <a:pt x="10208" y="4822"/>
                  </a:lnTo>
                  <a:cubicBezTo>
                    <a:pt x="10208" y="4570"/>
                    <a:pt x="9988" y="4381"/>
                    <a:pt x="9767" y="4381"/>
                  </a:cubicBezTo>
                  <a:lnTo>
                    <a:pt x="8129" y="4381"/>
                  </a:lnTo>
                  <a:cubicBezTo>
                    <a:pt x="7877" y="4381"/>
                    <a:pt x="7688" y="4570"/>
                    <a:pt x="7688" y="4822"/>
                  </a:cubicBezTo>
                  <a:lnTo>
                    <a:pt x="7688" y="6050"/>
                  </a:lnTo>
                  <a:lnTo>
                    <a:pt x="4916" y="6050"/>
                  </a:lnTo>
                  <a:lnTo>
                    <a:pt x="4916" y="4822"/>
                  </a:lnTo>
                  <a:cubicBezTo>
                    <a:pt x="4916" y="4570"/>
                    <a:pt x="4727" y="4381"/>
                    <a:pt x="4506" y="4381"/>
                  </a:cubicBezTo>
                  <a:lnTo>
                    <a:pt x="2836" y="4381"/>
                  </a:lnTo>
                  <a:cubicBezTo>
                    <a:pt x="2710" y="4381"/>
                    <a:pt x="2647" y="4412"/>
                    <a:pt x="2553" y="4507"/>
                  </a:cubicBezTo>
                  <a:cubicBezTo>
                    <a:pt x="2490" y="4570"/>
                    <a:pt x="2458" y="4696"/>
                    <a:pt x="2458" y="4790"/>
                  </a:cubicBezTo>
                  <a:lnTo>
                    <a:pt x="2458" y="5987"/>
                  </a:lnTo>
                  <a:lnTo>
                    <a:pt x="1230" y="5987"/>
                  </a:lnTo>
                  <a:cubicBezTo>
                    <a:pt x="978" y="5987"/>
                    <a:pt x="820" y="5798"/>
                    <a:pt x="788" y="5578"/>
                  </a:cubicBezTo>
                  <a:lnTo>
                    <a:pt x="788" y="2805"/>
                  </a:lnTo>
                  <a:cubicBezTo>
                    <a:pt x="788" y="2585"/>
                    <a:pt x="978" y="2427"/>
                    <a:pt x="1230" y="2427"/>
                  </a:cubicBezTo>
                  <a:close/>
                  <a:moveTo>
                    <a:pt x="4128" y="5200"/>
                  </a:moveTo>
                  <a:lnTo>
                    <a:pt x="4128" y="6428"/>
                  </a:lnTo>
                  <a:cubicBezTo>
                    <a:pt x="4128" y="6586"/>
                    <a:pt x="4065" y="6712"/>
                    <a:pt x="3939" y="6775"/>
                  </a:cubicBezTo>
                  <a:cubicBezTo>
                    <a:pt x="3857" y="6826"/>
                    <a:pt x="3768" y="6851"/>
                    <a:pt x="3684" y="6851"/>
                  </a:cubicBezTo>
                  <a:cubicBezTo>
                    <a:pt x="3508" y="6851"/>
                    <a:pt x="3351" y="6746"/>
                    <a:pt x="3309" y="6554"/>
                  </a:cubicBezTo>
                  <a:lnTo>
                    <a:pt x="3309" y="5200"/>
                  </a:lnTo>
                  <a:close/>
                  <a:moveTo>
                    <a:pt x="9358" y="5200"/>
                  </a:moveTo>
                  <a:lnTo>
                    <a:pt x="9358" y="6428"/>
                  </a:lnTo>
                  <a:cubicBezTo>
                    <a:pt x="9358" y="6586"/>
                    <a:pt x="9295" y="6712"/>
                    <a:pt x="9169" y="6775"/>
                  </a:cubicBezTo>
                  <a:cubicBezTo>
                    <a:pt x="9097" y="6826"/>
                    <a:pt x="9015" y="6851"/>
                    <a:pt x="8934" y="6851"/>
                  </a:cubicBezTo>
                  <a:cubicBezTo>
                    <a:pt x="8766" y="6851"/>
                    <a:pt x="8602" y="6746"/>
                    <a:pt x="8539" y="6554"/>
                  </a:cubicBezTo>
                  <a:lnTo>
                    <a:pt x="8539" y="5200"/>
                  </a:lnTo>
                  <a:close/>
                  <a:moveTo>
                    <a:pt x="11059" y="6869"/>
                  </a:moveTo>
                  <a:lnTo>
                    <a:pt x="11059" y="11438"/>
                  </a:lnTo>
                  <a:lnTo>
                    <a:pt x="11028" y="11438"/>
                  </a:lnTo>
                  <a:cubicBezTo>
                    <a:pt x="11028" y="11658"/>
                    <a:pt x="10839" y="11816"/>
                    <a:pt x="10618" y="11816"/>
                  </a:cubicBezTo>
                  <a:lnTo>
                    <a:pt x="2080" y="11816"/>
                  </a:lnTo>
                  <a:cubicBezTo>
                    <a:pt x="1860" y="11816"/>
                    <a:pt x="1702" y="11627"/>
                    <a:pt x="1702" y="11438"/>
                  </a:cubicBezTo>
                  <a:lnTo>
                    <a:pt x="1702" y="6869"/>
                  </a:lnTo>
                  <a:lnTo>
                    <a:pt x="2616" y="6869"/>
                  </a:lnTo>
                  <a:cubicBezTo>
                    <a:pt x="2710" y="7216"/>
                    <a:pt x="3025" y="7531"/>
                    <a:pt x="3403" y="7657"/>
                  </a:cubicBezTo>
                  <a:cubicBezTo>
                    <a:pt x="3520" y="7692"/>
                    <a:pt x="3637" y="7709"/>
                    <a:pt x="3752" y="7709"/>
                  </a:cubicBezTo>
                  <a:cubicBezTo>
                    <a:pt x="4263" y="7709"/>
                    <a:pt x="4736" y="7383"/>
                    <a:pt x="4916" y="6869"/>
                  </a:cubicBezTo>
                  <a:lnTo>
                    <a:pt x="7846" y="6869"/>
                  </a:lnTo>
                  <a:cubicBezTo>
                    <a:pt x="8017" y="7384"/>
                    <a:pt x="8513" y="7708"/>
                    <a:pt x="9036" y="7708"/>
                  </a:cubicBezTo>
                  <a:cubicBezTo>
                    <a:pt x="9185" y="7708"/>
                    <a:pt x="9337" y="7682"/>
                    <a:pt x="9484" y="7626"/>
                  </a:cubicBezTo>
                  <a:cubicBezTo>
                    <a:pt x="9799" y="7500"/>
                    <a:pt x="10082" y="7216"/>
                    <a:pt x="10145" y="6869"/>
                  </a:cubicBezTo>
                  <a:close/>
                  <a:moveTo>
                    <a:pt x="8211" y="0"/>
                  </a:moveTo>
                  <a:cubicBezTo>
                    <a:pt x="8194" y="0"/>
                    <a:pt x="8177" y="1"/>
                    <a:pt x="8161" y="1"/>
                  </a:cubicBezTo>
                  <a:lnTo>
                    <a:pt x="4569" y="1"/>
                  </a:lnTo>
                  <a:cubicBezTo>
                    <a:pt x="3907" y="1"/>
                    <a:pt x="3309" y="569"/>
                    <a:pt x="3340" y="1230"/>
                  </a:cubicBezTo>
                  <a:lnTo>
                    <a:pt x="3340" y="1671"/>
                  </a:lnTo>
                  <a:lnTo>
                    <a:pt x="1261" y="1671"/>
                  </a:lnTo>
                  <a:cubicBezTo>
                    <a:pt x="599" y="1671"/>
                    <a:pt x="1" y="2207"/>
                    <a:pt x="1" y="2868"/>
                  </a:cubicBezTo>
                  <a:lnTo>
                    <a:pt x="1" y="5641"/>
                  </a:lnTo>
                  <a:cubicBezTo>
                    <a:pt x="1" y="6145"/>
                    <a:pt x="316" y="6617"/>
                    <a:pt x="820" y="6838"/>
                  </a:cubicBezTo>
                  <a:lnTo>
                    <a:pt x="820" y="11438"/>
                  </a:lnTo>
                  <a:cubicBezTo>
                    <a:pt x="820" y="12067"/>
                    <a:pt x="1333" y="12639"/>
                    <a:pt x="1953" y="12639"/>
                  </a:cubicBezTo>
                  <a:cubicBezTo>
                    <a:pt x="1984" y="12639"/>
                    <a:pt x="2016" y="12638"/>
                    <a:pt x="2049" y="12635"/>
                  </a:cubicBezTo>
                  <a:lnTo>
                    <a:pt x="10587" y="12635"/>
                  </a:lnTo>
                  <a:cubicBezTo>
                    <a:pt x="11248" y="12635"/>
                    <a:pt x="11847" y="12099"/>
                    <a:pt x="11815" y="11438"/>
                  </a:cubicBezTo>
                  <a:lnTo>
                    <a:pt x="11815" y="6838"/>
                  </a:lnTo>
                  <a:cubicBezTo>
                    <a:pt x="12288" y="6680"/>
                    <a:pt x="12634" y="6208"/>
                    <a:pt x="12634" y="5641"/>
                  </a:cubicBezTo>
                  <a:lnTo>
                    <a:pt x="12634" y="2868"/>
                  </a:lnTo>
                  <a:cubicBezTo>
                    <a:pt x="12666" y="2207"/>
                    <a:pt x="12130" y="1640"/>
                    <a:pt x="11469" y="1640"/>
                  </a:cubicBezTo>
                  <a:lnTo>
                    <a:pt x="9358" y="1640"/>
                  </a:lnTo>
                  <a:lnTo>
                    <a:pt x="9358" y="1230"/>
                  </a:lnTo>
                  <a:cubicBezTo>
                    <a:pt x="9358" y="585"/>
                    <a:pt x="8849" y="0"/>
                    <a:pt x="82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5"/>
            <p:cNvSpPr/>
            <p:nvPr/>
          </p:nvSpPr>
          <p:spPr>
            <a:xfrm>
              <a:off x="-38583075" y="2527075"/>
              <a:ext cx="111075" cy="63050"/>
            </a:xfrm>
            <a:custGeom>
              <a:rect b="b" l="l" r="r" t="t"/>
              <a:pathLst>
                <a:path extrusionOk="0" h="2522" w="4443">
                  <a:moveTo>
                    <a:pt x="3592" y="851"/>
                  </a:moveTo>
                  <a:lnTo>
                    <a:pt x="3592" y="1670"/>
                  </a:lnTo>
                  <a:lnTo>
                    <a:pt x="819" y="1670"/>
                  </a:lnTo>
                  <a:lnTo>
                    <a:pt x="819" y="851"/>
                  </a:lnTo>
                  <a:close/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112"/>
                  </a:lnTo>
                  <a:cubicBezTo>
                    <a:pt x="0" y="2332"/>
                    <a:pt x="189" y="2521"/>
                    <a:pt x="441" y="2521"/>
                  </a:cubicBezTo>
                  <a:lnTo>
                    <a:pt x="4033" y="2521"/>
                  </a:lnTo>
                  <a:cubicBezTo>
                    <a:pt x="4253" y="2521"/>
                    <a:pt x="4442" y="2332"/>
                    <a:pt x="4442" y="2112"/>
                  </a:cubicBezTo>
                  <a:lnTo>
                    <a:pt x="4442" y="442"/>
                  </a:lnTo>
                  <a:cubicBezTo>
                    <a:pt x="4411" y="221"/>
                    <a:pt x="4253" y="1"/>
                    <a:pt x="4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45"/>
          <p:cNvSpPr/>
          <p:nvPr/>
        </p:nvSpPr>
        <p:spPr>
          <a:xfrm>
            <a:off x="1207600" y="1194875"/>
            <a:ext cx="2727900" cy="2727900"/>
          </a:xfrm>
          <a:prstGeom prst="ellipse">
            <a:avLst/>
          </a:prstGeom>
          <a:noFill/>
          <a:ln cap="flat" cmpd="sng" w="114300">
            <a:solidFill>
              <a:srgbClr val="39D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5"/>
          <p:cNvSpPr/>
          <p:nvPr/>
        </p:nvSpPr>
        <p:spPr>
          <a:xfrm>
            <a:off x="2555050" y="3037325"/>
            <a:ext cx="1918200" cy="1378200"/>
          </a:xfrm>
          <a:prstGeom prst="rect">
            <a:avLst/>
          </a:prstGeom>
          <a:solidFill>
            <a:srgbClr val="0038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45"/>
          <p:cNvPicPr preferRelativeResize="0"/>
          <p:nvPr/>
        </p:nvPicPr>
        <p:blipFill rotWithShape="1">
          <a:blip r:embed="rId3">
            <a:alphaModFix/>
          </a:blip>
          <a:srcRect b="5381" l="8567" r="2186" t="5372"/>
          <a:stretch/>
        </p:blipFill>
        <p:spPr>
          <a:xfrm>
            <a:off x="1412850" y="1394450"/>
            <a:ext cx="2276100" cy="2276100"/>
          </a:xfrm>
          <a:prstGeom prst="ellipse">
            <a:avLst/>
          </a:prstGeom>
          <a:noFill/>
          <a:ln>
            <a:noFill/>
          </a:ln>
          <a:effectLst>
            <a:outerShdw blurRad="271463" rotWithShape="0" algn="bl" dir="7620000" dist="47625">
              <a:srgbClr val="000000">
                <a:alpha val="35000"/>
              </a:srgbClr>
            </a:outerShdw>
          </a:effectLst>
        </p:spPr>
      </p:pic>
      <p:sp>
        <p:nvSpPr>
          <p:cNvPr id="246" name="Google Shape;246;p45"/>
          <p:cNvSpPr/>
          <p:nvPr/>
        </p:nvSpPr>
        <p:spPr>
          <a:xfrm>
            <a:off x="2868600" y="3241975"/>
            <a:ext cx="1918200" cy="649200"/>
          </a:xfrm>
          <a:prstGeom prst="roundRect">
            <a:avLst>
              <a:gd fmla="val 16667" name="adj"/>
            </a:avLst>
          </a:prstGeom>
          <a:solidFill>
            <a:srgbClr val="39D4FB"/>
          </a:solidFill>
          <a:ln>
            <a:noFill/>
          </a:ln>
          <a:effectLst>
            <a:outerShdw blurRad="128588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5"/>
          <p:cNvSpPr txBox="1"/>
          <p:nvPr/>
        </p:nvSpPr>
        <p:spPr>
          <a:xfrm>
            <a:off x="2465550" y="3322600"/>
            <a:ext cx="2509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177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Roberto Inchaustegui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177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Operations Manager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342900" marR="17780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45"/>
          <p:cNvSpPr txBox="1"/>
          <p:nvPr/>
        </p:nvSpPr>
        <p:spPr>
          <a:xfrm>
            <a:off x="5640875" y="3188775"/>
            <a:ext cx="2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Áreas</a:t>
            </a:r>
            <a:r>
              <a:rPr lang="es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de interés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9" name="Google Shape;249;p45"/>
          <p:cNvSpPr txBox="1"/>
          <p:nvPr/>
        </p:nvSpPr>
        <p:spPr>
          <a:xfrm>
            <a:off x="5640875" y="3417375"/>
            <a:ext cx="313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Data, analítica, tecnología, gestión del cambio, gestión y diseño 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0" name="Google Shape;250;p45"/>
          <p:cNvGrpSpPr/>
          <p:nvPr/>
        </p:nvGrpSpPr>
        <p:grpSpPr>
          <a:xfrm>
            <a:off x="5124333" y="3233263"/>
            <a:ext cx="421914" cy="423864"/>
            <a:chOff x="-1333975" y="2365850"/>
            <a:chExt cx="292225" cy="293575"/>
          </a:xfrm>
        </p:grpSpPr>
        <p:sp>
          <p:nvSpPr>
            <p:cNvPr id="251" name="Google Shape;251;p45"/>
            <p:cNvSpPr/>
            <p:nvPr/>
          </p:nvSpPr>
          <p:spPr>
            <a:xfrm>
              <a:off x="-1285150" y="2365850"/>
              <a:ext cx="191225" cy="293575"/>
            </a:xfrm>
            <a:custGeom>
              <a:rect b="b" l="l" r="r" t="t"/>
              <a:pathLst>
                <a:path extrusionOk="0" h="11743" w="7649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5"/>
            <p:cNvSpPr/>
            <p:nvPr/>
          </p:nvSpPr>
          <p:spPr>
            <a:xfrm>
              <a:off x="-1076425" y="2452250"/>
              <a:ext cx="34675" cy="18150"/>
            </a:xfrm>
            <a:custGeom>
              <a:rect b="b" l="l" r="r" t="t"/>
              <a:pathLst>
                <a:path extrusionOk="0" h="726" w="1387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5"/>
            <p:cNvSpPr/>
            <p:nvPr/>
          </p:nvSpPr>
          <p:spPr>
            <a:xfrm>
              <a:off x="-1333975" y="2452250"/>
              <a:ext cx="34675" cy="18150"/>
            </a:xfrm>
            <a:custGeom>
              <a:rect b="b" l="l" r="r" t="t"/>
              <a:pathLst>
                <a:path extrusionOk="0" h="726" w="1387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5"/>
            <p:cNvSpPr/>
            <p:nvPr/>
          </p:nvSpPr>
          <p:spPr>
            <a:xfrm>
              <a:off x="-1093750" y="2383050"/>
              <a:ext cx="35450" cy="26575"/>
            </a:xfrm>
            <a:custGeom>
              <a:rect b="b" l="l" r="r" t="t"/>
              <a:pathLst>
                <a:path extrusionOk="0" h="1063" w="1418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5"/>
            <p:cNvSpPr/>
            <p:nvPr/>
          </p:nvSpPr>
          <p:spPr>
            <a:xfrm>
              <a:off x="-1317450" y="2512575"/>
              <a:ext cx="35475" cy="26225"/>
            </a:xfrm>
            <a:custGeom>
              <a:rect b="b" l="l" r="r" t="t"/>
              <a:pathLst>
                <a:path extrusionOk="0" h="1049" w="1419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5"/>
            <p:cNvSpPr/>
            <p:nvPr/>
          </p:nvSpPr>
          <p:spPr>
            <a:xfrm>
              <a:off x="-1092975" y="2512575"/>
              <a:ext cx="34675" cy="25525"/>
            </a:xfrm>
            <a:custGeom>
              <a:rect b="b" l="l" r="r" t="t"/>
              <a:pathLst>
                <a:path extrusionOk="0" h="1021" w="1387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5"/>
            <p:cNvSpPr/>
            <p:nvPr/>
          </p:nvSpPr>
          <p:spPr>
            <a:xfrm>
              <a:off x="-1316650" y="2383750"/>
              <a:ext cx="34675" cy="25525"/>
            </a:xfrm>
            <a:custGeom>
              <a:rect b="b" l="l" r="r" t="t"/>
              <a:pathLst>
                <a:path extrusionOk="0" h="1021" w="1387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5"/>
            <p:cNvSpPr/>
            <p:nvPr/>
          </p:nvSpPr>
          <p:spPr>
            <a:xfrm>
              <a:off x="-1239475" y="2401575"/>
              <a:ext cx="102425" cy="153100"/>
            </a:xfrm>
            <a:custGeom>
              <a:rect b="b" l="l" r="r" t="t"/>
              <a:pathLst>
                <a:path extrusionOk="0" h="6124" w="4097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9" name="Google Shape;259;p45"/>
          <p:cNvPicPr preferRelativeResize="0"/>
          <p:nvPr/>
        </p:nvPicPr>
        <p:blipFill rotWithShape="1">
          <a:blip r:embed="rId4">
            <a:alphaModFix amt="36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5"/>
          <p:cNvPicPr preferRelativeResize="0"/>
          <p:nvPr/>
        </p:nvPicPr>
        <p:blipFill rotWithShape="1">
          <a:blip r:embed="rId5">
            <a:alphaModFix amt="74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89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/>
          <p:nvPr/>
        </p:nvSpPr>
        <p:spPr>
          <a:xfrm>
            <a:off x="-17325" y="-62725"/>
            <a:ext cx="3822600" cy="52167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7"/>
          <p:cNvSpPr txBox="1"/>
          <p:nvPr/>
        </p:nvSpPr>
        <p:spPr>
          <a:xfrm>
            <a:off x="5320600" y="1086000"/>
            <a:ext cx="340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Analytics Journey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3348150" y="1069500"/>
            <a:ext cx="1487400" cy="569400"/>
          </a:xfrm>
          <a:prstGeom prst="rect">
            <a:avLst/>
          </a:prstGeom>
          <a:solidFill>
            <a:srgbClr val="666666"/>
          </a:solidFill>
          <a:ln>
            <a:noFill/>
          </a:ln>
          <a:effectLst>
            <a:outerShdw blurRad="57150" rotWithShape="0" algn="bl" dir="6360000" dist="3810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72" name="Google Shape;272;p47"/>
          <p:cNvSpPr txBox="1"/>
          <p:nvPr/>
        </p:nvSpPr>
        <p:spPr>
          <a:xfrm>
            <a:off x="3594831" y="1086000"/>
            <a:ext cx="100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7"/>
          <p:cNvSpPr txBox="1"/>
          <p:nvPr/>
        </p:nvSpPr>
        <p:spPr>
          <a:xfrm>
            <a:off x="5320600" y="2076600"/>
            <a:ext cx="2733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Enfoque translator: research, development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47"/>
          <p:cNvSpPr txBox="1"/>
          <p:nvPr/>
        </p:nvSpPr>
        <p:spPr>
          <a:xfrm>
            <a:off x="5320600" y="2991000"/>
            <a:ext cx="3268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Entregables clave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47"/>
          <p:cNvSpPr/>
          <p:nvPr/>
        </p:nvSpPr>
        <p:spPr>
          <a:xfrm>
            <a:off x="3348150" y="1983900"/>
            <a:ext cx="1487400" cy="569400"/>
          </a:xfrm>
          <a:prstGeom prst="rect">
            <a:avLst/>
          </a:prstGeom>
          <a:solidFill>
            <a:srgbClr val="666666"/>
          </a:solidFill>
          <a:ln>
            <a:noFill/>
          </a:ln>
          <a:effectLst>
            <a:outerShdw blurRad="57150" rotWithShape="0" algn="bl" dir="6360000" dist="3810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76" name="Google Shape;276;p47"/>
          <p:cNvSpPr txBox="1"/>
          <p:nvPr/>
        </p:nvSpPr>
        <p:spPr>
          <a:xfrm>
            <a:off x="3594831" y="2000400"/>
            <a:ext cx="100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47"/>
          <p:cNvSpPr/>
          <p:nvPr/>
        </p:nvSpPr>
        <p:spPr>
          <a:xfrm>
            <a:off x="3348150" y="2822100"/>
            <a:ext cx="1487400" cy="569400"/>
          </a:xfrm>
          <a:prstGeom prst="rect">
            <a:avLst/>
          </a:prstGeom>
          <a:solidFill>
            <a:srgbClr val="666666"/>
          </a:solidFill>
          <a:ln>
            <a:noFill/>
          </a:ln>
          <a:effectLst>
            <a:outerShdw blurRad="57150" rotWithShape="0" algn="bl" dir="6360000" dist="3810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78" name="Google Shape;278;p47"/>
          <p:cNvSpPr txBox="1"/>
          <p:nvPr/>
        </p:nvSpPr>
        <p:spPr>
          <a:xfrm>
            <a:off x="3594831" y="2838600"/>
            <a:ext cx="100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47"/>
          <p:cNvSpPr txBox="1"/>
          <p:nvPr/>
        </p:nvSpPr>
        <p:spPr>
          <a:xfrm>
            <a:off x="5320600" y="3829200"/>
            <a:ext cx="3268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Caso práctico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47"/>
          <p:cNvSpPr/>
          <p:nvPr/>
        </p:nvSpPr>
        <p:spPr>
          <a:xfrm>
            <a:off x="3348150" y="3660300"/>
            <a:ext cx="1487400" cy="569400"/>
          </a:xfrm>
          <a:prstGeom prst="rect">
            <a:avLst/>
          </a:prstGeom>
          <a:solidFill>
            <a:srgbClr val="666666"/>
          </a:solidFill>
          <a:ln>
            <a:noFill/>
          </a:ln>
          <a:effectLst>
            <a:outerShdw blurRad="57150" rotWithShape="0" algn="bl" dir="6360000" dist="3810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81" name="Google Shape;281;p47"/>
          <p:cNvSpPr txBox="1"/>
          <p:nvPr/>
        </p:nvSpPr>
        <p:spPr>
          <a:xfrm>
            <a:off x="3594831" y="3676800"/>
            <a:ext cx="100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47"/>
          <p:cNvSpPr txBox="1"/>
          <p:nvPr/>
        </p:nvSpPr>
        <p:spPr>
          <a:xfrm>
            <a:off x="428000" y="582200"/>
            <a:ext cx="384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66666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AGENDA</a:t>
            </a:r>
            <a:endParaRPr sz="4000">
              <a:solidFill>
                <a:srgbClr val="66666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83" name="Google Shape;283;p47"/>
          <p:cNvPicPr preferRelativeResize="0"/>
          <p:nvPr/>
        </p:nvPicPr>
        <p:blipFill rotWithShape="1">
          <a:blip r:embed="rId3">
            <a:alphaModFix/>
          </a:blip>
          <a:srcRect b="7845" l="63326" r="0" t="31096"/>
          <a:stretch/>
        </p:blipFill>
        <p:spPr>
          <a:xfrm>
            <a:off x="-17325" y="1986200"/>
            <a:ext cx="3428977" cy="315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7"/>
          <p:cNvPicPr preferRelativeResize="0"/>
          <p:nvPr/>
        </p:nvPicPr>
        <p:blipFill rotWithShape="1">
          <a:blip r:embed="rId4">
            <a:alphaModFix amt="36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7"/>
          <p:cNvPicPr preferRelativeResize="0"/>
          <p:nvPr/>
        </p:nvPicPr>
        <p:blipFill rotWithShape="1">
          <a:blip r:embed="rId5">
            <a:alphaModFix amt="74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7F7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8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8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48"/>
          <p:cNvGrpSpPr/>
          <p:nvPr/>
        </p:nvGrpSpPr>
        <p:grpSpPr>
          <a:xfrm>
            <a:off x="7656600" y="65800"/>
            <a:ext cx="1487400" cy="585900"/>
            <a:chOff x="3348150" y="1402500"/>
            <a:chExt cx="1487400" cy="585900"/>
          </a:xfrm>
        </p:grpSpPr>
        <p:sp>
          <p:nvSpPr>
            <p:cNvPr id="293" name="Google Shape;293;p48"/>
            <p:cNvSpPr/>
            <p:nvPr/>
          </p:nvSpPr>
          <p:spPr>
            <a:xfrm>
              <a:off x="3348150" y="1402500"/>
              <a:ext cx="1487400" cy="569400"/>
            </a:xfrm>
            <a:prstGeom prst="rect">
              <a:avLst/>
            </a:prstGeom>
            <a:solidFill>
              <a:srgbClr val="49CAE3"/>
            </a:solidFill>
            <a:ln>
              <a:noFill/>
            </a:ln>
            <a:effectLst>
              <a:outerShdw blurRad="57150" rotWithShape="0" algn="bl" dir="6360000" dist="38100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94" name="Google Shape;294;p48"/>
            <p:cNvSpPr txBox="1"/>
            <p:nvPr/>
          </p:nvSpPr>
          <p:spPr>
            <a:xfrm>
              <a:off x="3594831" y="1419000"/>
              <a:ext cx="10092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5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1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5" name="Google Shape;295;p48"/>
          <p:cNvSpPr/>
          <p:nvPr/>
        </p:nvSpPr>
        <p:spPr>
          <a:xfrm>
            <a:off x="845125" y="778750"/>
            <a:ext cx="2374200" cy="585900"/>
          </a:xfrm>
          <a:prstGeom prst="roundRect">
            <a:avLst>
              <a:gd fmla="val 24236" name="adj"/>
            </a:avLst>
          </a:prstGeom>
          <a:solidFill>
            <a:srgbClr val="1155CC"/>
          </a:solidFill>
          <a:ln>
            <a:noFill/>
          </a:ln>
          <a:effectLst>
            <a:outerShdw blurRad="114300" rotWithShape="0" algn="bl" dir="8280000" dist="76200">
              <a:srgbClr val="000000">
                <a:alpha val="1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8"/>
          <p:cNvSpPr/>
          <p:nvPr/>
        </p:nvSpPr>
        <p:spPr>
          <a:xfrm>
            <a:off x="845125" y="1541300"/>
            <a:ext cx="2374200" cy="2841000"/>
          </a:xfrm>
          <a:prstGeom prst="roundRect">
            <a:avLst>
              <a:gd fmla="val 8259" name="adj"/>
            </a:avLst>
          </a:prstGeom>
          <a:solidFill>
            <a:schemeClr val="lt1"/>
          </a:solidFill>
          <a:ln>
            <a:noFill/>
          </a:ln>
          <a:effectLst>
            <a:outerShdw blurRad="114300" rotWithShape="0" algn="bl" dir="8280000" dist="76200">
              <a:srgbClr val="000000">
                <a:alpha val="1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8"/>
          <p:cNvSpPr/>
          <p:nvPr/>
        </p:nvSpPr>
        <p:spPr>
          <a:xfrm>
            <a:off x="3359725" y="778750"/>
            <a:ext cx="2374200" cy="585900"/>
          </a:xfrm>
          <a:prstGeom prst="roundRect">
            <a:avLst>
              <a:gd fmla="val 24236" name="adj"/>
            </a:avLst>
          </a:prstGeom>
          <a:solidFill>
            <a:srgbClr val="1155CC"/>
          </a:solidFill>
          <a:ln>
            <a:noFill/>
          </a:ln>
          <a:effectLst>
            <a:outerShdw blurRad="114300" rotWithShape="0" algn="bl" dir="8280000" dist="76200">
              <a:srgbClr val="000000">
                <a:alpha val="1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8"/>
          <p:cNvSpPr/>
          <p:nvPr/>
        </p:nvSpPr>
        <p:spPr>
          <a:xfrm>
            <a:off x="3359725" y="1541300"/>
            <a:ext cx="2374200" cy="2841000"/>
          </a:xfrm>
          <a:prstGeom prst="roundRect">
            <a:avLst>
              <a:gd fmla="val 8259" name="adj"/>
            </a:avLst>
          </a:prstGeom>
          <a:solidFill>
            <a:schemeClr val="lt1"/>
          </a:solidFill>
          <a:ln>
            <a:noFill/>
          </a:ln>
          <a:effectLst>
            <a:outerShdw blurRad="114300" rotWithShape="0" algn="bl" dir="8280000" dist="76200">
              <a:srgbClr val="000000">
                <a:alpha val="1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8"/>
          <p:cNvSpPr/>
          <p:nvPr/>
        </p:nvSpPr>
        <p:spPr>
          <a:xfrm>
            <a:off x="5874325" y="778750"/>
            <a:ext cx="2374200" cy="585900"/>
          </a:xfrm>
          <a:prstGeom prst="roundRect">
            <a:avLst>
              <a:gd fmla="val 24236" name="adj"/>
            </a:avLst>
          </a:prstGeom>
          <a:solidFill>
            <a:srgbClr val="1155CC"/>
          </a:solidFill>
          <a:ln>
            <a:noFill/>
          </a:ln>
          <a:effectLst>
            <a:outerShdw blurRad="114300" rotWithShape="0" algn="bl" dir="8280000" dist="76200">
              <a:srgbClr val="000000">
                <a:alpha val="1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8"/>
          <p:cNvSpPr/>
          <p:nvPr/>
        </p:nvSpPr>
        <p:spPr>
          <a:xfrm>
            <a:off x="5874325" y="1541300"/>
            <a:ext cx="2374200" cy="2841000"/>
          </a:xfrm>
          <a:prstGeom prst="roundRect">
            <a:avLst>
              <a:gd fmla="val 8259" name="adj"/>
            </a:avLst>
          </a:prstGeom>
          <a:solidFill>
            <a:schemeClr val="lt1"/>
          </a:solidFill>
          <a:ln>
            <a:noFill/>
          </a:ln>
          <a:effectLst>
            <a:outerShdw blurRad="114300" rotWithShape="0" algn="bl" dir="8280000" dist="76200">
              <a:srgbClr val="000000">
                <a:alpha val="1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8"/>
          <p:cNvSpPr txBox="1"/>
          <p:nvPr/>
        </p:nvSpPr>
        <p:spPr>
          <a:xfrm>
            <a:off x="1050325" y="833300"/>
            <a:ext cx="196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 Thinking Aplicado + Procesos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2" name="Google Shape;302;p48"/>
          <p:cNvSpPr txBox="1"/>
          <p:nvPr/>
        </p:nvSpPr>
        <p:spPr>
          <a:xfrm>
            <a:off x="3564925" y="833300"/>
            <a:ext cx="196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Analítica </a:t>
            </a: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(descriptiva, predictiva y prescriptiva)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3" name="Google Shape;303;p48"/>
          <p:cNvSpPr txBox="1"/>
          <p:nvPr/>
        </p:nvSpPr>
        <p:spPr>
          <a:xfrm>
            <a:off x="6079525" y="833300"/>
            <a:ext cx="196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Process Management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48"/>
          <p:cNvSpPr txBox="1"/>
          <p:nvPr/>
        </p:nvSpPr>
        <p:spPr>
          <a:xfrm>
            <a:off x="934225" y="1632800"/>
            <a:ext cx="2285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Desde el foco en la metodología:</a:t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HCD: People, Business, Technology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Identificar el problema, cliente y ecosistema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Job to be done (insights)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Ideación y conceptos de solución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Aterrizando los conceptos a la práctica: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MVP, BMC, Lean Startup, Testing, UX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Aplicando Design Thinking en entornos de</a:t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Emprendimiento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Innovación Corporativa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Iniciativas analíticas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48"/>
          <p:cNvSpPr txBox="1"/>
          <p:nvPr/>
        </p:nvSpPr>
        <p:spPr>
          <a:xfrm>
            <a:off x="3448825" y="1632800"/>
            <a:ext cx="22851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Analytics Journey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Introducción al analytics journey 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Analitica Descriptiva 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Analitica Diagnostica 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Analitica Predictiva 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Analitica Prescriptiva 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Enfoque translation: Research, </a:t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Research, business, and development.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CRISP y ASUM-DM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Entregables Clave</a:t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Propuesta de solución analitica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48"/>
          <p:cNvSpPr txBox="1"/>
          <p:nvPr/>
        </p:nvSpPr>
        <p:spPr>
          <a:xfrm>
            <a:off x="6039625" y="1632800"/>
            <a:ext cx="2130000" cy="2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Customer Journey</a:t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Introducción al Customer Journey y creación flujo 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Flujo de procesos/funcional</a:t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Introducción al BPM (Business Process Management) ¿Qué es? ¿y para qué sirve?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Conceptos claves del BPMN2 (Business Process Modeling Notation 2.0)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Entregables Clave</a:t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Flujo customer journey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Flujo de procesos alto nivel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40799" lvl="0" marL="269999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Montserrat"/>
              <a:buChar char="●"/>
            </a:pPr>
            <a:r>
              <a:rPr lang="es" sz="8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Flujo de procesos nivel operativo</a:t>
            </a:r>
            <a:endParaRPr sz="8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48"/>
          <p:cNvSpPr txBox="1"/>
          <p:nvPr/>
        </p:nvSpPr>
        <p:spPr>
          <a:xfrm>
            <a:off x="489025" y="249775"/>
            <a:ext cx="50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9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Resumen de talleres</a:t>
            </a:r>
            <a:endParaRPr b="1" i="1" sz="19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89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9"/>
          <p:cNvPicPr preferRelativeResize="0"/>
          <p:nvPr/>
        </p:nvPicPr>
        <p:blipFill rotWithShape="1">
          <a:blip r:embed="rId3">
            <a:alphaModFix amt="36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 rotWithShape="1">
          <a:blip r:embed="rId4">
            <a:alphaModFix amt="74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9"/>
          <p:cNvSpPr txBox="1"/>
          <p:nvPr/>
        </p:nvSpPr>
        <p:spPr>
          <a:xfrm>
            <a:off x="1886650" y="1806275"/>
            <a:ext cx="4641600" cy="14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Analytics Journey</a:t>
            </a:r>
            <a:endParaRPr b="1" sz="5200">
              <a:solidFill>
                <a:srgbClr val="39D4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49"/>
          <p:cNvSpPr txBox="1"/>
          <p:nvPr/>
        </p:nvSpPr>
        <p:spPr>
          <a:xfrm>
            <a:off x="-135350" y="-551375"/>
            <a:ext cx="2988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5000">
                <a:solidFill>
                  <a:srgbClr val="00338B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i="1" sz="15000">
              <a:solidFill>
                <a:srgbClr val="0033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50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50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0"/>
          <p:cNvSpPr txBox="1"/>
          <p:nvPr/>
        </p:nvSpPr>
        <p:spPr>
          <a:xfrm>
            <a:off x="559179" y="500725"/>
            <a:ext cx="578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Madurez Analítica de una compañía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50"/>
          <p:cNvSpPr/>
          <p:nvPr/>
        </p:nvSpPr>
        <p:spPr>
          <a:xfrm>
            <a:off x="6254600" y="1150150"/>
            <a:ext cx="23406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OUTCOMES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51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1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1"/>
          <p:cNvSpPr txBox="1"/>
          <p:nvPr/>
        </p:nvSpPr>
        <p:spPr>
          <a:xfrm>
            <a:off x="559179" y="500725"/>
            <a:ext cx="578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Madurez Analítica de una compañía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51"/>
          <p:cNvSpPr/>
          <p:nvPr/>
        </p:nvSpPr>
        <p:spPr>
          <a:xfrm>
            <a:off x="6254600" y="1150150"/>
            <a:ext cx="23406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OUTCOMES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6325" y="19255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6325" y="28009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6325" y="3676350"/>
            <a:ext cx="646800" cy="6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1"/>
          <p:cNvSpPr/>
          <p:nvPr/>
        </p:nvSpPr>
        <p:spPr>
          <a:xfrm>
            <a:off x="7096925" y="1946563"/>
            <a:ext cx="1223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GROWTH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51"/>
          <p:cNvSpPr/>
          <p:nvPr/>
        </p:nvSpPr>
        <p:spPr>
          <a:xfrm>
            <a:off x="7096925" y="2860981"/>
            <a:ext cx="1327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51"/>
          <p:cNvSpPr/>
          <p:nvPr/>
        </p:nvSpPr>
        <p:spPr>
          <a:xfrm>
            <a:off x="7096925" y="3775400"/>
            <a:ext cx="1628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LOYALTY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52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2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2"/>
          <p:cNvSpPr txBox="1"/>
          <p:nvPr/>
        </p:nvSpPr>
        <p:spPr>
          <a:xfrm>
            <a:off x="559179" y="500725"/>
            <a:ext cx="578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Madurez Analítica de una compañía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52"/>
          <p:cNvSpPr/>
          <p:nvPr/>
        </p:nvSpPr>
        <p:spPr>
          <a:xfrm>
            <a:off x="541475" y="1150150"/>
            <a:ext cx="23406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52"/>
          <p:cNvSpPr/>
          <p:nvPr/>
        </p:nvSpPr>
        <p:spPr>
          <a:xfrm>
            <a:off x="3398038" y="1150150"/>
            <a:ext cx="2340600" cy="531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52"/>
          <p:cNvSpPr/>
          <p:nvPr/>
        </p:nvSpPr>
        <p:spPr>
          <a:xfrm>
            <a:off x="6254600" y="1150150"/>
            <a:ext cx="23406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OUTCOMES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52"/>
          <p:cNvSpPr/>
          <p:nvPr/>
        </p:nvSpPr>
        <p:spPr>
          <a:xfrm>
            <a:off x="2882075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52"/>
          <p:cNvSpPr/>
          <p:nvPr/>
        </p:nvSpPr>
        <p:spPr>
          <a:xfrm>
            <a:off x="5738650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0" name="Google Shape;35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6325" y="19255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6325" y="28009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6325" y="3676350"/>
            <a:ext cx="646800" cy="6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2"/>
          <p:cNvSpPr/>
          <p:nvPr/>
        </p:nvSpPr>
        <p:spPr>
          <a:xfrm>
            <a:off x="7096925" y="1946563"/>
            <a:ext cx="1223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GROWTH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52"/>
          <p:cNvSpPr/>
          <p:nvPr/>
        </p:nvSpPr>
        <p:spPr>
          <a:xfrm>
            <a:off x="7096925" y="2860981"/>
            <a:ext cx="1327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52"/>
          <p:cNvSpPr/>
          <p:nvPr/>
        </p:nvSpPr>
        <p:spPr>
          <a:xfrm>
            <a:off x="7096925" y="3775400"/>
            <a:ext cx="1628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LOYALTY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53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3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3"/>
          <p:cNvSpPr txBox="1"/>
          <p:nvPr/>
        </p:nvSpPr>
        <p:spPr>
          <a:xfrm>
            <a:off x="559179" y="500725"/>
            <a:ext cx="578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Madurez Analítica de una compañía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53"/>
          <p:cNvSpPr/>
          <p:nvPr/>
        </p:nvSpPr>
        <p:spPr>
          <a:xfrm>
            <a:off x="541475" y="1150150"/>
            <a:ext cx="23406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53"/>
          <p:cNvSpPr/>
          <p:nvPr/>
        </p:nvSpPr>
        <p:spPr>
          <a:xfrm>
            <a:off x="3398038" y="1150150"/>
            <a:ext cx="2340600" cy="531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53"/>
          <p:cNvSpPr/>
          <p:nvPr/>
        </p:nvSpPr>
        <p:spPr>
          <a:xfrm>
            <a:off x="6254600" y="1150150"/>
            <a:ext cx="23406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OUTCOMES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53"/>
          <p:cNvSpPr/>
          <p:nvPr/>
        </p:nvSpPr>
        <p:spPr>
          <a:xfrm>
            <a:off x="2882075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53"/>
          <p:cNvSpPr/>
          <p:nvPr/>
        </p:nvSpPr>
        <p:spPr>
          <a:xfrm>
            <a:off x="5738650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68" name="Google Shape;368;p53"/>
          <p:cNvGrpSpPr/>
          <p:nvPr/>
        </p:nvGrpSpPr>
        <p:grpSpPr>
          <a:xfrm>
            <a:off x="3527059" y="1870325"/>
            <a:ext cx="2125966" cy="683475"/>
            <a:chOff x="3603259" y="2327525"/>
            <a:chExt cx="2125966" cy="683475"/>
          </a:xfrm>
        </p:grpSpPr>
        <p:sp>
          <p:nvSpPr>
            <p:cNvPr id="369" name="Google Shape;369;p53"/>
            <p:cNvSpPr/>
            <p:nvPr/>
          </p:nvSpPr>
          <p:spPr>
            <a:xfrm>
              <a:off x="4506125" y="2403763"/>
              <a:ext cx="12231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STRATEGY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70" name="Google Shape;370;p5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03259" y="2327525"/>
              <a:ext cx="683475" cy="683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1" name="Google Shape;371;p53"/>
          <p:cNvGrpSpPr/>
          <p:nvPr/>
        </p:nvGrpSpPr>
        <p:grpSpPr>
          <a:xfrm>
            <a:off x="3433046" y="2690731"/>
            <a:ext cx="2324079" cy="871500"/>
            <a:chOff x="3509246" y="3056675"/>
            <a:chExt cx="2324079" cy="871500"/>
          </a:xfrm>
        </p:grpSpPr>
        <p:sp>
          <p:nvSpPr>
            <p:cNvPr id="372" name="Google Shape;372;p53"/>
            <p:cNvSpPr/>
            <p:nvPr/>
          </p:nvSpPr>
          <p:spPr>
            <a:xfrm>
              <a:off x="4506125" y="3226925"/>
              <a:ext cx="13272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PEOPLE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73" name="Google Shape;373;p5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509246" y="3056675"/>
              <a:ext cx="871500" cy="8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4" name="Google Shape;374;p53"/>
          <p:cNvGrpSpPr/>
          <p:nvPr/>
        </p:nvGrpSpPr>
        <p:grpSpPr>
          <a:xfrm>
            <a:off x="3527050" y="3699163"/>
            <a:ext cx="2531275" cy="683475"/>
            <a:chOff x="3603250" y="4156363"/>
            <a:chExt cx="2531275" cy="683475"/>
          </a:xfrm>
        </p:grpSpPr>
        <p:sp>
          <p:nvSpPr>
            <p:cNvPr id="375" name="Google Shape;375;p53"/>
            <p:cNvSpPr/>
            <p:nvPr/>
          </p:nvSpPr>
          <p:spPr>
            <a:xfrm>
              <a:off x="4506125" y="4232600"/>
              <a:ext cx="16284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PROCESSES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76" name="Google Shape;376;p5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03250" y="4156363"/>
              <a:ext cx="683475" cy="683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7" name="Google Shape;377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26325" y="19255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26325" y="28009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26325" y="3676350"/>
            <a:ext cx="646800" cy="6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3"/>
          <p:cNvSpPr/>
          <p:nvPr/>
        </p:nvSpPr>
        <p:spPr>
          <a:xfrm>
            <a:off x="7096925" y="1946563"/>
            <a:ext cx="1223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GROWTH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53"/>
          <p:cNvSpPr/>
          <p:nvPr/>
        </p:nvSpPr>
        <p:spPr>
          <a:xfrm>
            <a:off x="7096925" y="2860981"/>
            <a:ext cx="1327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53"/>
          <p:cNvSpPr/>
          <p:nvPr/>
        </p:nvSpPr>
        <p:spPr>
          <a:xfrm>
            <a:off x="7096925" y="3775400"/>
            <a:ext cx="1628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LOYALTY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4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4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4"/>
          <p:cNvSpPr txBox="1"/>
          <p:nvPr/>
        </p:nvSpPr>
        <p:spPr>
          <a:xfrm>
            <a:off x="559179" y="500725"/>
            <a:ext cx="578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Madurez Analítica de una compañía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54"/>
          <p:cNvSpPr/>
          <p:nvPr/>
        </p:nvSpPr>
        <p:spPr>
          <a:xfrm>
            <a:off x="541475" y="1150150"/>
            <a:ext cx="23406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54"/>
          <p:cNvSpPr/>
          <p:nvPr/>
        </p:nvSpPr>
        <p:spPr>
          <a:xfrm>
            <a:off x="3398038" y="1150150"/>
            <a:ext cx="2340600" cy="531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54"/>
          <p:cNvSpPr/>
          <p:nvPr/>
        </p:nvSpPr>
        <p:spPr>
          <a:xfrm>
            <a:off x="6254600" y="1150150"/>
            <a:ext cx="23406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OUTCOMES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54"/>
          <p:cNvSpPr/>
          <p:nvPr/>
        </p:nvSpPr>
        <p:spPr>
          <a:xfrm>
            <a:off x="2882075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54"/>
          <p:cNvSpPr/>
          <p:nvPr/>
        </p:nvSpPr>
        <p:spPr>
          <a:xfrm>
            <a:off x="5738650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95" name="Google Shape;395;p54"/>
          <p:cNvGrpSpPr/>
          <p:nvPr/>
        </p:nvGrpSpPr>
        <p:grpSpPr>
          <a:xfrm>
            <a:off x="617675" y="1815100"/>
            <a:ext cx="2061750" cy="794000"/>
            <a:chOff x="617675" y="2272300"/>
            <a:chExt cx="2061750" cy="794000"/>
          </a:xfrm>
        </p:grpSpPr>
        <p:pic>
          <p:nvPicPr>
            <p:cNvPr id="396" name="Google Shape;396;p5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7675" y="2272300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54"/>
            <p:cNvSpPr/>
            <p:nvPr/>
          </p:nvSpPr>
          <p:spPr>
            <a:xfrm>
              <a:off x="1610525" y="2403800"/>
              <a:ext cx="10689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DATA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98" name="Google Shape;398;p54"/>
          <p:cNvGrpSpPr/>
          <p:nvPr/>
        </p:nvGrpSpPr>
        <p:grpSpPr>
          <a:xfrm>
            <a:off x="617675" y="2740988"/>
            <a:ext cx="2320050" cy="794000"/>
            <a:chOff x="617675" y="3095425"/>
            <a:chExt cx="2320050" cy="794000"/>
          </a:xfrm>
        </p:grpSpPr>
        <p:pic>
          <p:nvPicPr>
            <p:cNvPr id="399" name="Google Shape;399;p5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7675" y="3095425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54"/>
            <p:cNvSpPr/>
            <p:nvPr/>
          </p:nvSpPr>
          <p:spPr>
            <a:xfrm>
              <a:off x="1610525" y="3226925"/>
              <a:ext cx="13272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ANALYTICS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1" name="Google Shape;401;p54"/>
          <p:cNvGrpSpPr/>
          <p:nvPr/>
        </p:nvGrpSpPr>
        <p:grpSpPr>
          <a:xfrm>
            <a:off x="617675" y="3666875"/>
            <a:ext cx="2061750" cy="794000"/>
            <a:chOff x="617675" y="4124075"/>
            <a:chExt cx="2061750" cy="794000"/>
          </a:xfrm>
        </p:grpSpPr>
        <p:pic>
          <p:nvPicPr>
            <p:cNvPr id="402" name="Google Shape;402;p5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7675" y="4124075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54"/>
            <p:cNvSpPr/>
            <p:nvPr/>
          </p:nvSpPr>
          <p:spPr>
            <a:xfrm>
              <a:off x="1610525" y="4232600"/>
              <a:ext cx="10689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TECH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4" name="Google Shape;404;p54"/>
          <p:cNvGrpSpPr/>
          <p:nvPr/>
        </p:nvGrpSpPr>
        <p:grpSpPr>
          <a:xfrm>
            <a:off x="3527059" y="1870325"/>
            <a:ext cx="2125966" cy="683475"/>
            <a:chOff x="3603259" y="2327525"/>
            <a:chExt cx="2125966" cy="683475"/>
          </a:xfrm>
        </p:grpSpPr>
        <p:sp>
          <p:nvSpPr>
            <p:cNvPr id="405" name="Google Shape;405;p54"/>
            <p:cNvSpPr/>
            <p:nvPr/>
          </p:nvSpPr>
          <p:spPr>
            <a:xfrm>
              <a:off x="4506125" y="2403763"/>
              <a:ext cx="12231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STRATEGY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06" name="Google Shape;406;p5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603259" y="2327525"/>
              <a:ext cx="683475" cy="683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7" name="Google Shape;407;p54"/>
          <p:cNvGrpSpPr/>
          <p:nvPr/>
        </p:nvGrpSpPr>
        <p:grpSpPr>
          <a:xfrm>
            <a:off x="3433046" y="2690731"/>
            <a:ext cx="2324079" cy="871500"/>
            <a:chOff x="3509246" y="3056675"/>
            <a:chExt cx="2324079" cy="871500"/>
          </a:xfrm>
        </p:grpSpPr>
        <p:sp>
          <p:nvSpPr>
            <p:cNvPr id="408" name="Google Shape;408;p54"/>
            <p:cNvSpPr/>
            <p:nvPr/>
          </p:nvSpPr>
          <p:spPr>
            <a:xfrm>
              <a:off x="4506125" y="3226925"/>
              <a:ext cx="13272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PEOPLE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09" name="Google Shape;409;p5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509246" y="3056675"/>
              <a:ext cx="871500" cy="8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54"/>
          <p:cNvGrpSpPr/>
          <p:nvPr/>
        </p:nvGrpSpPr>
        <p:grpSpPr>
          <a:xfrm>
            <a:off x="3527050" y="3699163"/>
            <a:ext cx="2531275" cy="683475"/>
            <a:chOff x="3603250" y="4156363"/>
            <a:chExt cx="2531275" cy="683475"/>
          </a:xfrm>
        </p:grpSpPr>
        <p:sp>
          <p:nvSpPr>
            <p:cNvPr id="411" name="Google Shape;411;p54"/>
            <p:cNvSpPr/>
            <p:nvPr/>
          </p:nvSpPr>
          <p:spPr>
            <a:xfrm>
              <a:off x="4506125" y="4232600"/>
              <a:ext cx="16284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PROCESSES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12" name="Google Shape;412;p54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603250" y="4156363"/>
              <a:ext cx="683475" cy="683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3" name="Google Shape;413;p5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26325" y="19255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26325" y="28009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26325" y="3676350"/>
            <a:ext cx="646800" cy="6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4"/>
          <p:cNvSpPr/>
          <p:nvPr/>
        </p:nvSpPr>
        <p:spPr>
          <a:xfrm>
            <a:off x="7096925" y="1946563"/>
            <a:ext cx="1223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GROWTH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54"/>
          <p:cNvSpPr/>
          <p:nvPr/>
        </p:nvSpPr>
        <p:spPr>
          <a:xfrm>
            <a:off x="7096925" y="2860981"/>
            <a:ext cx="1327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54"/>
          <p:cNvSpPr/>
          <p:nvPr/>
        </p:nvSpPr>
        <p:spPr>
          <a:xfrm>
            <a:off x="7096925" y="3775400"/>
            <a:ext cx="1628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LOYALTY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55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5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5"/>
          <p:cNvSpPr txBox="1"/>
          <p:nvPr/>
        </p:nvSpPr>
        <p:spPr>
          <a:xfrm>
            <a:off x="559179" y="500725"/>
            <a:ext cx="578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Madurez Analítica de una compañía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55"/>
          <p:cNvSpPr/>
          <p:nvPr/>
        </p:nvSpPr>
        <p:spPr>
          <a:xfrm>
            <a:off x="541475" y="1150150"/>
            <a:ext cx="23406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55"/>
          <p:cNvSpPr/>
          <p:nvPr/>
        </p:nvSpPr>
        <p:spPr>
          <a:xfrm>
            <a:off x="3398038" y="1150150"/>
            <a:ext cx="2340600" cy="531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55"/>
          <p:cNvSpPr/>
          <p:nvPr/>
        </p:nvSpPr>
        <p:spPr>
          <a:xfrm>
            <a:off x="6254600" y="1150150"/>
            <a:ext cx="23406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OUTCOMES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55"/>
          <p:cNvSpPr/>
          <p:nvPr/>
        </p:nvSpPr>
        <p:spPr>
          <a:xfrm>
            <a:off x="2882075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55"/>
          <p:cNvSpPr/>
          <p:nvPr/>
        </p:nvSpPr>
        <p:spPr>
          <a:xfrm>
            <a:off x="5738650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31" name="Google Shape;431;p55"/>
          <p:cNvGrpSpPr/>
          <p:nvPr/>
        </p:nvGrpSpPr>
        <p:grpSpPr>
          <a:xfrm>
            <a:off x="617675" y="1815100"/>
            <a:ext cx="2061750" cy="794000"/>
            <a:chOff x="617675" y="2272300"/>
            <a:chExt cx="2061750" cy="794000"/>
          </a:xfrm>
        </p:grpSpPr>
        <p:pic>
          <p:nvPicPr>
            <p:cNvPr id="432" name="Google Shape;432;p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7675" y="2272300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55"/>
            <p:cNvSpPr/>
            <p:nvPr/>
          </p:nvSpPr>
          <p:spPr>
            <a:xfrm>
              <a:off x="1610525" y="2403800"/>
              <a:ext cx="10689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DATA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34" name="Google Shape;434;p55"/>
          <p:cNvGrpSpPr/>
          <p:nvPr/>
        </p:nvGrpSpPr>
        <p:grpSpPr>
          <a:xfrm>
            <a:off x="617675" y="2740988"/>
            <a:ext cx="2320050" cy="794000"/>
            <a:chOff x="617675" y="3095425"/>
            <a:chExt cx="2320050" cy="794000"/>
          </a:xfrm>
        </p:grpSpPr>
        <p:pic>
          <p:nvPicPr>
            <p:cNvPr id="435" name="Google Shape;435;p5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7675" y="3095425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55"/>
            <p:cNvSpPr/>
            <p:nvPr/>
          </p:nvSpPr>
          <p:spPr>
            <a:xfrm>
              <a:off x="1610525" y="3226925"/>
              <a:ext cx="13272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ANALYTICS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37" name="Google Shape;437;p55"/>
          <p:cNvGrpSpPr/>
          <p:nvPr/>
        </p:nvGrpSpPr>
        <p:grpSpPr>
          <a:xfrm>
            <a:off x="617675" y="3666875"/>
            <a:ext cx="2061750" cy="794000"/>
            <a:chOff x="617675" y="4124075"/>
            <a:chExt cx="2061750" cy="794000"/>
          </a:xfrm>
        </p:grpSpPr>
        <p:pic>
          <p:nvPicPr>
            <p:cNvPr id="438" name="Google Shape;438;p5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7675" y="4124075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55"/>
            <p:cNvSpPr/>
            <p:nvPr/>
          </p:nvSpPr>
          <p:spPr>
            <a:xfrm>
              <a:off x="1610525" y="4232600"/>
              <a:ext cx="10689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TECH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40" name="Google Shape;440;p55"/>
          <p:cNvGrpSpPr/>
          <p:nvPr/>
        </p:nvGrpSpPr>
        <p:grpSpPr>
          <a:xfrm>
            <a:off x="3527059" y="1870325"/>
            <a:ext cx="2125966" cy="683475"/>
            <a:chOff x="3603259" y="2327525"/>
            <a:chExt cx="2125966" cy="683475"/>
          </a:xfrm>
        </p:grpSpPr>
        <p:sp>
          <p:nvSpPr>
            <p:cNvPr id="441" name="Google Shape;441;p55"/>
            <p:cNvSpPr/>
            <p:nvPr/>
          </p:nvSpPr>
          <p:spPr>
            <a:xfrm>
              <a:off x="4506125" y="2403763"/>
              <a:ext cx="12231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STRATEGY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42" name="Google Shape;442;p5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603259" y="2327525"/>
              <a:ext cx="683475" cy="683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" name="Google Shape;443;p55"/>
          <p:cNvGrpSpPr/>
          <p:nvPr/>
        </p:nvGrpSpPr>
        <p:grpSpPr>
          <a:xfrm>
            <a:off x="3433046" y="2690731"/>
            <a:ext cx="2324079" cy="871500"/>
            <a:chOff x="3509246" y="3056675"/>
            <a:chExt cx="2324079" cy="871500"/>
          </a:xfrm>
        </p:grpSpPr>
        <p:sp>
          <p:nvSpPr>
            <p:cNvPr id="444" name="Google Shape;444;p55"/>
            <p:cNvSpPr/>
            <p:nvPr/>
          </p:nvSpPr>
          <p:spPr>
            <a:xfrm>
              <a:off x="4506125" y="3226925"/>
              <a:ext cx="13272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PEOPLE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45" name="Google Shape;445;p5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509246" y="3056675"/>
              <a:ext cx="871500" cy="8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" name="Google Shape;446;p55"/>
          <p:cNvGrpSpPr/>
          <p:nvPr/>
        </p:nvGrpSpPr>
        <p:grpSpPr>
          <a:xfrm>
            <a:off x="3527050" y="3699163"/>
            <a:ext cx="2531275" cy="683475"/>
            <a:chOff x="3603250" y="4156363"/>
            <a:chExt cx="2531275" cy="683475"/>
          </a:xfrm>
        </p:grpSpPr>
        <p:sp>
          <p:nvSpPr>
            <p:cNvPr id="447" name="Google Shape;447;p55"/>
            <p:cNvSpPr/>
            <p:nvPr/>
          </p:nvSpPr>
          <p:spPr>
            <a:xfrm>
              <a:off x="4506125" y="4232600"/>
              <a:ext cx="16284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PROCESSES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48" name="Google Shape;448;p5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603250" y="4156363"/>
              <a:ext cx="683475" cy="683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9" name="Google Shape;449;p5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26325" y="19255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26325" y="28009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26325" y="3676350"/>
            <a:ext cx="646800" cy="6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5"/>
          <p:cNvSpPr/>
          <p:nvPr/>
        </p:nvSpPr>
        <p:spPr>
          <a:xfrm>
            <a:off x="7096925" y="1946563"/>
            <a:ext cx="1223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GROWTH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55"/>
          <p:cNvSpPr/>
          <p:nvPr/>
        </p:nvSpPr>
        <p:spPr>
          <a:xfrm>
            <a:off x="7096925" y="2860981"/>
            <a:ext cx="1327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55"/>
          <p:cNvSpPr/>
          <p:nvPr/>
        </p:nvSpPr>
        <p:spPr>
          <a:xfrm>
            <a:off x="7096925" y="3775400"/>
            <a:ext cx="1628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LOYALTY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55"/>
          <p:cNvSpPr/>
          <p:nvPr/>
        </p:nvSpPr>
        <p:spPr>
          <a:xfrm>
            <a:off x="471000" y="1804975"/>
            <a:ext cx="2466600" cy="794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56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6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6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disponibilización de datos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63" name="Google Shape;463;p56"/>
          <p:cNvGrpSpPr/>
          <p:nvPr/>
        </p:nvGrpSpPr>
        <p:grpSpPr>
          <a:xfrm>
            <a:off x="505774" y="1707021"/>
            <a:ext cx="1033500" cy="1205100"/>
            <a:chOff x="701024" y="2020496"/>
            <a:chExt cx="1033500" cy="1205100"/>
          </a:xfrm>
        </p:grpSpPr>
        <p:sp>
          <p:nvSpPr>
            <p:cNvPr id="464" name="Google Shape;464;p56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5" name="Google Shape;465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0" name="Google Shape;470;p56"/>
          <p:cNvSpPr txBox="1"/>
          <p:nvPr/>
        </p:nvSpPr>
        <p:spPr>
          <a:xfrm>
            <a:off x="505844" y="1362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56"/>
          <p:cNvSpPr txBox="1"/>
          <p:nvPr/>
        </p:nvSpPr>
        <p:spPr>
          <a:xfrm>
            <a:off x="516415" y="2604330"/>
            <a:ext cx="103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No integrado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56"/>
          <p:cNvSpPr txBox="1"/>
          <p:nvPr/>
        </p:nvSpPr>
        <p:spPr>
          <a:xfrm>
            <a:off x="3357038" y="38945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56"/>
          <p:cNvSpPr txBox="1"/>
          <p:nvPr/>
        </p:nvSpPr>
        <p:spPr>
          <a:xfrm>
            <a:off x="5022888" y="4531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Enabler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4" name="Google Shape;474;p56"/>
          <p:cNvCxnSpPr/>
          <p:nvPr/>
        </p:nvCxnSpPr>
        <p:spPr>
          <a:xfrm flipH="1" rot="10800000">
            <a:off x="2274914" y="3837054"/>
            <a:ext cx="1209600" cy="42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475" name="Google Shape;475;p56"/>
          <p:cNvCxnSpPr>
            <a:stCxn id="476" idx="1"/>
            <a:endCxn id="477" idx="1"/>
          </p:cNvCxnSpPr>
          <p:nvPr/>
        </p:nvCxnSpPr>
        <p:spPr>
          <a:xfrm>
            <a:off x="3952841" y="3851900"/>
            <a:ext cx="1266300" cy="364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478" name="Google Shape;478;p56"/>
          <p:cNvCxnSpPr>
            <a:stCxn id="479" idx="1"/>
            <a:endCxn id="477" idx="1"/>
          </p:cNvCxnSpPr>
          <p:nvPr/>
        </p:nvCxnSpPr>
        <p:spPr>
          <a:xfrm flipH="1" rot="10800000">
            <a:off x="2274914" y="4215954"/>
            <a:ext cx="2944200" cy="49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480" name="Google Shape;480;p56"/>
          <p:cNvSpPr txBox="1"/>
          <p:nvPr/>
        </p:nvSpPr>
        <p:spPr>
          <a:xfrm>
            <a:off x="1289250" y="3503250"/>
            <a:ext cx="22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56"/>
          <p:cNvSpPr txBox="1"/>
          <p:nvPr/>
        </p:nvSpPr>
        <p:spPr>
          <a:xfrm>
            <a:off x="1531530" y="4593000"/>
            <a:ext cx="8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2" name="Google Shape;482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2499" y="34514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1087" y="40647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1273" y="393297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57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7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7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disponibilización de datos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92" name="Google Shape;492;p57"/>
          <p:cNvGrpSpPr/>
          <p:nvPr/>
        </p:nvGrpSpPr>
        <p:grpSpPr>
          <a:xfrm>
            <a:off x="505774" y="1707021"/>
            <a:ext cx="1033500" cy="1205100"/>
            <a:chOff x="701024" y="2020496"/>
            <a:chExt cx="1033500" cy="1205100"/>
          </a:xfrm>
        </p:grpSpPr>
        <p:sp>
          <p:nvSpPr>
            <p:cNvPr id="493" name="Google Shape;493;p57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4" name="Google Shape;494;p5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5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5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5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5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9" name="Google Shape;499;p57"/>
          <p:cNvSpPr txBox="1"/>
          <p:nvPr/>
        </p:nvSpPr>
        <p:spPr>
          <a:xfrm>
            <a:off x="505844" y="1362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57"/>
          <p:cNvSpPr txBox="1"/>
          <p:nvPr/>
        </p:nvSpPr>
        <p:spPr>
          <a:xfrm>
            <a:off x="516415" y="2604330"/>
            <a:ext cx="103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No integrado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57"/>
          <p:cNvSpPr txBox="1"/>
          <p:nvPr/>
        </p:nvSpPr>
        <p:spPr>
          <a:xfrm>
            <a:off x="3357038" y="38945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57"/>
          <p:cNvSpPr txBox="1"/>
          <p:nvPr/>
        </p:nvSpPr>
        <p:spPr>
          <a:xfrm>
            <a:off x="5022888" y="4531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Enabler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3" name="Google Shape;503;p57"/>
          <p:cNvCxnSpPr/>
          <p:nvPr/>
        </p:nvCxnSpPr>
        <p:spPr>
          <a:xfrm flipH="1" rot="10800000">
            <a:off x="2274914" y="3837054"/>
            <a:ext cx="1209600" cy="42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504" name="Google Shape;504;p57"/>
          <p:cNvCxnSpPr>
            <a:stCxn id="505" idx="1"/>
            <a:endCxn id="506" idx="1"/>
          </p:cNvCxnSpPr>
          <p:nvPr/>
        </p:nvCxnSpPr>
        <p:spPr>
          <a:xfrm>
            <a:off x="3952841" y="3851900"/>
            <a:ext cx="1266300" cy="364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507" name="Google Shape;507;p57"/>
          <p:cNvCxnSpPr>
            <a:stCxn id="508" idx="1"/>
            <a:endCxn id="506" idx="1"/>
          </p:cNvCxnSpPr>
          <p:nvPr/>
        </p:nvCxnSpPr>
        <p:spPr>
          <a:xfrm flipH="1" rot="10800000">
            <a:off x="2274914" y="4215954"/>
            <a:ext cx="2944200" cy="49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509" name="Google Shape;509;p57"/>
          <p:cNvSpPr txBox="1"/>
          <p:nvPr/>
        </p:nvSpPr>
        <p:spPr>
          <a:xfrm>
            <a:off x="5739538" y="4025150"/>
            <a:ext cx="2053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Creación del modelo de datos, considerando estas capacidades::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Gobierno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Gestión de metadatos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Calidad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Protección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57"/>
          <p:cNvSpPr txBox="1"/>
          <p:nvPr/>
        </p:nvSpPr>
        <p:spPr>
          <a:xfrm>
            <a:off x="1289250" y="3503250"/>
            <a:ext cx="22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57"/>
          <p:cNvSpPr txBox="1"/>
          <p:nvPr/>
        </p:nvSpPr>
        <p:spPr>
          <a:xfrm>
            <a:off x="1531530" y="4593000"/>
            <a:ext cx="8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2" name="Google Shape;512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2499" y="34514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1087" y="40647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1273" y="393297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8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8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8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royecto de disponibilización de datos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22" name="Google Shape;522;p58"/>
          <p:cNvGrpSpPr/>
          <p:nvPr/>
        </p:nvGrpSpPr>
        <p:grpSpPr>
          <a:xfrm>
            <a:off x="505774" y="1707021"/>
            <a:ext cx="1033500" cy="1205100"/>
            <a:chOff x="701024" y="2020496"/>
            <a:chExt cx="1033500" cy="1205100"/>
          </a:xfrm>
        </p:grpSpPr>
        <p:sp>
          <p:nvSpPr>
            <p:cNvPr id="523" name="Google Shape;523;p58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4" name="Google Shape;524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5" name="Google Shape;525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9" name="Google Shape;529;p58"/>
          <p:cNvSpPr txBox="1"/>
          <p:nvPr/>
        </p:nvSpPr>
        <p:spPr>
          <a:xfrm>
            <a:off x="505844" y="1362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30" name="Google Shape;530;p58"/>
          <p:cNvGrpSpPr/>
          <p:nvPr/>
        </p:nvGrpSpPr>
        <p:grpSpPr>
          <a:xfrm>
            <a:off x="2170608" y="1693820"/>
            <a:ext cx="1144081" cy="1218348"/>
            <a:chOff x="2365858" y="2007295"/>
            <a:chExt cx="1144081" cy="1218348"/>
          </a:xfrm>
        </p:grpSpPr>
        <p:pic>
          <p:nvPicPr>
            <p:cNvPr id="531" name="Google Shape;531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65858" y="2007295"/>
              <a:ext cx="1144081" cy="1218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5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45232" y="2194966"/>
              <a:ext cx="715645" cy="715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3" name="Google Shape;533;p58"/>
          <p:cNvSpPr txBox="1"/>
          <p:nvPr/>
        </p:nvSpPr>
        <p:spPr>
          <a:xfrm>
            <a:off x="2170577" y="1362651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Raw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58"/>
          <p:cNvSpPr/>
          <p:nvPr/>
        </p:nvSpPr>
        <p:spPr>
          <a:xfrm>
            <a:off x="1645715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8"/>
          <p:cNvSpPr txBox="1"/>
          <p:nvPr/>
        </p:nvSpPr>
        <p:spPr>
          <a:xfrm>
            <a:off x="2199108" y="2538930"/>
            <a:ext cx="1033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X entidades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Y tablas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58"/>
          <p:cNvSpPr txBox="1"/>
          <p:nvPr/>
        </p:nvSpPr>
        <p:spPr>
          <a:xfrm>
            <a:off x="516415" y="2604330"/>
            <a:ext cx="103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No integrado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58"/>
          <p:cNvSpPr txBox="1"/>
          <p:nvPr/>
        </p:nvSpPr>
        <p:spPr>
          <a:xfrm>
            <a:off x="3357038" y="38945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58"/>
          <p:cNvSpPr txBox="1"/>
          <p:nvPr/>
        </p:nvSpPr>
        <p:spPr>
          <a:xfrm>
            <a:off x="5022888" y="4531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Enabler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9" name="Google Shape;539;p58"/>
          <p:cNvCxnSpPr/>
          <p:nvPr/>
        </p:nvCxnSpPr>
        <p:spPr>
          <a:xfrm flipH="1" rot="10800000">
            <a:off x="2274914" y="3837054"/>
            <a:ext cx="1209600" cy="42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540" name="Google Shape;540;p58"/>
          <p:cNvCxnSpPr>
            <a:stCxn id="541" idx="1"/>
            <a:endCxn id="542" idx="1"/>
          </p:cNvCxnSpPr>
          <p:nvPr/>
        </p:nvCxnSpPr>
        <p:spPr>
          <a:xfrm>
            <a:off x="3952841" y="3851900"/>
            <a:ext cx="1266300" cy="364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543" name="Google Shape;543;p58"/>
          <p:cNvCxnSpPr>
            <a:stCxn id="544" idx="1"/>
            <a:endCxn id="542" idx="1"/>
          </p:cNvCxnSpPr>
          <p:nvPr/>
        </p:nvCxnSpPr>
        <p:spPr>
          <a:xfrm flipH="1" rot="10800000">
            <a:off x="2274914" y="4215954"/>
            <a:ext cx="2944200" cy="49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545" name="Google Shape;545;p58"/>
          <p:cNvSpPr txBox="1"/>
          <p:nvPr/>
        </p:nvSpPr>
        <p:spPr>
          <a:xfrm>
            <a:off x="5739538" y="4025150"/>
            <a:ext cx="2053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Creación del modelo de datos, considerando estas capacidades::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Gobierno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Gestión de metadatos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Calidad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Protección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58"/>
          <p:cNvSpPr txBox="1"/>
          <p:nvPr/>
        </p:nvSpPr>
        <p:spPr>
          <a:xfrm>
            <a:off x="1289250" y="3503250"/>
            <a:ext cx="22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58"/>
          <p:cNvSpPr txBox="1"/>
          <p:nvPr/>
        </p:nvSpPr>
        <p:spPr>
          <a:xfrm>
            <a:off x="1531530" y="4593000"/>
            <a:ext cx="8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8" name="Google Shape;548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22499" y="34514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91087" y="40647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81273" y="393297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59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9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9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disponibilización de datos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58" name="Google Shape;558;p59"/>
          <p:cNvGrpSpPr/>
          <p:nvPr/>
        </p:nvGrpSpPr>
        <p:grpSpPr>
          <a:xfrm>
            <a:off x="505774" y="1707021"/>
            <a:ext cx="1033500" cy="1205100"/>
            <a:chOff x="701024" y="2020496"/>
            <a:chExt cx="1033500" cy="1205100"/>
          </a:xfrm>
        </p:grpSpPr>
        <p:sp>
          <p:nvSpPr>
            <p:cNvPr id="559" name="Google Shape;559;p59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0" name="Google Shape;560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3" name="Google Shape;563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p59"/>
          <p:cNvSpPr txBox="1"/>
          <p:nvPr/>
        </p:nvSpPr>
        <p:spPr>
          <a:xfrm>
            <a:off x="505844" y="1362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66" name="Google Shape;566;p59"/>
          <p:cNvGrpSpPr/>
          <p:nvPr/>
        </p:nvGrpSpPr>
        <p:grpSpPr>
          <a:xfrm>
            <a:off x="2170608" y="1693820"/>
            <a:ext cx="1144081" cy="1218348"/>
            <a:chOff x="2365858" y="2007295"/>
            <a:chExt cx="1144081" cy="1218348"/>
          </a:xfrm>
        </p:grpSpPr>
        <p:pic>
          <p:nvPicPr>
            <p:cNvPr id="567" name="Google Shape;567;p5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65858" y="2007295"/>
              <a:ext cx="1144081" cy="1218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45232" y="2194966"/>
              <a:ext cx="715645" cy="715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9" name="Google Shape;569;p59"/>
          <p:cNvSpPr txBox="1"/>
          <p:nvPr/>
        </p:nvSpPr>
        <p:spPr>
          <a:xfrm>
            <a:off x="2170577" y="1362651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Raw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0" name="Google Shape;570;p59"/>
          <p:cNvGrpSpPr/>
          <p:nvPr/>
        </p:nvGrpSpPr>
        <p:grpSpPr>
          <a:xfrm>
            <a:off x="3966180" y="1659845"/>
            <a:ext cx="1224491" cy="1179716"/>
            <a:chOff x="4161430" y="1973320"/>
            <a:chExt cx="1224491" cy="1179716"/>
          </a:xfrm>
        </p:grpSpPr>
        <p:pic>
          <p:nvPicPr>
            <p:cNvPr id="571" name="Google Shape;571;p5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161430" y="1973320"/>
              <a:ext cx="1224491" cy="117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2" name="Google Shape;572;p5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393723" y="2212327"/>
              <a:ext cx="701694" cy="7016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3" name="Google Shape;573;p59"/>
          <p:cNvSpPr txBox="1"/>
          <p:nvPr/>
        </p:nvSpPr>
        <p:spPr>
          <a:xfrm>
            <a:off x="3969875" y="1362651"/>
            <a:ext cx="12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Master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59"/>
          <p:cNvSpPr/>
          <p:nvPr/>
        </p:nvSpPr>
        <p:spPr>
          <a:xfrm>
            <a:off x="1645715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9"/>
          <p:cNvSpPr/>
          <p:nvPr/>
        </p:nvSpPr>
        <p:spPr>
          <a:xfrm>
            <a:off x="3441473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9"/>
          <p:cNvSpPr txBox="1"/>
          <p:nvPr/>
        </p:nvSpPr>
        <p:spPr>
          <a:xfrm>
            <a:off x="2199108" y="2538930"/>
            <a:ext cx="1033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X entidades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Y tablas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59"/>
          <p:cNvSpPr txBox="1"/>
          <p:nvPr/>
        </p:nvSpPr>
        <p:spPr>
          <a:xfrm>
            <a:off x="516415" y="2604330"/>
            <a:ext cx="103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No integrado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59"/>
          <p:cNvSpPr txBox="1"/>
          <p:nvPr/>
        </p:nvSpPr>
        <p:spPr>
          <a:xfrm>
            <a:off x="3990800" y="2588150"/>
            <a:ext cx="114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59"/>
          <p:cNvSpPr txBox="1"/>
          <p:nvPr/>
        </p:nvSpPr>
        <p:spPr>
          <a:xfrm>
            <a:off x="3357038" y="38945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p59"/>
          <p:cNvSpPr txBox="1"/>
          <p:nvPr/>
        </p:nvSpPr>
        <p:spPr>
          <a:xfrm>
            <a:off x="5022888" y="4531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Enabler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1" name="Google Shape;581;p59"/>
          <p:cNvCxnSpPr/>
          <p:nvPr/>
        </p:nvCxnSpPr>
        <p:spPr>
          <a:xfrm flipH="1" rot="10800000">
            <a:off x="2274914" y="3837054"/>
            <a:ext cx="1209600" cy="42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582" name="Google Shape;582;p59"/>
          <p:cNvCxnSpPr>
            <a:stCxn id="583" idx="1"/>
            <a:endCxn id="584" idx="1"/>
          </p:cNvCxnSpPr>
          <p:nvPr/>
        </p:nvCxnSpPr>
        <p:spPr>
          <a:xfrm>
            <a:off x="3952841" y="3851900"/>
            <a:ext cx="1266300" cy="364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585" name="Google Shape;585;p59"/>
          <p:cNvCxnSpPr>
            <a:stCxn id="586" idx="1"/>
            <a:endCxn id="584" idx="1"/>
          </p:cNvCxnSpPr>
          <p:nvPr/>
        </p:nvCxnSpPr>
        <p:spPr>
          <a:xfrm flipH="1" rot="10800000">
            <a:off x="2274914" y="4215954"/>
            <a:ext cx="2944200" cy="49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587" name="Google Shape;587;p59"/>
          <p:cNvSpPr txBox="1"/>
          <p:nvPr/>
        </p:nvSpPr>
        <p:spPr>
          <a:xfrm>
            <a:off x="5739538" y="4025150"/>
            <a:ext cx="2053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Creación del modelo de datos, considerando estas capacidades::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Gobierno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Gestión de metadatos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Calidad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Protección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59"/>
          <p:cNvSpPr txBox="1"/>
          <p:nvPr/>
        </p:nvSpPr>
        <p:spPr>
          <a:xfrm>
            <a:off x="1289250" y="3503250"/>
            <a:ext cx="22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59"/>
          <p:cNvSpPr txBox="1"/>
          <p:nvPr/>
        </p:nvSpPr>
        <p:spPr>
          <a:xfrm>
            <a:off x="1531530" y="4593000"/>
            <a:ext cx="8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0" name="Google Shape;590;p5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22499" y="34514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91087" y="40647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5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81273" y="393297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60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0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60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disponibilización de datos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00" name="Google Shape;600;p60"/>
          <p:cNvGrpSpPr/>
          <p:nvPr/>
        </p:nvGrpSpPr>
        <p:grpSpPr>
          <a:xfrm>
            <a:off x="505774" y="1707021"/>
            <a:ext cx="1033500" cy="1205100"/>
            <a:chOff x="701024" y="2020496"/>
            <a:chExt cx="1033500" cy="1205100"/>
          </a:xfrm>
        </p:grpSpPr>
        <p:sp>
          <p:nvSpPr>
            <p:cNvPr id="601" name="Google Shape;601;p60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2" name="Google Shape;602;p6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3" name="Google Shape;603;p6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4" name="Google Shape;604;p6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5" name="Google Shape;605;p6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6" name="Google Shape;606;p6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7" name="Google Shape;607;p60"/>
          <p:cNvSpPr txBox="1"/>
          <p:nvPr/>
        </p:nvSpPr>
        <p:spPr>
          <a:xfrm>
            <a:off x="505844" y="1362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08" name="Google Shape;608;p60"/>
          <p:cNvGrpSpPr/>
          <p:nvPr/>
        </p:nvGrpSpPr>
        <p:grpSpPr>
          <a:xfrm>
            <a:off x="2170608" y="1693820"/>
            <a:ext cx="1144081" cy="1218348"/>
            <a:chOff x="2365858" y="2007295"/>
            <a:chExt cx="1144081" cy="1218348"/>
          </a:xfrm>
        </p:grpSpPr>
        <p:pic>
          <p:nvPicPr>
            <p:cNvPr id="609" name="Google Shape;609;p6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65858" y="2007295"/>
              <a:ext cx="1144081" cy="1218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0" name="Google Shape;610;p6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45232" y="2194966"/>
              <a:ext cx="715645" cy="715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1" name="Google Shape;611;p60"/>
          <p:cNvSpPr txBox="1"/>
          <p:nvPr/>
        </p:nvSpPr>
        <p:spPr>
          <a:xfrm>
            <a:off x="2170577" y="1362651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Raw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12" name="Google Shape;612;p60"/>
          <p:cNvGrpSpPr/>
          <p:nvPr/>
        </p:nvGrpSpPr>
        <p:grpSpPr>
          <a:xfrm>
            <a:off x="3966180" y="1659845"/>
            <a:ext cx="1224491" cy="1179716"/>
            <a:chOff x="4161430" y="1973320"/>
            <a:chExt cx="1224491" cy="1179716"/>
          </a:xfrm>
        </p:grpSpPr>
        <p:pic>
          <p:nvPicPr>
            <p:cNvPr id="613" name="Google Shape;613;p6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161430" y="1973320"/>
              <a:ext cx="1224491" cy="117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6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393723" y="2212327"/>
              <a:ext cx="701694" cy="7016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5" name="Google Shape;615;p60"/>
          <p:cNvSpPr txBox="1"/>
          <p:nvPr/>
        </p:nvSpPr>
        <p:spPr>
          <a:xfrm>
            <a:off x="3969875" y="1362651"/>
            <a:ext cx="12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Master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6" name="Google Shape;616;p60"/>
          <p:cNvSpPr/>
          <p:nvPr/>
        </p:nvSpPr>
        <p:spPr>
          <a:xfrm>
            <a:off x="1645715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0"/>
          <p:cNvSpPr/>
          <p:nvPr/>
        </p:nvSpPr>
        <p:spPr>
          <a:xfrm>
            <a:off x="3441473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0"/>
          <p:cNvSpPr txBox="1"/>
          <p:nvPr/>
        </p:nvSpPr>
        <p:spPr>
          <a:xfrm>
            <a:off x="2199108" y="2538930"/>
            <a:ext cx="1033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X entidades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Y tablas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60"/>
          <p:cNvSpPr txBox="1"/>
          <p:nvPr/>
        </p:nvSpPr>
        <p:spPr>
          <a:xfrm>
            <a:off x="516415" y="2604330"/>
            <a:ext cx="103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No integrado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0" name="Google Shape;620;p60"/>
          <p:cNvSpPr txBox="1"/>
          <p:nvPr/>
        </p:nvSpPr>
        <p:spPr>
          <a:xfrm>
            <a:off x="3990800" y="2588150"/>
            <a:ext cx="114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60"/>
          <p:cNvSpPr txBox="1"/>
          <p:nvPr/>
        </p:nvSpPr>
        <p:spPr>
          <a:xfrm>
            <a:off x="3357038" y="38945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60"/>
          <p:cNvSpPr txBox="1"/>
          <p:nvPr/>
        </p:nvSpPr>
        <p:spPr>
          <a:xfrm>
            <a:off x="5022888" y="4531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Enabler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3" name="Google Shape;623;p60"/>
          <p:cNvCxnSpPr/>
          <p:nvPr/>
        </p:nvCxnSpPr>
        <p:spPr>
          <a:xfrm flipH="1" rot="10800000">
            <a:off x="2274914" y="3837054"/>
            <a:ext cx="1209600" cy="42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624" name="Google Shape;624;p60"/>
          <p:cNvCxnSpPr>
            <a:stCxn id="625" idx="1"/>
            <a:endCxn id="626" idx="1"/>
          </p:cNvCxnSpPr>
          <p:nvPr/>
        </p:nvCxnSpPr>
        <p:spPr>
          <a:xfrm>
            <a:off x="3952841" y="3851900"/>
            <a:ext cx="1266300" cy="364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627" name="Google Shape;627;p60"/>
          <p:cNvCxnSpPr>
            <a:stCxn id="628" idx="1"/>
            <a:endCxn id="626" idx="1"/>
          </p:cNvCxnSpPr>
          <p:nvPr/>
        </p:nvCxnSpPr>
        <p:spPr>
          <a:xfrm flipH="1" rot="10800000">
            <a:off x="2274914" y="4215954"/>
            <a:ext cx="2944200" cy="49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629" name="Google Shape;629;p60"/>
          <p:cNvSpPr txBox="1"/>
          <p:nvPr/>
        </p:nvSpPr>
        <p:spPr>
          <a:xfrm>
            <a:off x="5739538" y="4025150"/>
            <a:ext cx="2053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Creación del modelo de datos, considerando estas capacidades::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Gobierno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Gestión de metadatos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Calidad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Protección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60"/>
          <p:cNvSpPr txBox="1"/>
          <p:nvPr/>
        </p:nvSpPr>
        <p:spPr>
          <a:xfrm>
            <a:off x="1289250" y="3503250"/>
            <a:ext cx="22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1" name="Google Shape;631;p60"/>
          <p:cNvGrpSpPr/>
          <p:nvPr/>
        </p:nvGrpSpPr>
        <p:grpSpPr>
          <a:xfrm>
            <a:off x="5725395" y="1726567"/>
            <a:ext cx="1183545" cy="1185698"/>
            <a:chOff x="3805475" y="1867375"/>
            <a:chExt cx="2337175" cy="2341425"/>
          </a:xfrm>
        </p:grpSpPr>
        <p:pic>
          <p:nvPicPr>
            <p:cNvPr id="632" name="Google Shape;632;p6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805475" y="1867375"/>
              <a:ext cx="2337175" cy="234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3" name="Google Shape;633;p60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79675" y="2447900"/>
              <a:ext cx="1615200" cy="133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4" name="Google Shape;634;p60"/>
          <p:cNvSpPr txBox="1"/>
          <p:nvPr/>
        </p:nvSpPr>
        <p:spPr>
          <a:xfrm>
            <a:off x="5545865" y="1270251"/>
            <a:ext cx="154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60"/>
          <p:cNvSpPr/>
          <p:nvPr/>
        </p:nvSpPr>
        <p:spPr>
          <a:xfrm>
            <a:off x="5237231" y="21181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60"/>
          <p:cNvSpPr txBox="1"/>
          <p:nvPr/>
        </p:nvSpPr>
        <p:spPr>
          <a:xfrm>
            <a:off x="5743481" y="2658805"/>
            <a:ext cx="108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7" name="Google Shape;637;p60"/>
          <p:cNvSpPr txBox="1"/>
          <p:nvPr/>
        </p:nvSpPr>
        <p:spPr>
          <a:xfrm>
            <a:off x="1531530" y="4593000"/>
            <a:ext cx="8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8" name="Google Shape;638;p6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22499" y="34514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6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91087" y="40647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6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81273" y="393297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61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61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61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disponibilización de datos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48" name="Google Shape;648;p61"/>
          <p:cNvGrpSpPr/>
          <p:nvPr/>
        </p:nvGrpSpPr>
        <p:grpSpPr>
          <a:xfrm>
            <a:off x="505774" y="1707021"/>
            <a:ext cx="1033500" cy="1205100"/>
            <a:chOff x="701024" y="2020496"/>
            <a:chExt cx="1033500" cy="1205100"/>
          </a:xfrm>
        </p:grpSpPr>
        <p:sp>
          <p:nvSpPr>
            <p:cNvPr id="649" name="Google Shape;649;p61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50" name="Google Shape;650;p6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1" name="Google Shape;651;p6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2" name="Google Shape;652;p6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3" name="Google Shape;653;p6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" name="Google Shape;654;p6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5" name="Google Shape;655;p61"/>
          <p:cNvSpPr txBox="1"/>
          <p:nvPr/>
        </p:nvSpPr>
        <p:spPr>
          <a:xfrm>
            <a:off x="505844" y="1362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56" name="Google Shape;656;p61"/>
          <p:cNvGrpSpPr/>
          <p:nvPr/>
        </p:nvGrpSpPr>
        <p:grpSpPr>
          <a:xfrm>
            <a:off x="2170608" y="1693820"/>
            <a:ext cx="1144081" cy="1218348"/>
            <a:chOff x="2365858" y="2007295"/>
            <a:chExt cx="1144081" cy="1218348"/>
          </a:xfrm>
        </p:grpSpPr>
        <p:pic>
          <p:nvPicPr>
            <p:cNvPr id="657" name="Google Shape;657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65858" y="2007295"/>
              <a:ext cx="1144081" cy="1218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6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45232" y="2194966"/>
              <a:ext cx="715645" cy="715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9" name="Google Shape;659;p61"/>
          <p:cNvSpPr txBox="1"/>
          <p:nvPr/>
        </p:nvSpPr>
        <p:spPr>
          <a:xfrm>
            <a:off x="2170577" y="1362651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Raw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60" name="Google Shape;660;p61"/>
          <p:cNvGrpSpPr/>
          <p:nvPr/>
        </p:nvGrpSpPr>
        <p:grpSpPr>
          <a:xfrm>
            <a:off x="3966180" y="1659845"/>
            <a:ext cx="1224491" cy="1179716"/>
            <a:chOff x="4161430" y="1973320"/>
            <a:chExt cx="1224491" cy="1179716"/>
          </a:xfrm>
        </p:grpSpPr>
        <p:pic>
          <p:nvPicPr>
            <p:cNvPr id="661" name="Google Shape;661;p6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161430" y="1973320"/>
              <a:ext cx="1224491" cy="117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p6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393723" y="2212327"/>
              <a:ext cx="701694" cy="7016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3" name="Google Shape;663;p61"/>
          <p:cNvSpPr txBox="1"/>
          <p:nvPr/>
        </p:nvSpPr>
        <p:spPr>
          <a:xfrm>
            <a:off x="3969875" y="1362651"/>
            <a:ext cx="12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Master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1"/>
          <p:cNvSpPr/>
          <p:nvPr/>
        </p:nvSpPr>
        <p:spPr>
          <a:xfrm>
            <a:off x="1645715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61"/>
          <p:cNvSpPr/>
          <p:nvPr/>
        </p:nvSpPr>
        <p:spPr>
          <a:xfrm>
            <a:off x="3441473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61"/>
          <p:cNvSpPr txBox="1"/>
          <p:nvPr/>
        </p:nvSpPr>
        <p:spPr>
          <a:xfrm>
            <a:off x="2199108" y="2538930"/>
            <a:ext cx="1033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X entidades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Y tablas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61"/>
          <p:cNvSpPr txBox="1"/>
          <p:nvPr/>
        </p:nvSpPr>
        <p:spPr>
          <a:xfrm>
            <a:off x="516415" y="2604330"/>
            <a:ext cx="103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No integrado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61"/>
          <p:cNvSpPr txBox="1"/>
          <p:nvPr/>
        </p:nvSpPr>
        <p:spPr>
          <a:xfrm>
            <a:off x="3990800" y="2588150"/>
            <a:ext cx="114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61"/>
          <p:cNvSpPr txBox="1"/>
          <p:nvPr/>
        </p:nvSpPr>
        <p:spPr>
          <a:xfrm>
            <a:off x="3357038" y="38945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61"/>
          <p:cNvSpPr txBox="1"/>
          <p:nvPr/>
        </p:nvSpPr>
        <p:spPr>
          <a:xfrm>
            <a:off x="5022888" y="4531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Enabler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1" name="Google Shape;671;p61"/>
          <p:cNvCxnSpPr/>
          <p:nvPr/>
        </p:nvCxnSpPr>
        <p:spPr>
          <a:xfrm flipH="1" rot="10800000">
            <a:off x="2274914" y="3837054"/>
            <a:ext cx="1209600" cy="42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672" name="Google Shape;672;p61"/>
          <p:cNvCxnSpPr>
            <a:stCxn id="673" idx="1"/>
            <a:endCxn id="674" idx="1"/>
          </p:cNvCxnSpPr>
          <p:nvPr/>
        </p:nvCxnSpPr>
        <p:spPr>
          <a:xfrm>
            <a:off x="3952841" y="3851900"/>
            <a:ext cx="1266300" cy="364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675" name="Google Shape;675;p61"/>
          <p:cNvCxnSpPr>
            <a:stCxn id="676" idx="1"/>
            <a:endCxn id="674" idx="1"/>
          </p:cNvCxnSpPr>
          <p:nvPr/>
        </p:nvCxnSpPr>
        <p:spPr>
          <a:xfrm flipH="1" rot="10800000">
            <a:off x="2274914" y="4215954"/>
            <a:ext cx="2944200" cy="49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677" name="Google Shape;677;p61"/>
          <p:cNvSpPr txBox="1"/>
          <p:nvPr/>
        </p:nvSpPr>
        <p:spPr>
          <a:xfrm>
            <a:off x="5739538" y="4025150"/>
            <a:ext cx="2053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Creación del modelo de datos, considerando estas capacidades::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Gobierno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Gestión de metadatos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Calidad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Protección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8" name="Google Shape;678;p61"/>
          <p:cNvSpPr txBox="1"/>
          <p:nvPr/>
        </p:nvSpPr>
        <p:spPr>
          <a:xfrm>
            <a:off x="1289250" y="3503250"/>
            <a:ext cx="22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61"/>
          <p:cNvSpPr/>
          <p:nvPr/>
        </p:nvSpPr>
        <p:spPr>
          <a:xfrm>
            <a:off x="7624775" y="2306972"/>
            <a:ext cx="1209600" cy="451800"/>
          </a:xfrm>
          <a:prstGeom prst="roundRect">
            <a:avLst>
              <a:gd fmla="val 16667" name="adj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Modelo Analítico</a:t>
            </a:r>
            <a:endParaRPr sz="1200"/>
          </a:p>
        </p:txBody>
      </p:sp>
      <p:sp>
        <p:nvSpPr>
          <p:cNvPr id="680" name="Google Shape;680;p61"/>
          <p:cNvSpPr/>
          <p:nvPr/>
        </p:nvSpPr>
        <p:spPr>
          <a:xfrm>
            <a:off x="7624775" y="1686100"/>
            <a:ext cx="1209600" cy="451800"/>
          </a:xfrm>
          <a:prstGeom prst="roundRect">
            <a:avLst>
              <a:gd fmla="val 16667" name="adj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1100"/>
          </a:p>
        </p:txBody>
      </p:sp>
      <p:grpSp>
        <p:nvGrpSpPr>
          <p:cNvPr id="681" name="Google Shape;681;p61"/>
          <p:cNvGrpSpPr/>
          <p:nvPr/>
        </p:nvGrpSpPr>
        <p:grpSpPr>
          <a:xfrm>
            <a:off x="5725395" y="1726567"/>
            <a:ext cx="1183545" cy="1185698"/>
            <a:chOff x="3805475" y="1867375"/>
            <a:chExt cx="2337175" cy="2341425"/>
          </a:xfrm>
        </p:grpSpPr>
        <p:pic>
          <p:nvPicPr>
            <p:cNvPr id="682" name="Google Shape;682;p6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805475" y="1867375"/>
              <a:ext cx="2337175" cy="234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3" name="Google Shape;683;p6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79675" y="2447900"/>
              <a:ext cx="1615200" cy="133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4" name="Google Shape;684;p61"/>
          <p:cNvSpPr txBox="1"/>
          <p:nvPr/>
        </p:nvSpPr>
        <p:spPr>
          <a:xfrm>
            <a:off x="5545865" y="1270251"/>
            <a:ext cx="154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61"/>
          <p:cNvSpPr/>
          <p:nvPr/>
        </p:nvSpPr>
        <p:spPr>
          <a:xfrm>
            <a:off x="5237231" y="21181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6" name="Google Shape;686;p61"/>
          <p:cNvGrpSpPr/>
          <p:nvPr/>
        </p:nvGrpSpPr>
        <p:grpSpPr>
          <a:xfrm>
            <a:off x="7010593" y="1916152"/>
            <a:ext cx="732655" cy="655114"/>
            <a:chOff x="5812500" y="2149403"/>
            <a:chExt cx="1064906" cy="952200"/>
          </a:xfrm>
        </p:grpSpPr>
        <p:sp>
          <p:nvSpPr>
            <p:cNvPr id="687" name="Google Shape;687;p61"/>
            <p:cNvSpPr/>
            <p:nvPr/>
          </p:nvSpPr>
          <p:spPr>
            <a:xfrm rot="8100000">
              <a:off x="6071228" y="2282273"/>
              <a:ext cx="660155" cy="686459"/>
            </a:xfrm>
            <a:prstGeom prst="leftUpArrow">
              <a:avLst/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1"/>
            <p:cNvSpPr/>
            <p:nvPr/>
          </p:nvSpPr>
          <p:spPr>
            <a:xfrm>
              <a:off x="5812500" y="2443100"/>
              <a:ext cx="443100" cy="364800"/>
            </a:xfrm>
            <a:prstGeom prst="rightArrow">
              <a:avLst>
                <a:gd fmla="val 50000" name="adj1"/>
                <a:gd fmla="val 0" name="adj2"/>
              </a:avLst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9" name="Google Shape;689;p61"/>
          <p:cNvSpPr txBox="1"/>
          <p:nvPr/>
        </p:nvSpPr>
        <p:spPr>
          <a:xfrm>
            <a:off x="5743481" y="2658805"/>
            <a:ext cx="108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61"/>
          <p:cNvSpPr txBox="1"/>
          <p:nvPr/>
        </p:nvSpPr>
        <p:spPr>
          <a:xfrm>
            <a:off x="1531530" y="4593000"/>
            <a:ext cx="8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1" name="Google Shape;691;p6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22499" y="34514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6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91087" y="40647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6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81273" y="393297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62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62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2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disponibilización de datos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01" name="Google Shape;701;p62"/>
          <p:cNvGrpSpPr/>
          <p:nvPr/>
        </p:nvGrpSpPr>
        <p:grpSpPr>
          <a:xfrm>
            <a:off x="505774" y="1707021"/>
            <a:ext cx="1033500" cy="1205100"/>
            <a:chOff x="701024" y="2020496"/>
            <a:chExt cx="1033500" cy="1205100"/>
          </a:xfrm>
        </p:grpSpPr>
        <p:sp>
          <p:nvSpPr>
            <p:cNvPr id="702" name="Google Shape;702;p62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3" name="Google Shape;703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5" name="Google Shape;705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8" name="Google Shape;708;p62"/>
          <p:cNvSpPr txBox="1"/>
          <p:nvPr/>
        </p:nvSpPr>
        <p:spPr>
          <a:xfrm>
            <a:off x="505844" y="1362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09" name="Google Shape;709;p62"/>
          <p:cNvGrpSpPr/>
          <p:nvPr/>
        </p:nvGrpSpPr>
        <p:grpSpPr>
          <a:xfrm>
            <a:off x="2170608" y="1693820"/>
            <a:ext cx="1144081" cy="1218348"/>
            <a:chOff x="2365858" y="2007295"/>
            <a:chExt cx="1144081" cy="1218348"/>
          </a:xfrm>
        </p:grpSpPr>
        <p:pic>
          <p:nvPicPr>
            <p:cNvPr id="710" name="Google Shape;710;p6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65858" y="2007295"/>
              <a:ext cx="1144081" cy="1218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1" name="Google Shape;711;p6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45232" y="2194966"/>
              <a:ext cx="715645" cy="715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2" name="Google Shape;712;p62"/>
          <p:cNvSpPr txBox="1"/>
          <p:nvPr/>
        </p:nvSpPr>
        <p:spPr>
          <a:xfrm>
            <a:off x="2170577" y="1362651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Raw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13" name="Google Shape;713;p62"/>
          <p:cNvGrpSpPr/>
          <p:nvPr/>
        </p:nvGrpSpPr>
        <p:grpSpPr>
          <a:xfrm>
            <a:off x="3966180" y="1659845"/>
            <a:ext cx="1224491" cy="1179716"/>
            <a:chOff x="4161430" y="1973320"/>
            <a:chExt cx="1224491" cy="1179716"/>
          </a:xfrm>
        </p:grpSpPr>
        <p:pic>
          <p:nvPicPr>
            <p:cNvPr id="714" name="Google Shape;714;p6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161430" y="1973320"/>
              <a:ext cx="1224491" cy="117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5" name="Google Shape;715;p6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393723" y="2212327"/>
              <a:ext cx="701694" cy="7016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6" name="Google Shape;716;p62"/>
          <p:cNvSpPr txBox="1"/>
          <p:nvPr/>
        </p:nvSpPr>
        <p:spPr>
          <a:xfrm>
            <a:off x="3969875" y="1362651"/>
            <a:ext cx="12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Master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7" name="Google Shape;717;p62"/>
          <p:cNvSpPr/>
          <p:nvPr/>
        </p:nvSpPr>
        <p:spPr>
          <a:xfrm>
            <a:off x="1645715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62"/>
          <p:cNvSpPr/>
          <p:nvPr/>
        </p:nvSpPr>
        <p:spPr>
          <a:xfrm>
            <a:off x="3441473" y="2121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2"/>
          <p:cNvSpPr txBox="1"/>
          <p:nvPr/>
        </p:nvSpPr>
        <p:spPr>
          <a:xfrm>
            <a:off x="2199108" y="2538930"/>
            <a:ext cx="1033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X entidades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Y tablas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62"/>
          <p:cNvSpPr txBox="1"/>
          <p:nvPr/>
        </p:nvSpPr>
        <p:spPr>
          <a:xfrm>
            <a:off x="516415" y="2604330"/>
            <a:ext cx="103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No integrado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1" name="Google Shape;721;p62"/>
          <p:cNvSpPr txBox="1"/>
          <p:nvPr/>
        </p:nvSpPr>
        <p:spPr>
          <a:xfrm>
            <a:off x="3990800" y="2588150"/>
            <a:ext cx="114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2" name="Google Shape;722;p62"/>
          <p:cNvSpPr txBox="1"/>
          <p:nvPr/>
        </p:nvSpPr>
        <p:spPr>
          <a:xfrm>
            <a:off x="3357038" y="38945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62"/>
          <p:cNvSpPr txBox="1"/>
          <p:nvPr/>
        </p:nvSpPr>
        <p:spPr>
          <a:xfrm>
            <a:off x="5022888" y="4531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Enabler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4" name="Google Shape;724;p62"/>
          <p:cNvCxnSpPr/>
          <p:nvPr/>
        </p:nvCxnSpPr>
        <p:spPr>
          <a:xfrm flipH="1" rot="10800000">
            <a:off x="2274914" y="3837054"/>
            <a:ext cx="1209600" cy="42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725" name="Google Shape;725;p62"/>
          <p:cNvCxnSpPr>
            <a:stCxn id="726" idx="1"/>
            <a:endCxn id="727" idx="1"/>
          </p:cNvCxnSpPr>
          <p:nvPr/>
        </p:nvCxnSpPr>
        <p:spPr>
          <a:xfrm>
            <a:off x="3952841" y="3851900"/>
            <a:ext cx="1266300" cy="364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728" name="Google Shape;728;p62"/>
          <p:cNvCxnSpPr>
            <a:stCxn id="729" idx="1"/>
            <a:endCxn id="727" idx="1"/>
          </p:cNvCxnSpPr>
          <p:nvPr/>
        </p:nvCxnSpPr>
        <p:spPr>
          <a:xfrm flipH="1" rot="10800000">
            <a:off x="2274914" y="4215954"/>
            <a:ext cx="2944200" cy="49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730" name="Google Shape;730;p62"/>
          <p:cNvSpPr txBox="1"/>
          <p:nvPr/>
        </p:nvSpPr>
        <p:spPr>
          <a:xfrm>
            <a:off x="5739538" y="4025150"/>
            <a:ext cx="2053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Creación del modelo de datos, considerando estas capacidades::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Gobierno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Gestión de metadatos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Calidad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Protección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62"/>
          <p:cNvSpPr txBox="1"/>
          <p:nvPr/>
        </p:nvSpPr>
        <p:spPr>
          <a:xfrm>
            <a:off x="1289250" y="3503250"/>
            <a:ext cx="22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62"/>
          <p:cNvSpPr/>
          <p:nvPr/>
        </p:nvSpPr>
        <p:spPr>
          <a:xfrm>
            <a:off x="7624775" y="2306972"/>
            <a:ext cx="1209600" cy="451800"/>
          </a:xfrm>
          <a:prstGeom prst="roundRect">
            <a:avLst>
              <a:gd fmla="val 16667" name="adj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Modelo Analítico</a:t>
            </a:r>
            <a:endParaRPr sz="1200"/>
          </a:p>
        </p:txBody>
      </p:sp>
      <p:sp>
        <p:nvSpPr>
          <p:cNvPr id="733" name="Google Shape;733;p62"/>
          <p:cNvSpPr/>
          <p:nvPr/>
        </p:nvSpPr>
        <p:spPr>
          <a:xfrm>
            <a:off x="7624775" y="1686100"/>
            <a:ext cx="1209600" cy="451800"/>
          </a:xfrm>
          <a:prstGeom prst="roundRect">
            <a:avLst>
              <a:gd fmla="val 16667" name="adj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1100"/>
          </a:p>
        </p:txBody>
      </p:sp>
      <p:grpSp>
        <p:nvGrpSpPr>
          <p:cNvPr id="734" name="Google Shape;734;p62"/>
          <p:cNvGrpSpPr/>
          <p:nvPr/>
        </p:nvGrpSpPr>
        <p:grpSpPr>
          <a:xfrm>
            <a:off x="5725395" y="1726567"/>
            <a:ext cx="1183545" cy="1185698"/>
            <a:chOff x="3805475" y="1867375"/>
            <a:chExt cx="2337175" cy="2341425"/>
          </a:xfrm>
        </p:grpSpPr>
        <p:pic>
          <p:nvPicPr>
            <p:cNvPr id="735" name="Google Shape;735;p6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805475" y="1867375"/>
              <a:ext cx="2337175" cy="234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6" name="Google Shape;736;p6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79675" y="2447900"/>
              <a:ext cx="1615200" cy="133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7" name="Google Shape;737;p62"/>
          <p:cNvSpPr txBox="1"/>
          <p:nvPr/>
        </p:nvSpPr>
        <p:spPr>
          <a:xfrm>
            <a:off x="5545865" y="1270251"/>
            <a:ext cx="154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62"/>
          <p:cNvSpPr/>
          <p:nvPr/>
        </p:nvSpPr>
        <p:spPr>
          <a:xfrm>
            <a:off x="5237231" y="21181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9" name="Google Shape;739;p62"/>
          <p:cNvGrpSpPr/>
          <p:nvPr/>
        </p:nvGrpSpPr>
        <p:grpSpPr>
          <a:xfrm>
            <a:off x="7010593" y="1916152"/>
            <a:ext cx="732655" cy="655114"/>
            <a:chOff x="5812500" y="2149403"/>
            <a:chExt cx="1064906" cy="952200"/>
          </a:xfrm>
        </p:grpSpPr>
        <p:sp>
          <p:nvSpPr>
            <p:cNvPr id="740" name="Google Shape;740;p62"/>
            <p:cNvSpPr/>
            <p:nvPr/>
          </p:nvSpPr>
          <p:spPr>
            <a:xfrm rot="8100000">
              <a:off x="6071228" y="2282273"/>
              <a:ext cx="660155" cy="686459"/>
            </a:xfrm>
            <a:prstGeom prst="leftUpArrow">
              <a:avLst/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2"/>
            <p:cNvSpPr/>
            <p:nvPr/>
          </p:nvSpPr>
          <p:spPr>
            <a:xfrm>
              <a:off x="5812500" y="2443100"/>
              <a:ext cx="443100" cy="364800"/>
            </a:xfrm>
            <a:prstGeom prst="rightArrow">
              <a:avLst>
                <a:gd fmla="val 50000" name="adj1"/>
                <a:gd fmla="val 0" name="adj2"/>
              </a:avLst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2" name="Google Shape;742;p62"/>
          <p:cNvSpPr txBox="1"/>
          <p:nvPr/>
        </p:nvSpPr>
        <p:spPr>
          <a:xfrm>
            <a:off x="5743481" y="2658805"/>
            <a:ext cx="108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62"/>
          <p:cNvSpPr txBox="1"/>
          <p:nvPr/>
        </p:nvSpPr>
        <p:spPr>
          <a:xfrm>
            <a:off x="1531530" y="4593000"/>
            <a:ext cx="8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22499" y="34514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6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91087" y="40647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6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603625" y="2445325"/>
            <a:ext cx="601200" cy="6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2"/>
          <p:cNvSpPr txBox="1"/>
          <p:nvPr/>
        </p:nvSpPr>
        <p:spPr>
          <a:xfrm>
            <a:off x="1517688" y="3007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Engineer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8" name="Google Shape;748;p6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48490" y="2445325"/>
            <a:ext cx="601200" cy="6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2"/>
          <p:cNvSpPr txBox="1"/>
          <p:nvPr/>
        </p:nvSpPr>
        <p:spPr>
          <a:xfrm>
            <a:off x="3262553" y="3007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Engineer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0" name="Google Shape;750;p6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208229" y="2445325"/>
            <a:ext cx="601200" cy="6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2"/>
          <p:cNvSpPr txBox="1"/>
          <p:nvPr/>
        </p:nvSpPr>
        <p:spPr>
          <a:xfrm>
            <a:off x="5122291" y="300737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Engineer</a:t>
            </a:r>
            <a:endParaRPr b="1"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2" name="Google Shape;752;p62"/>
          <p:cNvSpPr txBox="1"/>
          <p:nvPr/>
        </p:nvSpPr>
        <p:spPr>
          <a:xfrm>
            <a:off x="5663338" y="2958350"/>
            <a:ext cx="2053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Creación del flujos de datos, considerando esta capacidad: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14605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-"/>
            </a:pP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DataOps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3" name="Google Shape;753;p6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81273" y="393297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63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3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3"/>
          <p:cNvSpPr txBox="1"/>
          <p:nvPr/>
        </p:nvSpPr>
        <p:spPr>
          <a:xfrm>
            <a:off x="559179" y="500725"/>
            <a:ext cx="578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Madurez Analítica de una compañía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1" name="Google Shape;761;p63"/>
          <p:cNvSpPr/>
          <p:nvPr/>
        </p:nvSpPr>
        <p:spPr>
          <a:xfrm>
            <a:off x="541475" y="1150150"/>
            <a:ext cx="23406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63"/>
          <p:cNvSpPr/>
          <p:nvPr/>
        </p:nvSpPr>
        <p:spPr>
          <a:xfrm>
            <a:off x="3398038" y="1150150"/>
            <a:ext cx="2340600" cy="531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FOUNDATIONS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3" name="Google Shape;763;p63"/>
          <p:cNvSpPr/>
          <p:nvPr/>
        </p:nvSpPr>
        <p:spPr>
          <a:xfrm>
            <a:off x="6254600" y="1150150"/>
            <a:ext cx="23406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OUTCOMES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4" name="Google Shape;764;p63"/>
          <p:cNvSpPr/>
          <p:nvPr/>
        </p:nvSpPr>
        <p:spPr>
          <a:xfrm>
            <a:off x="2882075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5" name="Google Shape;765;p63"/>
          <p:cNvSpPr/>
          <p:nvPr/>
        </p:nvSpPr>
        <p:spPr>
          <a:xfrm>
            <a:off x="5738650" y="1165950"/>
            <a:ext cx="51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66" name="Google Shape;766;p63"/>
          <p:cNvGrpSpPr/>
          <p:nvPr/>
        </p:nvGrpSpPr>
        <p:grpSpPr>
          <a:xfrm>
            <a:off x="617675" y="1815100"/>
            <a:ext cx="2061750" cy="794000"/>
            <a:chOff x="617675" y="2272300"/>
            <a:chExt cx="2061750" cy="794000"/>
          </a:xfrm>
        </p:grpSpPr>
        <p:pic>
          <p:nvPicPr>
            <p:cNvPr id="767" name="Google Shape;767;p6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7675" y="2272300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63"/>
            <p:cNvSpPr/>
            <p:nvPr/>
          </p:nvSpPr>
          <p:spPr>
            <a:xfrm>
              <a:off x="1610525" y="2403800"/>
              <a:ext cx="10689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DATA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69" name="Google Shape;769;p63"/>
          <p:cNvGrpSpPr/>
          <p:nvPr/>
        </p:nvGrpSpPr>
        <p:grpSpPr>
          <a:xfrm>
            <a:off x="617675" y="2740988"/>
            <a:ext cx="2320050" cy="794000"/>
            <a:chOff x="617675" y="3095425"/>
            <a:chExt cx="2320050" cy="794000"/>
          </a:xfrm>
        </p:grpSpPr>
        <p:pic>
          <p:nvPicPr>
            <p:cNvPr id="770" name="Google Shape;770;p6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7675" y="3095425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" name="Google Shape;771;p63"/>
            <p:cNvSpPr/>
            <p:nvPr/>
          </p:nvSpPr>
          <p:spPr>
            <a:xfrm>
              <a:off x="1610525" y="3226925"/>
              <a:ext cx="13272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ANALYTICS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72" name="Google Shape;772;p63"/>
          <p:cNvGrpSpPr/>
          <p:nvPr/>
        </p:nvGrpSpPr>
        <p:grpSpPr>
          <a:xfrm>
            <a:off x="617675" y="3666875"/>
            <a:ext cx="2061750" cy="794000"/>
            <a:chOff x="617675" y="4124075"/>
            <a:chExt cx="2061750" cy="794000"/>
          </a:xfrm>
        </p:grpSpPr>
        <p:pic>
          <p:nvPicPr>
            <p:cNvPr id="773" name="Google Shape;773;p6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7675" y="4124075"/>
              <a:ext cx="794000" cy="7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4" name="Google Shape;774;p63"/>
            <p:cNvSpPr/>
            <p:nvPr/>
          </p:nvSpPr>
          <p:spPr>
            <a:xfrm>
              <a:off x="1610525" y="4232600"/>
              <a:ext cx="10689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TECH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75" name="Google Shape;775;p63"/>
          <p:cNvGrpSpPr/>
          <p:nvPr/>
        </p:nvGrpSpPr>
        <p:grpSpPr>
          <a:xfrm>
            <a:off x="3527059" y="1870325"/>
            <a:ext cx="2125966" cy="683475"/>
            <a:chOff x="3603259" y="2327525"/>
            <a:chExt cx="2125966" cy="683475"/>
          </a:xfrm>
        </p:grpSpPr>
        <p:sp>
          <p:nvSpPr>
            <p:cNvPr id="776" name="Google Shape;776;p63"/>
            <p:cNvSpPr/>
            <p:nvPr/>
          </p:nvSpPr>
          <p:spPr>
            <a:xfrm>
              <a:off x="4506125" y="2403763"/>
              <a:ext cx="12231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STRATEGY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777" name="Google Shape;777;p6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603259" y="2327525"/>
              <a:ext cx="683475" cy="683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8" name="Google Shape;778;p63"/>
          <p:cNvGrpSpPr/>
          <p:nvPr/>
        </p:nvGrpSpPr>
        <p:grpSpPr>
          <a:xfrm>
            <a:off x="3433046" y="2690731"/>
            <a:ext cx="2324079" cy="871500"/>
            <a:chOff x="3509246" y="3056675"/>
            <a:chExt cx="2324079" cy="871500"/>
          </a:xfrm>
        </p:grpSpPr>
        <p:sp>
          <p:nvSpPr>
            <p:cNvPr id="779" name="Google Shape;779;p63"/>
            <p:cNvSpPr/>
            <p:nvPr/>
          </p:nvSpPr>
          <p:spPr>
            <a:xfrm>
              <a:off x="4506125" y="3226925"/>
              <a:ext cx="13272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PEOPLE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780" name="Google Shape;780;p6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509246" y="3056675"/>
              <a:ext cx="871500" cy="8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1" name="Google Shape;781;p63"/>
          <p:cNvGrpSpPr/>
          <p:nvPr/>
        </p:nvGrpSpPr>
        <p:grpSpPr>
          <a:xfrm>
            <a:off x="3527050" y="3699163"/>
            <a:ext cx="2531275" cy="683475"/>
            <a:chOff x="3603250" y="4156363"/>
            <a:chExt cx="2531275" cy="683475"/>
          </a:xfrm>
        </p:grpSpPr>
        <p:sp>
          <p:nvSpPr>
            <p:cNvPr id="782" name="Google Shape;782;p63"/>
            <p:cNvSpPr/>
            <p:nvPr/>
          </p:nvSpPr>
          <p:spPr>
            <a:xfrm>
              <a:off x="4506125" y="4232600"/>
              <a:ext cx="16284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Montserrat"/>
                  <a:ea typeface="Montserrat"/>
                  <a:cs typeface="Montserrat"/>
                  <a:sym typeface="Montserrat"/>
                </a:rPr>
                <a:t>PROCESSES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783" name="Google Shape;783;p6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603250" y="4156363"/>
              <a:ext cx="683475" cy="683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84" name="Google Shape;784;p6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26325" y="19255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26325" y="2800950"/>
            <a:ext cx="646800" cy="6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26325" y="3676350"/>
            <a:ext cx="646800" cy="6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3"/>
          <p:cNvSpPr/>
          <p:nvPr/>
        </p:nvSpPr>
        <p:spPr>
          <a:xfrm>
            <a:off x="7096925" y="1946563"/>
            <a:ext cx="1223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GROWTH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63"/>
          <p:cNvSpPr/>
          <p:nvPr/>
        </p:nvSpPr>
        <p:spPr>
          <a:xfrm>
            <a:off x="7096925" y="2860981"/>
            <a:ext cx="1327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9" name="Google Shape;789;p63"/>
          <p:cNvSpPr/>
          <p:nvPr/>
        </p:nvSpPr>
        <p:spPr>
          <a:xfrm>
            <a:off x="7096925" y="3775400"/>
            <a:ext cx="1628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LOYALTY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0" name="Google Shape;790;p63"/>
          <p:cNvSpPr/>
          <p:nvPr/>
        </p:nvSpPr>
        <p:spPr>
          <a:xfrm>
            <a:off x="471000" y="2719375"/>
            <a:ext cx="2466600" cy="794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4"/>
          <p:cNvSpPr txBox="1"/>
          <p:nvPr>
            <p:ph type="title"/>
          </p:nvPr>
        </p:nvSpPr>
        <p:spPr>
          <a:xfrm>
            <a:off x="616500" y="368825"/>
            <a:ext cx="710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5555"/>
              <a:buNone/>
            </a:pPr>
            <a:r>
              <a:rPr lang="es" sz="1800"/>
              <a:t>Analytics Journey</a:t>
            </a:r>
            <a:endParaRPr sz="1800"/>
          </a:p>
        </p:txBody>
      </p:sp>
      <p:pic>
        <p:nvPicPr>
          <p:cNvPr id="796" name="Google Shape;79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375" y="832075"/>
            <a:ext cx="6739046" cy="413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5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5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5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Analytics Journey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65"/>
          <p:cNvSpPr/>
          <p:nvPr/>
        </p:nvSpPr>
        <p:spPr>
          <a:xfrm>
            <a:off x="711575" y="3449126"/>
            <a:ext cx="19587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Analítica Descriptiva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5" name="Google Shape;805;p65"/>
          <p:cNvSpPr txBox="1"/>
          <p:nvPr/>
        </p:nvSpPr>
        <p:spPr>
          <a:xfrm>
            <a:off x="656574" y="2937601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¿Qué </a:t>
            </a: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sucedió</a:t>
            </a: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6" name="Google Shape;806;p65"/>
          <p:cNvCxnSpPr/>
          <p:nvPr/>
        </p:nvCxnSpPr>
        <p:spPr>
          <a:xfrm>
            <a:off x="660875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65"/>
          <p:cNvCxnSpPr/>
          <p:nvPr/>
        </p:nvCxnSpPr>
        <p:spPr>
          <a:xfrm>
            <a:off x="2687476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808" name="Google Shape;80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3402" y="4071699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5"/>
          <p:cNvSpPr txBox="1"/>
          <p:nvPr/>
        </p:nvSpPr>
        <p:spPr>
          <a:xfrm>
            <a:off x="1213003" y="4481490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65"/>
          <p:cNvSpPr txBox="1"/>
          <p:nvPr/>
        </p:nvSpPr>
        <p:spPr>
          <a:xfrm>
            <a:off x="380900" y="4797448"/>
            <a:ext cx="393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Fuente: </a:t>
            </a:r>
            <a:r>
              <a:rPr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Baker Tilly’s Data Analytics maturity model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6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66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66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Analytics Journey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8" name="Google Shape;818;p66"/>
          <p:cNvSpPr/>
          <p:nvPr/>
        </p:nvSpPr>
        <p:spPr>
          <a:xfrm>
            <a:off x="711575" y="3449126"/>
            <a:ext cx="19587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Analítica Descriptiva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9" name="Google Shape;819;p66"/>
          <p:cNvSpPr/>
          <p:nvPr/>
        </p:nvSpPr>
        <p:spPr>
          <a:xfrm>
            <a:off x="2723700" y="2877500"/>
            <a:ext cx="2010600" cy="531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Analítica Diagnóstica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0" name="Google Shape;820;p66"/>
          <p:cNvSpPr txBox="1"/>
          <p:nvPr/>
        </p:nvSpPr>
        <p:spPr>
          <a:xfrm>
            <a:off x="656574" y="2937601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¿Qué sucedió?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66"/>
          <p:cNvSpPr txBox="1"/>
          <p:nvPr/>
        </p:nvSpPr>
        <p:spPr>
          <a:xfrm>
            <a:off x="2713974" y="2366500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¿Por qué sucedió?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66"/>
          <p:cNvSpPr txBox="1"/>
          <p:nvPr/>
        </p:nvSpPr>
        <p:spPr>
          <a:xfrm>
            <a:off x="2889403" y="4382191"/>
            <a:ext cx="8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Business Intelligence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3" name="Google Shape;823;p66"/>
          <p:cNvCxnSpPr/>
          <p:nvPr/>
        </p:nvCxnSpPr>
        <p:spPr>
          <a:xfrm>
            <a:off x="660875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66"/>
          <p:cNvCxnSpPr/>
          <p:nvPr/>
        </p:nvCxnSpPr>
        <p:spPr>
          <a:xfrm>
            <a:off x="2687476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66"/>
          <p:cNvCxnSpPr/>
          <p:nvPr/>
        </p:nvCxnSpPr>
        <p:spPr>
          <a:xfrm>
            <a:off x="4744876" y="1083100"/>
            <a:ext cx="5400" cy="37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826" name="Google Shape;826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0802" y="3477498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6"/>
          <p:cNvSpPr txBox="1"/>
          <p:nvPr/>
        </p:nvSpPr>
        <p:spPr>
          <a:xfrm>
            <a:off x="3270403" y="3887290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8" name="Google Shape;828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3402" y="4071699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66"/>
          <p:cNvSpPr txBox="1"/>
          <p:nvPr/>
        </p:nvSpPr>
        <p:spPr>
          <a:xfrm>
            <a:off x="1213003" y="4481490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66"/>
          <p:cNvSpPr txBox="1"/>
          <p:nvPr/>
        </p:nvSpPr>
        <p:spPr>
          <a:xfrm>
            <a:off x="380900" y="4797448"/>
            <a:ext cx="393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Fuente: </a:t>
            </a:r>
            <a:r>
              <a:rPr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Baker Tilly’s Data Analytics maturity model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67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67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67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Analytics Journey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8" name="Google Shape;838;p67"/>
          <p:cNvSpPr/>
          <p:nvPr/>
        </p:nvSpPr>
        <p:spPr>
          <a:xfrm>
            <a:off x="711575" y="3449126"/>
            <a:ext cx="19587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Analítica Descriptiva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67"/>
          <p:cNvSpPr/>
          <p:nvPr/>
        </p:nvSpPr>
        <p:spPr>
          <a:xfrm>
            <a:off x="2723700" y="2877500"/>
            <a:ext cx="2010600" cy="531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Analítica Diagnóstica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0" name="Google Shape;840;p67"/>
          <p:cNvSpPr/>
          <p:nvPr/>
        </p:nvSpPr>
        <p:spPr>
          <a:xfrm>
            <a:off x="4795974" y="2313599"/>
            <a:ext cx="19125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Analpitica Predictiva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1" name="Google Shape;841;p67"/>
          <p:cNvSpPr txBox="1"/>
          <p:nvPr/>
        </p:nvSpPr>
        <p:spPr>
          <a:xfrm>
            <a:off x="656574" y="2937601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¿Qué sucedió?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2" name="Google Shape;842;p67"/>
          <p:cNvSpPr txBox="1"/>
          <p:nvPr/>
        </p:nvSpPr>
        <p:spPr>
          <a:xfrm>
            <a:off x="2713974" y="2366500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¿Por qué sucedió?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3" name="Google Shape;843;p67"/>
          <p:cNvSpPr txBox="1"/>
          <p:nvPr/>
        </p:nvSpPr>
        <p:spPr>
          <a:xfrm>
            <a:off x="4695174" y="1871599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¿Qué sucederá?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67"/>
          <p:cNvSpPr txBox="1"/>
          <p:nvPr/>
        </p:nvSpPr>
        <p:spPr>
          <a:xfrm>
            <a:off x="2889403" y="4382191"/>
            <a:ext cx="8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Business Intelligence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5" name="Google Shape;845;p67"/>
          <p:cNvSpPr txBox="1"/>
          <p:nvPr/>
        </p:nvSpPr>
        <p:spPr>
          <a:xfrm>
            <a:off x="6394603" y="4458391"/>
            <a:ext cx="8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Advanced Analytics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6" name="Google Shape;846;p67"/>
          <p:cNvCxnSpPr/>
          <p:nvPr/>
        </p:nvCxnSpPr>
        <p:spPr>
          <a:xfrm>
            <a:off x="660875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67"/>
          <p:cNvCxnSpPr/>
          <p:nvPr/>
        </p:nvCxnSpPr>
        <p:spPr>
          <a:xfrm>
            <a:off x="2687476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67"/>
          <p:cNvCxnSpPr/>
          <p:nvPr/>
        </p:nvCxnSpPr>
        <p:spPr>
          <a:xfrm>
            <a:off x="4744876" y="1083100"/>
            <a:ext cx="5400" cy="37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67"/>
          <p:cNvCxnSpPr/>
          <p:nvPr/>
        </p:nvCxnSpPr>
        <p:spPr>
          <a:xfrm>
            <a:off x="6756875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850" name="Google Shape;85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0802" y="3477498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7"/>
          <p:cNvSpPr txBox="1"/>
          <p:nvPr/>
        </p:nvSpPr>
        <p:spPr>
          <a:xfrm>
            <a:off x="3270403" y="3887290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2" name="Google Shape;85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3402" y="4071699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67"/>
          <p:cNvSpPr txBox="1"/>
          <p:nvPr/>
        </p:nvSpPr>
        <p:spPr>
          <a:xfrm>
            <a:off x="1213003" y="4481490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4" name="Google Shape;854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7088" y="2886400"/>
            <a:ext cx="492975" cy="4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67"/>
          <p:cNvSpPr txBox="1"/>
          <p:nvPr/>
        </p:nvSpPr>
        <p:spPr>
          <a:xfrm>
            <a:off x="5327803" y="3369290"/>
            <a:ext cx="85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Predicciones y simulaciones de negocio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6" name="Google Shape;856;p67"/>
          <p:cNvSpPr txBox="1"/>
          <p:nvPr/>
        </p:nvSpPr>
        <p:spPr>
          <a:xfrm>
            <a:off x="380900" y="4797448"/>
            <a:ext cx="393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Fuente: </a:t>
            </a:r>
            <a:r>
              <a:rPr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Baker Tilly’s Data Analytics maturity model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68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68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68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Analytics Journey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68"/>
          <p:cNvSpPr/>
          <p:nvPr/>
        </p:nvSpPr>
        <p:spPr>
          <a:xfrm>
            <a:off x="711575" y="3449126"/>
            <a:ext cx="1958700" cy="531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Analítica Descriptiva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5" name="Google Shape;865;p68"/>
          <p:cNvSpPr/>
          <p:nvPr/>
        </p:nvSpPr>
        <p:spPr>
          <a:xfrm>
            <a:off x="2723700" y="2877500"/>
            <a:ext cx="2010600" cy="531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Analítica Diagnóstica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6" name="Google Shape;866;p68"/>
          <p:cNvSpPr/>
          <p:nvPr/>
        </p:nvSpPr>
        <p:spPr>
          <a:xfrm>
            <a:off x="4795974" y="2313599"/>
            <a:ext cx="19125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Analpitica Predictiva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68"/>
          <p:cNvSpPr/>
          <p:nvPr/>
        </p:nvSpPr>
        <p:spPr>
          <a:xfrm>
            <a:off x="6811025" y="1741700"/>
            <a:ext cx="2010600" cy="5310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Analpitica Prescriptiva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68"/>
          <p:cNvSpPr txBox="1"/>
          <p:nvPr/>
        </p:nvSpPr>
        <p:spPr>
          <a:xfrm>
            <a:off x="656574" y="2937601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¿Qué sucedió?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68"/>
          <p:cNvSpPr txBox="1"/>
          <p:nvPr/>
        </p:nvSpPr>
        <p:spPr>
          <a:xfrm>
            <a:off x="2713974" y="2366500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¿Por qué sucedió?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0" name="Google Shape;870;p68"/>
          <p:cNvSpPr txBox="1"/>
          <p:nvPr/>
        </p:nvSpPr>
        <p:spPr>
          <a:xfrm>
            <a:off x="4695174" y="1871599"/>
            <a:ext cx="20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¿Qué sucederá?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1" name="Google Shape;871;p68"/>
          <p:cNvSpPr txBox="1"/>
          <p:nvPr/>
        </p:nvSpPr>
        <p:spPr>
          <a:xfrm>
            <a:off x="6783421" y="1082000"/>
            <a:ext cx="201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¿Cómo podemos hacer que  suceda?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68"/>
          <p:cNvSpPr txBox="1"/>
          <p:nvPr/>
        </p:nvSpPr>
        <p:spPr>
          <a:xfrm>
            <a:off x="2889403" y="4382191"/>
            <a:ext cx="8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Business Intelligence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68"/>
          <p:cNvSpPr txBox="1"/>
          <p:nvPr/>
        </p:nvSpPr>
        <p:spPr>
          <a:xfrm>
            <a:off x="6394603" y="4458391"/>
            <a:ext cx="8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Advanced Analytics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4" name="Google Shape;874;p68"/>
          <p:cNvCxnSpPr/>
          <p:nvPr/>
        </p:nvCxnSpPr>
        <p:spPr>
          <a:xfrm>
            <a:off x="660875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68"/>
          <p:cNvCxnSpPr/>
          <p:nvPr/>
        </p:nvCxnSpPr>
        <p:spPr>
          <a:xfrm>
            <a:off x="2687476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68"/>
          <p:cNvCxnSpPr/>
          <p:nvPr/>
        </p:nvCxnSpPr>
        <p:spPr>
          <a:xfrm>
            <a:off x="4744876" y="1083100"/>
            <a:ext cx="5400" cy="37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68"/>
          <p:cNvCxnSpPr/>
          <p:nvPr/>
        </p:nvCxnSpPr>
        <p:spPr>
          <a:xfrm>
            <a:off x="6756875" y="1083100"/>
            <a:ext cx="7800" cy="3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878" name="Google Shape;87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0802" y="3477498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68"/>
          <p:cNvSpPr txBox="1"/>
          <p:nvPr/>
        </p:nvSpPr>
        <p:spPr>
          <a:xfrm>
            <a:off x="3270403" y="3887290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0" name="Google Shape;880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3402" y="4071699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68"/>
          <p:cNvSpPr txBox="1"/>
          <p:nvPr/>
        </p:nvSpPr>
        <p:spPr>
          <a:xfrm>
            <a:off x="1213003" y="4481490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2" name="Google Shape;882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7088" y="2886400"/>
            <a:ext cx="492975" cy="4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68"/>
          <p:cNvSpPr txBox="1"/>
          <p:nvPr/>
        </p:nvSpPr>
        <p:spPr>
          <a:xfrm>
            <a:off x="5327803" y="3369290"/>
            <a:ext cx="85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Predicciones y simulaciones de negocio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4" name="Google Shape;884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94650" y="2366500"/>
            <a:ext cx="531000" cy="5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68"/>
          <p:cNvSpPr txBox="1"/>
          <p:nvPr/>
        </p:nvSpPr>
        <p:spPr>
          <a:xfrm>
            <a:off x="7285900" y="2988300"/>
            <a:ext cx="107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Automatización de toma de decisiones con machine learning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6" name="Google Shape;886;p68"/>
          <p:cNvSpPr txBox="1"/>
          <p:nvPr/>
        </p:nvSpPr>
        <p:spPr>
          <a:xfrm>
            <a:off x="380900" y="4797448"/>
            <a:ext cx="393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Fuente: </a:t>
            </a:r>
            <a:r>
              <a:rPr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Baker Tilly’s Data Analytics maturity model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69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69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69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analítica descriptiva/diagnóstica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94" name="Google Shape;894;p69"/>
          <p:cNvGrpSpPr/>
          <p:nvPr/>
        </p:nvGrpSpPr>
        <p:grpSpPr>
          <a:xfrm>
            <a:off x="1446975" y="1699745"/>
            <a:ext cx="1368884" cy="1371373"/>
            <a:chOff x="1534825" y="1699745"/>
            <a:chExt cx="1368884" cy="1371373"/>
          </a:xfrm>
        </p:grpSpPr>
        <p:pic>
          <p:nvPicPr>
            <p:cNvPr id="895" name="Google Shape;895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34825" y="1699745"/>
              <a:ext cx="1368884" cy="1371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6" name="Google Shape;896;p6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95424" y="2039758"/>
              <a:ext cx="946022" cy="7793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7" name="Google Shape;897;p69"/>
          <p:cNvSpPr txBox="1"/>
          <p:nvPr/>
        </p:nvSpPr>
        <p:spPr>
          <a:xfrm>
            <a:off x="1037563" y="1299700"/>
            <a:ext cx="218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69"/>
          <p:cNvSpPr txBox="1"/>
          <p:nvPr/>
        </p:nvSpPr>
        <p:spPr>
          <a:xfrm>
            <a:off x="1592375" y="2839565"/>
            <a:ext cx="130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69"/>
          <p:cNvSpPr txBox="1"/>
          <p:nvPr/>
        </p:nvSpPr>
        <p:spPr>
          <a:xfrm>
            <a:off x="5657738" y="44032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69"/>
          <p:cNvSpPr txBox="1"/>
          <p:nvPr/>
        </p:nvSpPr>
        <p:spPr>
          <a:xfrm>
            <a:off x="1241628" y="4436091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69"/>
          <p:cNvSpPr txBox="1"/>
          <p:nvPr/>
        </p:nvSpPr>
        <p:spPr>
          <a:xfrm>
            <a:off x="6935863" y="3691025"/>
            <a:ext cx="8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Analista de Negocio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2" name="Google Shape;902;p69"/>
          <p:cNvSpPr txBox="1"/>
          <p:nvPr/>
        </p:nvSpPr>
        <p:spPr>
          <a:xfrm>
            <a:off x="6576113" y="4186775"/>
            <a:ext cx="145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Definición,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estión del proyecto y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3" name="Google Shape;903;p69"/>
          <p:cNvCxnSpPr>
            <a:stCxn id="904" idx="1"/>
          </p:cNvCxnSpPr>
          <p:nvPr/>
        </p:nvCxnSpPr>
        <p:spPr>
          <a:xfrm>
            <a:off x="1889776" y="4186767"/>
            <a:ext cx="3318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905" name="Google Shape;905;p69"/>
          <p:cNvCxnSpPr>
            <a:endCxn id="906" idx="1"/>
          </p:cNvCxnSpPr>
          <p:nvPr/>
        </p:nvCxnSpPr>
        <p:spPr>
          <a:xfrm flipH="1">
            <a:off x="6253541" y="3683800"/>
            <a:ext cx="607500" cy="37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907" name="Google Shape;907;p69"/>
          <p:cNvSpPr txBox="1"/>
          <p:nvPr/>
        </p:nvSpPr>
        <p:spPr>
          <a:xfrm>
            <a:off x="2369035" y="4248425"/>
            <a:ext cx="244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de KPI’s gobernados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8" name="Google Shape;908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6287" y="39123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46142" y="39086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00278" y="3175647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5" name="Google Shape;915;p70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0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0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analítica descriptiva/diagnóstica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18" name="Google Shape;918;p70"/>
          <p:cNvGrpSpPr/>
          <p:nvPr/>
        </p:nvGrpSpPr>
        <p:grpSpPr>
          <a:xfrm>
            <a:off x="1446975" y="1699745"/>
            <a:ext cx="1368884" cy="1371373"/>
            <a:chOff x="1534825" y="1699745"/>
            <a:chExt cx="1368884" cy="1371373"/>
          </a:xfrm>
        </p:grpSpPr>
        <p:pic>
          <p:nvPicPr>
            <p:cNvPr id="919" name="Google Shape;9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34825" y="1699745"/>
              <a:ext cx="1368884" cy="1371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0" name="Google Shape;920;p7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95424" y="2039758"/>
              <a:ext cx="946022" cy="7793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1" name="Google Shape;921;p70"/>
          <p:cNvSpPr txBox="1"/>
          <p:nvPr/>
        </p:nvSpPr>
        <p:spPr>
          <a:xfrm>
            <a:off x="1037563" y="1299700"/>
            <a:ext cx="218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2" name="Google Shape;922;p70"/>
          <p:cNvSpPr/>
          <p:nvPr/>
        </p:nvSpPr>
        <p:spPr>
          <a:xfrm>
            <a:off x="2962900" y="2077475"/>
            <a:ext cx="1044900" cy="32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70"/>
          <p:cNvSpPr txBox="1"/>
          <p:nvPr/>
        </p:nvSpPr>
        <p:spPr>
          <a:xfrm>
            <a:off x="1592375" y="2839565"/>
            <a:ext cx="130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4" name="Google Shape;924;p70"/>
          <p:cNvSpPr txBox="1"/>
          <p:nvPr/>
        </p:nvSpPr>
        <p:spPr>
          <a:xfrm>
            <a:off x="5657738" y="44032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5" name="Google Shape;925;p70"/>
          <p:cNvSpPr txBox="1"/>
          <p:nvPr/>
        </p:nvSpPr>
        <p:spPr>
          <a:xfrm>
            <a:off x="1241628" y="4436091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6" name="Google Shape;926;p70"/>
          <p:cNvSpPr txBox="1"/>
          <p:nvPr/>
        </p:nvSpPr>
        <p:spPr>
          <a:xfrm>
            <a:off x="6935863" y="3691025"/>
            <a:ext cx="8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Analista de Negocio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7" name="Google Shape;927;p70"/>
          <p:cNvSpPr txBox="1"/>
          <p:nvPr/>
        </p:nvSpPr>
        <p:spPr>
          <a:xfrm>
            <a:off x="4312600" y="3676738"/>
            <a:ext cx="136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Visualization Specialist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8" name="Google Shape;928;p70"/>
          <p:cNvSpPr txBox="1"/>
          <p:nvPr/>
        </p:nvSpPr>
        <p:spPr>
          <a:xfrm>
            <a:off x="6576113" y="4186775"/>
            <a:ext cx="14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Gestión del proyecto y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9" name="Google Shape;929;p70"/>
          <p:cNvCxnSpPr>
            <a:stCxn id="930" idx="1"/>
          </p:cNvCxnSpPr>
          <p:nvPr/>
        </p:nvCxnSpPr>
        <p:spPr>
          <a:xfrm>
            <a:off x="1889776" y="4186767"/>
            <a:ext cx="3318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931" name="Google Shape;931;p70"/>
          <p:cNvCxnSpPr/>
          <p:nvPr/>
        </p:nvCxnSpPr>
        <p:spPr>
          <a:xfrm>
            <a:off x="5310025" y="3650225"/>
            <a:ext cx="480000" cy="389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932" name="Google Shape;932;p70"/>
          <p:cNvCxnSpPr>
            <a:endCxn id="933" idx="1"/>
          </p:cNvCxnSpPr>
          <p:nvPr/>
        </p:nvCxnSpPr>
        <p:spPr>
          <a:xfrm>
            <a:off x="5520812" y="3367437"/>
            <a:ext cx="1415100" cy="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934" name="Google Shape;934;p70"/>
          <p:cNvCxnSpPr>
            <a:endCxn id="935" idx="1"/>
          </p:cNvCxnSpPr>
          <p:nvPr/>
        </p:nvCxnSpPr>
        <p:spPr>
          <a:xfrm flipH="1">
            <a:off x="6253541" y="3683800"/>
            <a:ext cx="607500" cy="37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936" name="Google Shape;936;p70"/>
          <p:cNvSpPr txBox="1"/>
          <p:nvPr/>
        </p:nvSpPr>
        <p:spPr>
          <a:xfrm>
            <a:off x="2369035" y="4248425"/>
            <a:ext cx="244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de KPI’s gobernados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7" name="Google Shape;937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6287" y="39123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46142" y="39086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63775" y="3175657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7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00278" y="3175647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7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14800" y="173355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0"/>
          <p:cNvSpPr txBox="1"/>
          <p:nvPr/>
        </p:nvSpPr>
        <p:spPr>
          <a:xfrm>
            <a:off x="3882181" y="1299701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Maqueta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71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71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1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analítica descriptiva/diagnóstica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50" name="Google Shape;950;p71"/>
          <p:cNvGrpSpPr/>
          <p:nvPr/>
        </p:nvGrpSpPr>
        <p:grpSpPr>
          <a:xfrm>
            <a:off x="1446975" y="1699745"/>
            <a:ext cx="1368884" cy="1371373"/>
            <a:chOff x="1534825" y="1699745"/>
            <a:chExt cx="1368884" cy="1371373"/>
          </a:xfrm>
        </p:grpSpPr>
        <p:pic>
          <p:nvPicPr>
            <p:cNvPr id="951" name="Google Shape;951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34825" y="1699745"/>
              <a:ext cx="1368884" cy="1371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2" name="Google Shape;952;p7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95424" y="2039758"/>
              <a:ext cx="946022" cy="7793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3" name="Google Shape;953;p71"/>
          <p:cNvSpPr txBox="1"/>
          <p:nvPr/>
        </p:nvSpPr>
        <p:spPr>
          <a:xfrm>
            <a:off x="1037563" y="1299700"/>
            <a:ext cx="218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4" name="Google Shape;954;p71"/>
          <p:cNvSpPr/>
          <p:nvPr/>
        </p:nvSpPr>
        <p:spPr>
          <a:xfrm>
            <a:off x="2962900" y="2077475"/>
            <a:ext cx="1044900" cy="32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71"/>
          <p:cNvSpPr txBox="1"/>
          <p:nvPr/>
        </p:nvSpPr>
        <p:spPr>
          <a:xfrm>
            <a:off x="1592375" y="2839565"/>
            <a:ext cx="130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6" name="Google Shape;956;p71"/>
          <p:cNvSpPr txBox="1"/>
          <p:nvPr/>
        </p:nvSpPr>
        <p:spPr>
          <a:xfrm>
            <a:off x="6396781" y="1299701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7" name="Google Shape;957;p71"/>
          <p:cNvSpPr txBox="1"/>
          <p:nvPr/>
        </p:nvSpPr>
        <p:spPr>
          <a:xfrm>
            <a:off x="5657738" y="44032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8" name="Google Shape;958;p71"/>
          <p:cNvSpPr txBox="1"/>
          <p:nvPr/>
        </p:nvSpPr>
        <p:spPr>
          <a:xfrm>
            <a:off x="1241628" y="4436091"/>
            <a:ext cx="8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9" name="Google Shape;959;p71"/>
          <p:cNvSpPr txBox="1"/>
          <p:nvPr/>
        </p:nvSpPr>
        <p:spPr>
          <a:xfrm>
            <a:off x="2818775" y="3699872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Engineer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71"/>
          <p:cNvSpPr txBox="1"/>
          <p:nvPr/>
        </p:nvSpPr>
        <p:spPr>
          <a:xfrm>
            <a:off x="6935863" y="3691025"/>
            <a:ext cx="8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Analista de Negocio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1" name="Google Shape;961;p71"/>
          <p:cNvSpPr txBox="1"/>
          <p:nvPr/>
        </p:nvSpPr>
        <p:spPr>
          <a:xfrm>
            <a:off x="4312600" y="3676738"/>
            <a:ext cx="136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Visualization Specialist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2" name="Google Shape;962;p71"/>
          <p:cNvSpPr txBox="1"/>
          <p:nvPr/>
        </p:nvSpPr>
        <p:spPr>
          <a:xfrm>
            <a:off x="3510713" y="3084600"/>
            <a:ext cx="121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Construcción de flujo de datos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71"/>
          <p:cNvSpPr txBox="1"/>
          <p:nvPr/>
        </p:nvSpPr>
        <p:spPr>
          <a:xfrm>
            <a:off x="6576113" y="4186775"/>
            <a:ext cx="14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Gestión del proyecto y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4" name="Google Shape;964;p71"/>
          <p:cNvCxnSpPr>
            <a:stCxn id="965" idx="1"/>
          </p:cNvCxnSpPr>
          <p:nvPr/>
        </p:nvCxnSpPr>
        <p:spPr>
          <a:xfrm>
            <a:off x="1889776" y="4186767"/>
            <a:ext cx="3318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966" name="Google Shape;966;p71"/>
          <p:cNvCxnSpPr/>
          <p:nvPr/>
        </p:nvCxnSpPr>
        <p:spPr>
          <a:xfrm>
            <a:off x="3498613" y="3536150"/>
            <a:ext cx="1096800" cy="24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967" name="Google Shape;967;p71"/>
          <p:cNvCxnSpPr/>
          <p:nvPr/>
        </p:nvCxnSpPr>
        <p:spPr>
          <a:xfrm>
            <a:off x="5310025" y="3650225"/>
            <a:ext cx="480000" cy="389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968" name="Google Shape;968;p71"/>
          <p:cNvCxnSpPr>
            <a:endCxn id="969" idx="1"/>
          </p:cNvCxnSpPr>
          <p:nvPr/>
        </p:nvCxnSpPr>
        <p:spPr>
          <a:xfrm>
            <a:off x="5520812" y="3367437"/>
            <a:ext cx="1415100" cy="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970" name="Google Shape;970;p71"/>
          <p:cNvCxnSpPr>
            <a:endCxn id="971" idx="1"/>
          </p:cNvCxnSpPr>
          <p:nvPr/>
        </p:nvCxnSpPr>
        <p:spPr>
          <a:xfrm flipH="1">
            <a:off x="6253541" y="3683800"/>
            <a:ext cx="607500" cy="37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972" name="Google Shape;972;p71"/>
          <p:cNvSpPr txBox="1"/>
          <p:nvPr/>
        </p:nvSpPr>
        <p:spPr>
          <a:xfrm>
            <a:off x="2369035" y="4248425"/>
            <a:ext cx="244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latin typeface="Montserrat"/>
                <a:ea typeface="Montserrat"/>
                <a:cs typeface="Montserrat"/>
                <a:sym typeface="Montserrat"/>
              </a:rPr>
              <a:t>Definición de KPI’s gobernados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3" name="Google Shape;973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59375" y="1838157"/>
            <a:ext cx="1094550" cy="10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86287" y="3912301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46142" y="39086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68179" y="3176479"/>
            <a:ext cx="601200" cy="6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63775" y="3175657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7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00278" y="3175647"/>
            <a:ext cx="523200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1"/>
          <p:cNvSpPr/>
          <p:nvPr/>
        </p:nvSpPr>
        <p:spPr>
          <a:xfrm>
            <a:off x="5477500" y="2077475"/>
            <a:ext cx="1044900" cy="32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0" name="Google Shape;980;p7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14800" y="173355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71"/>
          <p:cNvSpPr txBox="1"/>
          <p:nvPr/>
        </p:nvSpPr>
        <p:spPr>
          <a:xfrm>
            <a:off x="3882181" y="1299701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Maqueta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72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72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72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descriptiva/diagnóstica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72"/>
          <p:cNvSpPr txBox="1"/>
          <p:nvPr/>
        </p:nvSpPr>
        <p:spPr>
          <a:xfrm>
            <a:off x="380900" y="4797450"/>
            <a:ext cx="68412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Ejemplo: </a:t>
            </a:r>
            <a:r>
              <a:rPr lang="es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https://public.tableau.com/app/profile/roony/viz/Superstore_16390835368830/Dashboard1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0" name="Google Shape;990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9925" y="1501898"/>
            <a:ext cx="5558225" cy="36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166302"/>
            <a:ext cx="2317092" cy="7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73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73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73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descriptiva/diagnóstica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9" name="Google Shape;999;p73"/>
          <p:cNvSpPr txBox="1"/>
          <p:nvPr/>
        </p:nvSpPr>
        <p:spPr>
          <a:xfrm>
            <a:off x="380900" y="4797450"/>
            <a:ext cx="68412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Ejemplo: </a:t>
            </a:r>
            <a:r>
              <a:rPr lang="es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https://public.tableau.com/app/profile/roony/viz/Superstore_16390835368830/Dashboard1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73"/>
          <p:cNvSpPr txBox="1"/>
          <p:nvPr/>
        </p:nvSpPr>
        <p:spPr>
          <a:xfrm>
            <a:off x="1616907" y="19553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Descriptiva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1" name="Google Shape;1001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9925" y="1501898"/>
            <a:ext cx="5558225" cy="36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166302"/>
            <a:ext cx="2317092" cy="7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4400" y="2387848"/>
            <a:ext cx="3190344" cy="17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74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74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74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descriptiva/diagnóstica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1" name="Google Shape;1011;p74"/>
          <p:cNvSpPr txBox="1"/>
          <p:nvPr/>
        </p:nvSpPr>
        <p:spPr>
          <a:xfrm>
            <a:off x="380900" y="4797450"/>
            <a:ext cx="68412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Ejemplo: </a:t>
            </a:r>
            <a:r>
              <a:rPr lang="es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https://public.tableau.com/app/profile/roony/viz/Superstore_16390835368830/Dashboard1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2" name="Google Shape;1012;p74"/>
          <p:cNvSpPr txBox="1"/>
          <p:nvPr/>
        </p:nvSpPr>
        <p:spPr>
          <a:xfrm>
            <a:off x="1616907" y="19553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Descriptiva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3" name="Google Shape;1013;p74"/>
          <p:cNvSpPr txBox="1"/>
          <p:nvPr/>
        </p:nvSpPr>
        <p:spPr>
          <a:xfrm>
            <a:off x="5350707" y="19553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Diagnóstica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4" name="Google Shape;1014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9925" y="1501898"/>
            <a:ext cx="5558225" cy="36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166302"/>
            <a:ext cx="2317092" cy="7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4400" y="2387848"/>
            <a:ext cx="3190344" cy="17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57144" y="2355506"/>
            <a:ext cx="4649188" cy="1976117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74"/>
          <p:cNvSpPr/>
          <p:nvPr/>
        </p:nvSpPr>
        <p:spPr>
          <a:xfrm>
            <a:off x="4719500" y="2936398"/>
            <a:ext cx="4178400" cy="115500"/>
          </a:xfrm>
          <a:prstGeom prst="rect">
            <a:avLst/>
          </a:prstGeom>
          <a:noFill/>
          <a:ln cap="flat" cmpd="sng" w="19050">
            <a:solidFill>
              <a:srgbClr val="FF3B3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75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75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75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buenas prácticas de visualización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6" name="Google Shape;1026;p75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031;p76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76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76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buenas prácticas de visualización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4" name="Google Shape;1034;p76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5" name="Google Shape;1035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Google Shape;1042;p77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77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77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buenas prácticas de visualización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5" name="Google Shape;1045;p77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6" name="Google Shape;1046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7"/>
          <p:cNvPicPr preferRelativeResize="0"/>
          <p:nvPr/>
        </p:nvPicPr>
        <p:blipFill rotWithShape="1">
          <a:blip r:embed="rId6">
            <a:alphaModFix/>
          </a:blip>
          <a:srcRect b="0" l="19302" r="26823" t="0"/>
          <a:stretch/>
        </p:blipFill>
        <p:spPr>
          <a:xfrm>
            <a:off x="4695505" y="1306850"/>
            <a:ext cx="663095" cy="8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77"/>
          <p:cNvSpPr txBox="1"/>
          <p:nvPr/>
        </p:nvSpPr>
        <p:spPr>
          <a:xfrm>
            <a:off x="42675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Google Shape;1055;p78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78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78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buenas prácticas de visualización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8" name="Google Shape;105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3370" y="1058725"/>
            <a:ext cx="1610605" cy="5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1983" y="1668325"/>
            <a:ext cx="1336467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0325" y="1432950"/>
            <a:ext cx="808125" cy="8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78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2" name="Google Shape;1062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78"/>
          <p:cNvPicPr preferRelativeResize="0"/>
          <p:nvPr/>
        </p:nvPicPr>
        <p:blipFill rotWithShape="1">
          <a:blip r:embed="rId9">
            <a:alphaModFix/>
          </a:blip>
          <a:srcRect b="0" l="19302" r="26823" t="0"/>
          <a:stretch/>
        </p:blipFill>
        <p:spPr>
          <a:xfrm>
            <a:off x="4695505" y="1306850"/>
            <a:ext cx="663095" cy="8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7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78"/>
          <p:cNvSpPr txBox="1"/>
          <p:nvPr/>
        </p:nvSpPr>
        <p:spPr>
          <a:xfrm>
            <a:off x="42675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7" name="Google Shape;1067;p78"/>
          <p:cNvSpPr txBox="1"/>
          <p:nvPr/>
        </p:nvSpPr>
        <p:spPr>
          <a:xfrm>
            <a:off x="52581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79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79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79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buenas prácticas de visualización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5" name="Google Shape;1075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3370" y="1058725"/>
            <a:ext cx="1610605" cy="5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1983" y="1668325"/>
            <a:ext cx="1336467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0325" y="1432950"/>
            <a:ext cx="808125" cy="8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79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79"/>
          <p:cNvSpPr txBox="1"/>
          <p:nvPr/>
        </p:nvSpPr>
        <p:spPr>
          <a:xfrm>
            <a:off x="617811" y="2630675"/>
            <a:ext cx="5440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Buenas prácticas:</a:t>
            </a:r>
            <a:endParaRPr b="1"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AutoNum type="arabicPeriod"/>
            </a:pPr>
            <a:r>
              <a:rPr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Conoce a tu audiencia.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AutoNum type="arabicPeriod"/>
            </a:pPr>
            <a:r>
              <a:rPr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Conoce tus datos.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AutoNum type="arabicPeriod"/>
            </a:pPr>
            <a:r>
              <a:rPr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Usa colores cuando tenga sentido.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AutoNum type="arabicPeriod"/>
            </a:pPr>
            <a:r>
              <a:rPr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Menos es más, y simple es usualmente mejor.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"/>
              <a:buAutoNum type="arabicPeriod"/>
            </a:pPr>
            <a:r>
              <a:rPr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Consigue feedback temprano y seguido.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0" name="Google Shape;1080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79"/>
          <p:cNvPicPr preferRelativeResize="0"/>
          <p:nvPr/>
        </p:nvPicPr>
        <p:blipFill rotWithShape="1">
          <a:blip r:embed="rId9">
            <a:alphaModFix/>
          </a:blip>
          <a:srcRect b="0" l="19302" r="26823" t="0"/>
          <a:stretch/>
        </p:blipFill>
        <p:spPr>
          <a:xfrm>
            <a:off x="4695505" y="1306850"/>
            <a:ext cx="663095" cy="8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7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79"/>
          <p:cNvSpPr txBox="1"/>
          <p:nvPr/>
        </p:nvSpPr>
        <p:spPr>
          <a:xfrm>
            <a:off x="42675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5" name="Google Shape;1085;p79"/>
          <p:cNvSpPr txBox="1"/>
          <p:nvPr/>
        </p:nvSpPr>
        <p:spPr>
          <a:xfrm>
            <a:off x="52581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Google Shape;1090;p80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80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80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3" name="Google Shape;1093;p80"/>
          <p:cNvSpPr txBox="1"/>
          <p:nvPr/>
        </p:nvSpPr>
        <p:spPr>
          <a:xfrm>
            <a:off x="2549075" y="44656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80"/>
          <p:cNvSpPr txBox="1"/>
          <p:nvPr/>
        </p:nvSpPr>
        <p:spPr>
          <a:xfrm>
            <a:off x="1437790" y="3987368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95" name="Google Shape;1095;p80"/>
          <p:cNvGrpSpPr/>
          <p:nvPr/>
        </p:nvGrpSpPr>
        <p:grpSpPr>
          <a:xfrm>
            <a:off x="1681551" y="1756655"/>
            <a:ext cx="1417549" cy="1420126"/>
            <a:chOff x="1625840" y="1757966"/>
            <a:chExt cx="1532319" cy="1535105"/>
          </a:xfrm>
        </p:grpSpPr>
        <p:pic>
          <p:nvPicPr>
            <p:cNvPr id="1096" name="Google Shape;1096;p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25840" y="1757966"/>
              <a:ext cx="1532319" cy="1535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7" name="Google Shape;1097;p8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805614" y="2138575"/>
              <a:ext cx="1058972" cy="8723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8" name="Google Shape;1098;p80"/>
          <p:cNvSpPr txBox="1"/>
          <p:nvPr/>
        </p:nvSpPr>
        <p:spPr>
          <a:xfrm>
            <a:off x="1299975" y="1311625"/>
            <a:ext cx="218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9" name="Google Shape;1099;p80"/>
          <p:cNvSpPr txBox="1"/>
          <p:nvPr/>
        </p:nvSpPr>
        <p:spPr>
          <a:xfrm>
            <a:off x="1592750" y="2906675"/>
            <a:ext cx="13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0" name="Google Shape;1100;p80"/>
          <p:cNvCxnSpPr/>
          <p:nvPr/>
        </p:nvCxnSpPr>
        <p:spPr>
          <a:xfrm>
            <a:off x="2036938" y="3861688"/>
            <a:ext cx="588300" cy="213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1101" name="Google Shape;1101;p80"/>
          <p:cNvSpPr txBox="1"/>
          <p:nvPr/>
        </p:nvSpPr>
        <p:spPr>
          <a:xfrm>
            <a:off x="767150" y="4419825"/>
            <a:ext cx="16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b="1" sz="900">
              <a:solidFill>
                <a:srgbClr val="0097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2" name="Google Shape;1102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6398" y="3462813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4299" y="398487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8" name="Google Shape;1108;p81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1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1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11" name="Google Shape;1111;p81"/>
          <p:cNvCxnSpPr/>
          <p:nvPr/>
        </p:nvCxnSpPr>
        <p:spPr>
          <a:xfrm flipH="1" rot="10800000">
            <a:off x="4726424" y="1740216"/>
            <a:ext cx="71400" cy="1800"/>
          </a:xfrm>
          <a:prstGeom prst="straightConnector1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2" name="Google Shape;1112;p81"/>
          <p:cNvSpPr/>
          <p:nvPr/>
        </p:nvSpPr>
        <p:spPr>
          <a:xfrm>
            <a:off x="3339796" y="2329169"/>
            <a:ext cx="422400" cy="30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3" name="Google Shape;1113;p81"/>
          <p:cNvGrpSpPr/>
          <p:nvPr/>
        </p:nvGrpSpPr>
        <p:grpSpPr>
          <a:xfrm>
            <a:off x="4002878" y="1745888"/>
            <a:ext cx="1539459" cy="1528635"/>
            <a:chOff x="3911647" y="1740112"/>
            <a:chExt cx="1664100" cy="1652400"/>
          </a:xfrm>
        </p:grpSpPr>
        <p:sp>
          <p:nvSpPr>
            <p:cNvPr id="1114" name="Google Shape;1114;p81"/>
            <p:cNvSpPr/>
            <p:nvPr/>
          </p:nvSpPr>
          <p:spPr>
            <a:xfrm>
              <a:off x="3911647" y="1740112"/>
              <a:ext cx="1664100" cy="1652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5" name="Google Shape;1115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81557" y="1864356"/>
              <a:ext cx="1524338" cy="14158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16" name="Google Shape;1116;p81"/>
            <p:cNvCxnSpPr/>
            <p:nvPr/>
          </p:nvCxnSpPr>
          <p:spPr>
            <a:xfrm rot="10800000">
              <a:off x="4636223" y="3392427"/>
              <a:ext cx="223800" cy="0"/>
            </a:xfrm>
            <a:prstGeom prst="straightConnector1">
              <a:avLst/>
            </a:prstGeom>
            <a:noFill/>
            <a:ln cap="flat" cmpd="sng" w="28575">
              <a:solidFill>
                <a:srgbClr val="CFE2F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17" name="Google Shape;1117;p81"/>
          <p:cNvSpPr txBox="1"/>
          <p:nvPr/>
        </p:nvSpPr>
        <p:spPr>
          <a:xfrm>
            <a:off x="3826707" y="1314883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Modelo Analítico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8" name="Google Shape;1118;p81"/>
          <p:cNvSpPr txBox="1"/>
          <p:nvPr/>
        </p:nvSpPr>
        <p:spPr>
          <a:xfrm>
            <a:off x="2549075" y="44656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9" name="Google Shape;1119;p81"/>
          <p:cNvSpPr txBox="1"/>
          <p:nvPr/>
        </p:nvSpPr>
        <p:spPr>
          <a:xfrm>
            <a:off x="1437790" y="3987368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20" name="Google Shape;1120;p81"/>
          <p:cNvGrpSpPr/>
          <p:nvPr/>
        </p:nvGrpSpPr>
        <p:grpSpPr>
          <a:xfrm>
            <a:off x="1681551" y="1756655"/>
            <a:ext cx="1417549" cy="1420126"/>
            <a:chOff x="1625840" y="1757966"/>
            <a:chExt cx="1532319" cy="1535105"/>
          </a:xfrm>
        </p:grpSpPr>
        <p:pic>
          <p:nvPicPr>
            <p:cNvPr id="1121" name="Google Shape;1121;p8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25840" y="1757966"/>
              <a:ext cx="1532319" cy="1535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2" name="Google Shape;1122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805614" y="2138575"/>
              <a:ext cx="1058972" cy="8723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3" name="Google Shape;1123;p81"/>
          <p:cNvSpPr txBox="1"/>
          <p:nvPr/>
        </p:nvSpPr>
        <p:spPr>
          <a:xfrm>
            <a:off x="1299975" y="1311625"/>
            <a:ext cx="218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4" name="Google Shape;1124;p81"/>
          <p:cNvSpPr txBox="1"/>
          <p:nvPr/>
        </p:nvSpPr>
        <p:spPr>
          <a:xfrm>
            <a:off x="1592750" y="2906675"/>
            <a:ext cx="13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5" name="Google Shape;1125;p81"/>
          <p:cNvSpPr txBox="1"/>
          <p:nvPr/>
        </p:nvSpPr>
        <p:spPr>
          <a:xfrm>
            <a:off x="3764838" y="4069100"/>
            <a:ext cx="93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 Scientist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6" name="Google Shape;1126;p81"/>
          <p:cNvCxnSpPr/>
          <p:nvPr/>
        </p:nvCxnSpPr>
        <p:spPr>
          <a:xfrm>
            <a:off x="2036938" y="3861688"/>
            <a:ext cx="588300" cy="213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127" name="Google Shape;1127;p81"/>
          <p:cNvCxnSpPr/>
          <p:nvPr/>
        </p:nvCxnSpPr>
        <p:spPr>
          <a:xfrm>
            <a:off x="2033025" y="3600400"/>
            <a:ext cx="1718400" cy="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128" name="Google Shape;1128;p81"/>
          <p:cNvCxnSpPr/>
          <p:nvPr/>
        </p:nvCxnSpPr>
        <p:spPr>
          <a:xfrm flipH="1" rot="10800000">
            <a:off x="3171933" y="3887075"/>
            <a:ext cx="589800" cy="213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1129" name="Google Shape;1129;p81"/>
          <p:cNvSpPr txBox="1"/>
          <p:nvPr/>
        </p:nvSpPr>
        <p:spPr>
          <a:xfrm>
            <a:off x="767150" y="4419825"/>
            <a:ext cx="16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b="1" sz="900">
              <a:solidFill>
                <a:srgbClr val="0097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0" name="Google Shape;1130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6398" y="3462813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84299" y="39848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94425" y="3401050"/>
            <a:ext cx="640275" cy="6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82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2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2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Proyecto de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40" name="Google Shape;1140;p82"/>
          <p:cNvCxnSpPr/>
          <p:nvPr/>
        </p:nvCxnSpPr>
        <p:spPr>
          <a:xfrm flipH="1" rot="10800000">
            <a:off x="4726424" y="1740216"/>
            <a:ext cx="71400" cy="1800"/>
          </a:xfrm>
          <a:prstGeom prst="straightConnector1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1" name="Google Shape;1141;p82"/>
          <p:cNvSpPr/>
          <p:nvPr/>
        </p:nvSpPr>
        <p:spPr>
          <a:xfrm>
            <a:off x="3339796" y="2329169"/>
            <a:ext cx="422400" cy="30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82"/>
          <p:cNvSpPr/>
          <p:nvPr/>
        </p:nvSpPr>
        <p:spPr>
          <a:xfrm>
            <a:off x="5819809" y="2334908"/>
            <a:ext cx="422400" cy="30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3" name="Google Shape;1143;p82"/>
          <p:cNvGrpSpPr/>
          <p:nvPr/>
        </p:nvGrpSpPr>
        <p:grpSpPr>
          <a:xfrm>
            <a:off x="4002878" y="1745888"/>
            <a:ext cx="1539459" cy="1528635"/>
            <a:chOff x="3911647" y="1740112"/>
            <a:chExt cx="1664100" cy="1652400"/>
          </a:xfrm>
        </p:grpSpPr>
        <p:sp>
          <p:nvSpPr>
            <p:cNvPr id="1144" name="Google Shape;1144;p82"/>
            <p:cNvSpPr/>
            <p:nvPr/>
          </p:nvSpPr>
          <p:spPr>
            <a:xfrm>
              <a:off x="3911647" y="1740112"/>
              <a:ext cx="1664100" cy="1652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45" name="Google Shape;1145;p8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81557" y="1864356"/>
              <a:ext cx="1524338" cy="14158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46" name="Google Shape;1146;p82"/>
            <p:cNvCxnSpPr/>
            <p:nvPr/>
          </p:nvCxnSpPr>
          <p:spPr>
            <a:xfrm rot="10800000">
              <a:off x="4636223" y="3392427"/>
              <a:ext cx="223800" cy="0"/>
            </a:xfrm>
            <a:prstGeom prst="straightConnector1">
              <a:avLst/>
            </a:prstGeom>
            <a:noFill/>
            <a:ln cap="flat" cmpd="sng" w="28575">
              <a:solidFill>
                <a:srgbClr val="CFE2F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47" name="Google Shape;1147;p82"/>
          <p:cNvSpPr txBox="1"/>
          <p:nvPr/>
        </p:nvSpPr>
        <p:spPr>
          <a:xfrm>
            <a:off x="3826707" y="1314883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Modelo Analítico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8" name="Google Shape;1148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7806" y="1799723"/>
            <a:ext cx="1334292" cy="13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82"/>
          <p:cNvSpPr txBox="1"/>
          <p:nvPr/>
        </p:nvSpPr>
        <p:spPr>
          <a:xfrm>
            <a:off x="6397252" y="1314871"/>
            <a:ext cx="13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0" name="Google Shape;1150;p82"/>
          <p:cNvSpPr txBox="1"/>
          <p:nvPr/>
        </p:nvSpPr>
        <p:spPr>
          <a:xfrm>
            <a:off x="2549075" y="44656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Translator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1" name="Google Shape;1151;p82"/>
          <p:cNvSpPr txBox="1"/>
          <p:nvPr/>
        </p:nvSpPr>
        <p:spPr>
          <a:xfrm>
            <a:off x="1437790" y="3987368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Power User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82"/>
          <p:cNvSpPr txBox="1"/>
          <p:nvPr/>
        </p:nvSpPr>
        <p:spPr>
          <a:xfrm>
            <a:off x="5933113" y="3989125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ML Engineer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53" name="Google Shape;1153;p82"/>
          <p:cNvGrpSpPr/>
          <p:nvPr/>
        </p:nvGrpSpPr>
        <p:grpSpPr>
          <a:xfrm>
            <a:off x="1681551" y="1756655"/>
            <a:ext cx="1417549" cy="1420126"/>
            <a:chOff x="1625840" y="1757966"/>
            <a:chExt cx="1532319" cy="1535105"/>
          </a:xfrm>
        </p:grpSpPr>
        <p:pic>
          <p:nvPicPr>
            <p:cNvPr id="1154" name="Google Shape;1154;p8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625840" y="1757966"/>
              <a:ext cx="1532319" cy="1535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5" name="Google Shape;1155;p8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805614" y="2138575"/>
              <a:ext cx="1058972" cy="8723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6" name="Google Shape;1156;p82"/>
          <p:cNvSpPr txBox="1"/>
          <p:nvPr/>
        </p:nvSpPr>
        <p:spPr>
          <a:xfrm>
            <a:off x="1299975" y="1311625"/>
            <a:ext cx="218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7" name="Google Shape;1157;p82"/>
          <p:cNvSpPr txBox="1"/>
          <p:nvPr/>
        </p:nvSpPr>
        <p:spPr>
          <a:xfrm>
            <a:off x="1592750" y="2906675"/>
            <a:ext cx="13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8" name="Google Shape;1158;p82"/>
          <p:cNvSpPr txBox="1"/>
          <p:nvPr/>
        </p:nvSpPr>
        <p:spPr>
          <a:xfrm>
            <a:off x="3764838" y="4069100"/>
            <a:ext cx="93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 Scientist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9" name="Google Shape;1159;p82"/>
          <p:cNvSpPr txBox="1"/>
          <p:nvPr/>
        </p:nvSpPr>
        <p:spPr>
          <a:xfrm>
            <a:off x="5018988" y="4062950"/>
            <a:ext cx="73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b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Engineer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60" name="Google Shape;1160;p82"/>
          <p:cNvCxnSpPr/>
          <p:nvPr/>
        </p:nvCxnSpPr>
        <p:spPr>
          <a:xfrm>
            <a:off x="2036938" y="3861688"/>
            <a:ext cx="588300" cy="213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161" name="Google Shape;1161;p82"/>
          <p:cNvCxnSpPr/>
          <p:nvPr/>
        </p:nvCxnSpPr>
        <p:spPr>
          <a:xfrm>
            <a:off x="2033025" y="3600400"/>
            <a:ext cx="1718400" cy="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162" name="Google Shape;1162;p82"/>
          <p:cNvCxnSpPr/>
          <p:nvPr/>
        </p:nvCxnSpPr>
        <p:spPr>
          <a:xfrm flipH="1" rot="10800000">
            <a:off x="3171933" y="3887075"/>
            <a:ext cx="589800" cy="213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stealth"/>
            <a:tailEnd len="med" w="med" type="stealth"/>
          </a:ln>
        </p:spPr>
      </p:cxnSp>
      <p:sp>
        <p:nvSpPr>
          <p:cNvPr id="1163" name="Google Shape;1163;p82"/>
          <p:cNvSpPr txBox="1"/>
          <p:nvPr/>
        </p:nvSpPr>
        <p:spPr>
          <a:xfrm>
            <a:off x="767150" y="4419825"/>
            <a:ext cx="16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Definición y gestión del proyecto</a:t>
            </a:r>
            <a:endParaRPr sz="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r>
              <a:rPr lang="es" sz="9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del cambio</a:t>
            </a:r>
            <a:endParaRPr b="1" sz="900">
              <a:solidFill>
                <a:srgbClr val="0097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4" name="Google Shape;1164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46398" y="3462813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84299" y="398487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8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32625" y="3435925"/>
            <a:ext cx="601200" cy="6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8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08275" y="3422375"/>
            <a:ext cx="588300" cy="58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8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94425" y="3401050"/>
            <a:ext cx="640275" cy="6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" name="Google Shape;1173;p83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83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83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6" name="Google Shape;1176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5725" y="181925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83"/>
          <p:cNvSpPr txBox="1"/>
          <p:nvPr/>
        </p:nvSpPr>
        <p:spPr>
          <a:xfrm>
            <a:off x="4743056" y="1197157"/>
            <a:ext cx="237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Farmacia Independiente</a:t>
            </a:r>
            <a:endParaRPr b="1" i="0" sz="1800" u="none" cap="none" strike="noStrik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8" name="Google Shape;1178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7830" y="1998946"/>
            <a:ext cx="906878" cy="90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83"/>
          <p:cNvSpPr txBox="1"/>
          <p:nvPr/>
        </p:nvSpPr>
        <p:spPr>
          <a:xfrm>
            <a:off x="1316799" y="1349550"/>
            <a:ext cx="2678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rgbClr val="1F3864"/>
                </a:solidFill>
              </a:rPr>
              <a:t>Distribuidor</a:t>
            </a:r>
            <a:endParaRPr b="1" i="0" sz="1800" u="none" cap="none" strike="noStrik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83"/>
          <p:cNvSpPr/>
          <p:nvPr/>
        </p:nvSpPr>
        <p:spPr>
          <a:xfrm>
            <a:off x="3873575" y="2412700"/>
            <a:ext cx="1347000" cy="22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5" name="Google Shape;1185;p84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84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84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8" name="Google Shape;1188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5725" y="181925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84"/>
          <p:cNvSpPr txBox="1"/>
          <p:nvPr/>
        </p:nvSpPr>
        <p:spPr>
          <a:xfrm>
            <a:off x="4743056" y="1197157"/>
            <a:ext cx="237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Farmacia Independiente</a:t>
            </a:r>
            <a:endParaRPr b="1" i="0" sz="1800" u="none" cap="none" strike="noStrik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0" name="Google Shape;1190;p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7830" y="1998946"/>
            <a:ext cx="906878" cy="90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4"/>
          <p:cNvSpPr txBox="1"/>
          <p:nvPr/>
        </p:nvSpPr>
        <p:spPr>
          <a:xfrm>
            <a:off x="1316799" y="1349550"/>
            <a:ext cx="2678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rgbClr val="1F3864"/>
                </a:solidFill>
              </a:rPr>
              <a:t>Distribuidor</a:t>
            </a:r>
            <a:endParaRPr b="1" i="0" sz="1800" u="none" cap="none" strike="noStrik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84"/>
          <p:cNvSpPr/>
          <p:nvPr/>
        </p:nvSpPr>
        <p:spPr>
          <a:xfrm>
            <a:off x="3873575" y="2412700"/>
            <a:ext cx="1347000" cy="22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84"/>
          <p:cNvSpPr txBox="1"/>
          <p:nvPr/>
        </p:nvSpPr>
        <p:spPr>
          <a:xfrm>
            <a:off x="5057484" y="3144475"/>
            <a:ext cx="384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Procesos manuales y no sistematizados</a:t>
            </a:r>
            <a:endParaRPr b="0" i="0" sz="1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4" name="Google Shape;1194;p8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8816" y="3106186"/>
            <a:ext cx="331506" cy="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8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653" y="3563480"/>
            <a:ext cx="341745" cy="342093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84"/>
          <p:cNvSpPr txBox="1"/>
          <p:nvPr/>
        </p:nvSpPr>
        <p:spPr>
          <a:xfrm>
            <a:off x="5085398" y="3551088"/>
            <a:ext cx="210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Flujo de caja limitado</a:t>
            </a:r>
            <a:endParaRPr b="0" i="0" sz="1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1" name="Google Shape;1201;p85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85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85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4" name="Google Shape;120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5725" y="181925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85"/>
          <p:cNvSpPr txBox="1"/>
          <p:nvPr/>
        </p:nvSpPr>
        <p:spPr>
          <a:xfrm>
            <a:off x="4743056" y="1197157"/>
            <a:ext cx="237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Farmacia Independiente</a:t>
            </a:r>
            <a:endParaRPr b="1" i="0" sz="1800" u="none" cap="none" strike="noStrik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6" name="Google Shape;1206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7830" y="1998946"/>
            <a:ext cx="906878" cy="90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5"/>
          <p:cNvSpPr txBox="1"/>
          <p:nvPr/>
        </p:nvSpPr>
        <p:spPr>
          <a:xfrm>
            <a:off x="1316799" y="1349550"/>
            <a:ext cx="2678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rgbClr val="1F3864"/>
                </a:solidFill>
              </a:rPr>
              <a:t>Distribuidor</a:t>
            </a:r>
            <a:endParaRPr b="1" i="0" sz="1800" u="none" cap="none" strike="noStrik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85"/>
          <p:cNvSpPr/>
          <p:nvPr/>
        </p:nvSpPr>
        <p:spPr>
          <a:xfrm>
            <a:off x="3873575" y="2412700"/>
            <a:ext cx="1347000" cy="22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85"/>
          <p:cNvSpPr txBox="1"/>
          <p:nvPr/>
        </p:nvSpPr>
        <p:spPr>
          <a:xfrm>
            <a:off x="5057484" y="3144475"/>
            <a:ext cx="384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Procesos manuales y no sistematizados</a:t>
            </a:r>
            <a:endParaRPr b="0" i="0" sz="1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0" name="Google Shape;1210;p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8816" y="3106186"/>
            <a:ext cx="331506" cy="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8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653" y="3563480"/>
            <a:ext cx="341745" cy="342093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85"/>
          <p:cNvSpPr txBox="1"/>
          <p:nvPr/>
        </p:nvSpPr>
        <p:spPr>
          <a:xfrm>
            <a:off x="5085398" y="3551088"/>
            <a:ext cx="210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Flujo de caja limitado</a:t>
            </a:r>
            <a:endParaRPr b="0" i="0" sz="1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85"/>
          <p:cNvSpPr txBox="1"/>
          <p:nvPr/>
        </p:nvSpPr>
        <p:spPr>
          <a:xfrm>
            <a:off x="1308451" y="3196575"/>
            <a:ext cx="265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Visita Presencial estándar del mercado</a:t>
            </a:r>
            <a:endParaRPr b="0" i="0" sz="1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85"/>
          <p:cNvSpPr txBox="1"/>
          <p:nvPr/>
        </p:nvSpPr>
        <p:spPr>
          <a:xfrm>
            <a:off x="1308451" y="3566375"/>
            <a:ext cx="305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Vendedor realiza gestión de cobranza/Ventas</a:t>
            </a:r>
            <a:endParaRPr b="0" i="0" sz="1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85"/>
          <p:cNvSpPr txBox="1"/>
          <p:nvPr/>
        </p:nvSpPr>
        <p:spPr>
          <a:xfrm>
            <a:off x="1308454" y="4378828"/>
            <a:ext cx="305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Poco tiempo en el PDV (40min)</a:t>
            </a:r>
            <a:endParaRPr b="0" i="0" sz="1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85"/>
          <p:cNvSpPr txBox="1"/>
          <p:nvPr/>
        </p:nvSpPr>
        <p:spPr>
          <a:xfrm>
            <a:off x="1308454" y="3942550"/>
            <a:ext cx="400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Manejan portafolio de más de 5,000 sku´s</a:t>
            </a:r>
            <a:endParaRPr b="0" i="0" sz="1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7" name="Google Shape;1217;p8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3333" y="4332237"/>
            <a:ext cx="378398" cy="36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objeto, firmar, reloj, foto&#10;&#10;Descripción generada automáticamente" id="1218" name="Google Shape;1218;p8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4404" y="3908669"/>
            <a:ext cx="386376" cy="372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8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816" y="3490361"/>
            <a:ext cx="490891" cy="49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uarios" id="1220" name="Google Shape;1220;p8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6237" y="3158695"/>
            <a:ext cx="419370" cy="428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86"/>
          <p:cNvPicPr preferRelativeResize="0"/>
          <p:nvPr/>
        </p:nvPicPr>
        <p:blipFill rotWithShape="1">
          <a:blip r:embed="rId3">
            <a:alphaModFix/>
          </a:blip>
          <a:srcRect b="9596" l="8717" r="0" t="-390"/>
          <a:stretch/>
        </p:blipFill>
        <p:spPr>
          <a:xfrm>
            <a:off x="-857" y="-17360"/>
            <a:ext cx="9219970" cy="5158604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86"/>
          <p:cNvSpPr/>
          <p:nvPr/>
        </p:nvSpPr>
        <p:spPr>
          <a:xfrm>
            <a:off x="364039" y="4832987"/>
            <a:ext cx="8517600" cy="254400"/>
          </a:xfrm>
          <a:prstGeom prst="chevron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86"/>
          <p:cNvSpPr txBox="1"/>
          <p:nvPr/>
        </p:nvSpPr>
        <p:spPr>
          <a:xfrm>
            <a:off x="3779329" y="4861157"/>
            <a:ext cx="1316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 20 – Feb 21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8" name="Google Shape;1228;p86"/>
          <p:cNvCxnSpPr/>
          <p:nvPr/>
        </p:nvCxnSpPr>
        <p:spPr>
          <a:xfrm>
            <a:off x="364039" y="412546"/>
            <a:ext cx="0" cy="279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9" name="Google Shape;1229;p86"/>
          <p:cNvCxnSpPr/>
          <p:nvPr/>
        </p:nvCxnSpPr>
        <p:spPr>
          <a:xfrm>
            <a:off x="449922" y="412546"/>
            <a:ext cx="0" cy="279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0" name="Google Shape;1230;p86"/>
          <p:cNvSpPr txBox="1"/>
          <p:nvPr/>
        </p:nvSpPr>
        <p:spPr>
          <a:xfrm>
            <a:off x="560373" y="340894"/>
            <a:ext cx="7795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25" lIns="82275" spcFirstLastPara="1" rIns="82275" wrap="square" tIns="41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Road Map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86"/>
          <p:cNvSpPr/>
          <p:nvPr/>
        </p:nvSpPr>
        <p:spPr>
          <a:xfrm>
            <a:off x="581996" y="691846"/>
            <a:ext cx="7958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 realizó un trabajo colaborativo con el Equipo Comercial de </a:t>
            </a:r>
            <a:r>
              <a:rPr lang="es" sz="1200">
                <a:solidFill>
                  <a:schemeClr val="dk2"/>
                </a:solidFill>
              </a:rPr>
              <a:t>Empresa </a:t>
            </a:r>
            <a:r>
              <a:rPr b="0" i="0" lang="e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el Data Office de Intercorp 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2" name="Google Shape;1232;p86"/>
          <p:cNvCxnSpPr/>
          <p:nvPr/>
        </p:nvCxnSpPr>
        <p:spPr>
          <a:xfrm rot="10800000">
            <a:off x="3751684" y="3112056"/>
            <a:ext cx="0" cy="29760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1233" name="Google Shape;1233;p86"/>
          <p:cNvSpPr txBox="1"/>
          <p:nvPr/>
        </p:nvSpPr>
        <p:spPr>
          <a:xfrm>
            <a:off x="4870952" y="2958432"/>
            <a:ext cx="753300" cy="1770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Dic. 20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86"/>
          <p:cNvSpPr txBox="1"/>
          <p:nvPr/>
        </p:nvSpPr>
        <p:spPr>
          <a:xfrm>
            <a:off x="5622918" y="2958432"/>
            <a:ext cx="828600" cy="177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Ene.21 – Feb.21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86"/>
          <p:cNvSpPr txBox="1"/>
          <p:nvPr/>
        </p:nvSpPr>
        <p:spPr>
          <a:xfrm>
            <a:off x="6452780" y="2958432"/>
            <a:ext cx="828600" cy="1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Mar.21 – Abr.21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86"/>
          <p:cNvSpPr txBox="1"/>
          <p:nvPr/>
        </p:nvSpPr>
        <p:spPr>
          <a:xfrm>
            <a:off x="5615786" y="2143996"/>
            <a:ext cx="1172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" sz="7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TI 🡪 Automatización de carga</a:t>
            </a:r>
            <a:endParaRPr b="0" i="0" sz="7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86"/>
          <p:cNvSpPr txBox="1"/>
          <p:nvPr/>
        </p:nvSpPr>
        <p:spPr>
          <a:xfrm>
            <a:off x="5598263" y="1802700"/>
            <a:ext cx="1258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" sz="7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Hipótesis elegida: “B”</a:t>
            </a:r>
            <a:endParaRPr b="0" i="0" sz="7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8" name="Google Shape;1238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7885" y="3475369"/>
            <a:ext cx="273801" cy="273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86"/>
          <p:cNvSpPr txBox="1"/>
          <p:nvPr/>
        </p:nvSpPr>
        <p:spPr>
          <a:xfrm>
            <a:off x="5601169" y="2370664"/>
            <a:ext cx="126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" sz="7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Quimiventas 🡪Motivo de no compra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0" name="Google Shape;1240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1885" y="3836356"/>
            <a:ext cx="250411" cy="2504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1" name="Google Shape;1241;p86"/>
          <p:cNvCxnSpPr/>
          <p:nvPr/>
        </p:nvCxnSpPr>
        <p:spPr>
          <a:xfrm>
            <a:off x="1407998" y="2658471"/>
            <a:ext cx="0" cy="29700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med" w="med" type="oval"/>
            <a:tailEnd len="sm" w="sm" type="none"/>
          </a:ln>
        </p:spPr>
      </p:cxnSp>
      <p:cxnSp>
        <p:nvCxnSpPr>
          <p:cNvPr id="1242" name="Google Shape;1242;p86"/>
          <p:cNvCxnSpPr/>
          <p:nvPr/>
        </p:nvCxnSpPr>
        <p:spPr>
          <a:xfrm rot="10800000">
            <a:off x="2219906" y="3131556"/>
            <a:ext cx="0" cy="278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1243" name="Google Shape;1243;p86"/>
          <p:cNvSpPr txBox="1"/>
          <p:nvPr/>
        </p:nvSpPr>
        <p:spPr>
          <a:xfrm>
            <a:off x="3364282" y="2958432"/>
            <a:ext cx="753300" cy="177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Oct. 20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86"/>
          <p:cNvSpPr txBox="1"/>
          <p:nvPr/>
        </p:nvSpPr>
        <p:spPr>
          <a:xfrm>
            <a:off x="4117830" y="2958432"/>
            <a:ext cx="753300" cy="1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Nov. 20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86"/>
          <p:cNvSpPr txBox="1"/>
          <p:nvPr/>
        </p:nvSpPr>
        <p:spPr>
          <a:xfrm>
            <a:off x="3409409" y="3528920"/>
            <a:ext cx="927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Vendedores Piloto Lima = 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86"/>
          <p:cNvSpPr txBox="1"/>
          <p:nvPr/>
        </p:nvSpPr>
        <p:spPr>
          <a:xfrm>
            <a:off x="3409409" y="3834111"/>
            <a:ext cx="113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Evaluación de hipótesis “A”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86"/>
          <p:cNvSpPr txBox="1"/>
          <p:nvPr/>
        </p:nvSpPr>
        <p:spPr>
          <a:xfrm>
            <a:off x="4864221" y="3798847"/>
            <a:ext cx="1038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Vendedores piloto provincias = 10 (7 Norte y 3 Sur)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86"/>
          <p:cNvSpPr txBox="1"/>
          <p:nvPr/>
        </p:nvSpPr>
        <p:spPr>
          <a:xfrm>
            <a:off x="4870952" y="4206296"/>
            <a:ext cx="1131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Cambio en la hipótesis por considerar ( “B” y “C”)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9" name="Google Shape;1249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7324" y="4219589"/>
            <a:ext cx="250411" cy="25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3764" y="1752128"/>
            <a:ext cx="250411" cy="25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3443" y="3484813"/>
            <a:ext cx="273801" cy="273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3443" y="3842343"/>
            <a:ext cx="273801" cy="273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8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54885" y="2042729"/>
            <a:ext cx="292984" cy="292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8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69033" y="2370664"/>
            <a:ext cx="249983" cy="249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86"/>
          <p:cNvSpPr txBox="1"/>
          <p:nvPr/>
        </p:nvSpPr>
        <p:spPr>
          <a:xfrm>
            <a:off x="4870952" y="3465901"/>
            <a:ext cx="925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Vendedores Piloto Lima =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86"/>
          <p:cNvSpPr txBox="1"/>
          <p:nvPr/>
        </p:nvSpPr>
        <p:spPr>
          <a:xfrm>
            <a:off x="2618061" y="2958432"/>
            <a:ext cx="753300" cy="1770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Set. 20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86"/>
          <p:cNvSpPr txBox="1"/>
          <p:nvPr/>
        </p:nvSpPr>
        <p:spPr>
          <a:xfrm>
            <a:off x="1789552" y="2958432"/>
            <a:ext cx="828600" cy="1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Jun.20 – Ago.20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86"/>
          <p:cNvSpPr txBox="1"/>
          <p:nvPr/>
        </p:nvSpPr>
        <p:spPr>
          <a:xfrm>
            <a:off x="965422" y="2958432"/>
            <a:ext cx="828600" cy="177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Mar.20 – May. 20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9" name="Google Shape;1259;p86"/>
          <p:cNvCxnSpPr/>
          <p:nvPr/>
        </p:nvCxnSpPr>
        <p:spPr>
          <a:xfrm>
            <a:off x="3005455" y="2660716"/>
            <a:ext cx="0" cy="297600"/>
          </a:xfrm>
          <a:prstGeom prst="straightConnector1">
            <a:avLst/>
          </a:prstGeom>
          <a:noFill/>
          <a:ln cap="flat" cmpd="sng" w="19050">
            <a:solidFill>
              <a:srgbClr val="323F4F"/>
            </a:solidFill>
            <a:prstDash val="solid"/>
            <a:miter lim="800000"/>
            <a:headEnd len="med" w="med" type="oval"/>
            <a:tailEnd len="sm" w="sm" type="none"/>
          </a:ln>
        </p:spPr>
      </p:cxnSp>
      <p:cxnSp>
        <p:nvCxnSpPr>
          <p:cNvPr id="1260" name="Google Shape;1260;p86"/>
          <p:cNvCxnSpPr/>
          <p:nvPr/>
        </p:nvCxnSpPr>
        <p:spPr>
          <a:xfrm>
            <a:off x="4509264" y="2666846"/>
            <a:ext cx="0" cy="297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med" w="med" type="oval"/>
            <a:tailEnd len="sm" w="sm" type="none"/>
          </a:ln>
        </p:spPr>
      </p:cxnSp>
      <p:cxnSp>
        <p:nvCxnSpPr>
          <p:cNvPr id="1261" name="Google Shape;1261;p86"/>
          <p:cNvCxnSpPr/>
          <p:nvPr/>
        </p:nvCxnSpPr>
        <p:spPr>
          <a:xfrm>
            <a:off x="5988533" y="2654989"/>
            <a:ext cx="0" cy="29700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med" w="med" type="oval"/>
            <a:tailEnd len="sm" w="sm" type="none"/>
          </a:ln>
        </p:spPr>
      </p:cxnSp>
      <p:cxnSp>
        <p:nvCxnSpPr>
          <p:cNvPr id="1262" name="Google Shape;1262;p86"/>
          <p:cNvCxnSpPr/>
          <p:nvPr/>
        </p:nvCxnSpPr>
        <p:spPr>
          <a:xfrm rot="10800000">
            <a:off x="6857012" y="3131556"/>
            <a:ext cx="0" cy="278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med" w="med" type="oval"/>
            <a:tailEnd len="sm" w="sm" type="none"/>
          </a:ln>
        </p:spPr>
      </p:cxnSp>
      <p:cxnSp>
        <p:nvCxnSpPr>
          <p:cNvPr id="1263" name="Google Shape;1263;p86"/>
          <p:cNvCxnSpPr/>
          <p:nvPr/>
        </p:nvCxnSpPr>
        <p:spPr>
          <a:xfrm rot="10800000">
            <a:off x="5275904" y="3131556"/>
            <a:ext cx="0" cy="297000"/>
          </a:xfrm>
          <a:prstGeom prst="straightConnector1">
            <a:avLst/>
          </a:prstGeom>
          <a:noFill/>
          <a:ln cap="flat" cmpd="sng" w="19050">
            <a:solidFill>
              <a:srgbClr val="323F4F"/>
            </a:solidFill>
            <a:prstDash val="solid"/>
            <a:miter lim="800000"/>
            <a:headEnd len="med" w="med" type="oval"/>
            <a:tailEnd len="sm" w="sm" type="none"/>
          </a:ln>
        </p:spPr>
      </p:cxnSp>
      <p:pic>
        <p:nvPicPr>
          <p:cNvPr id="1264" name="Google Shape;1264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8379" y="2383197"/>
            <a:ext cx="206951" cy="20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01713" y="2088197"/>
            <a:ext cx="226282" cy="226282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86"/>
          <p:cNvSpPr txBox="1"/>
          <p:nvPr/>
        </p:nvSpPr>
        <p:spPr>
          <a:xfrm>
            <a:off x="4084192" y="2350277"/>
            <a:ext cx="1087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Evaluación de hipótesis “A” y “B”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86"/>
          <p:cNvSpPr txBox="1"/>
          <p:nvPr/>
        </p:nvSpPr>
        <p:spPr>
          <a:xfrm>
            <a:off x="4100192" y="2050692"/>
            <a:ext cx="927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Vendedores Piloto Lima = 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86"/>
          <p:cNvSpPr txBox="1"/>
          <p:nvPr/>
        </p:nvSpPr>
        <p:spPr>
          <a:xfrm>
            <a:off x="5609055" y="1352614"/>
            <a:ext cx="1447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Vendedores piloto provincias = 37 (13 Norte, 10 Sur, 9 Centro y 5 Oriente)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9" name="Google Shape;1269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8277" y="1064624"/>
            <a:ext cx="273801" cy="273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8277" y="1396111"/>
            <a:ext cx="273801" cy="273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86"/>
          <p:cNvSpPr txBox="1"/>
          <p:nvPr/>
        </p:nvSpPr>
        <p:spPr>
          <a:xfrm>
            <a:off x="5615786" y="1097750"/>
            <a:ext cx="1249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Vendedores Piloto Lima =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86"/>
          <p:cNvSpPr txBox="1"/>
          <p:nvPr/>
        </p:nvSpPr>
        <p:spPr>
          <a:xfrm>
            <a:off x="951994" y="2395053"/>
            <a:ext cx="118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Categorización de productos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3" name="Google Shape;1273;p8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2490" y="2372332"/>
            <a:ext cx="242136" cy="242136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86"/>
          <p:cNvSpPr txBox="1"/>
          <p:nvPr/>
        </p:nvSpPr>
        <p:spPr>
          <a:xfrm>
            <a:off x="1895963" y="3484876"/>
            <a:ext cx="1188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Definición de reglas de negocio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86"/>
          <p:cNvSpPr txBox="1"/>
          <p:nvPr/>
        </p:nvSpPr>
        <p:spPr>
          <a:xfrm>
            <a:off x="1928624" y="3817992"/>
            <a:ext cx="118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Análisis del modelo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6" name="Google Shape;1276;p8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15770" y="3783490"/>
            <a:ext cx="242129" cy="242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8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13785" y="3475369"/>
            <a:ext cx="252344" cy="25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86"/>
          <p:cNvSpPr txBox="1"/>
          <p:nvPr/>
        </p:nvSpPr>
        <p:spPr>
          <a:xfrm>
            <a:off x="2690444" y="2098652"/>
            <a:ext cx="118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Capacitaciones FF.VV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86"/>
          <p:cNvSpPr txBox="1"/>
          <p:nvPr/>
        </p:nvSpPr>
        <p:spPr>
          <a:xfrm>
            <a:off x="2680408" y="2317723"/>
            <a:ext cx="1008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Salida al campo con FF.VV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0" name="Google Shape;1280;p8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472547" y="2344956"/>
            <a:ext cx="217897" cy="217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8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475304" y="2057862"/>
            <a:ext cx="231803" cy="23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86"/>
          <p:cNvSpPr txBox="1"/>
          <p:nvPr/>
        </p:nvSpPr>
        <p:spPr>
          <a:xfrm>
            <a:off x="6508945" y="3455839"/>
            <a:ext cx="925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" sz="7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Llegada en más del 50% de RR.VV horizontales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86"/>
          <p:cNvSpPr txBox="1"/>
          <p:nvPr/>
        </p:nvSpPr>
        <p:spPr>
          <a:xfrm>
            <a:off x="6502608" y="3825484"/>
            <a:ext cx="92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" sz="7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Automatización de carga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86"/>
          <p:cNvSpPr txBox="1"/>
          <p:nvPr/>
        </p:nvSpPr>
        <p:spPr>
          <a:xfrm>
            <a:off x="6493043" y="4114977"/>
            <a:ext cx="92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" sz="7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Definición reglas de negocio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5" name="Google Shape;1285;p8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66972" y="4093417"/>
            <a:ext cx="252344" cy="25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3373" y="3487411"/>
            <a:ext cx="273801" cy="273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8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67887" y="3805968"/>
            <a:ext cx="242136" cy="242136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86"/>
          <p:cNvSpPr txBox="1"/>
          <p:nvPr/>
        </p:nvSpPr>
        <p:spPr>
          <a:xfrm>
            <a:off x="7284762" y="2958432"/>
            <a:ext cx="997500" cy="2847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May. ’21 - Actualidad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9" name="Google Shape;1289;p86"/>
          <p:cNvCxnSpPr/>
          <p:nvPr/>
        </p:nvCxnSpPr>
        <p:spPr>
          <a:xfrm>
            <a:off x="7776066" y="2660716"/>
            <a:ext cx="0" cy="297600"/>
          </a:xfrm>
          <a:prstGeom prst="straightConnector1">
            <a:avLst/>
          </a:prstGeom>
          <a:noFill/>
          <a:ln cap="flat" cmpd="sng" w="19050">
            <a:solidFill>
              <a:srgbClr val="323F4F"/>
            </a:solidFill>
            <a:prstDash val="solid"/>
            <a:miter lim="800000"/>
            <a:headEnd len="med" w="med" type="oval"/>
            <a:tailEnd len="sm" w="sm" type="none"/>
          </a:ln>
        </p:spPr>
      </p:cxnSp>
      <p:pic>
        <p:nvPicPr>
          <p:cNvPr id="1290" name="Google Shape;1290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8626" y="2277214"/>
            <a:ext cx="226282" cy="226282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86"/>
          <p:cNvSpPr txBox="1"/>
          <p:nvPr/>
        </p:nvSpPr>
        <p:spPr>
          <a:xfrm>
            <a:off x="7567104" y="2239708"/>
            <a:ext cx="927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Vendedores en proyecto = 77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s" sz="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Lima = 26 – Provincias = 51</a:t>
            </a:r>
            <a:endParaRPr sz="1100"/>
          </a:p>
        </p:txBody>
      </p:sp>
      <p:cxnSp>
        <p:nvCxnSpPr>
          <p:cNvPr id="1292" name="Google Shape;1292;p86"/>
          <p:cNvCxnSpPr/>
          <p:nvPr/>
        </p:nvCxnSpPr>
        <p:spPr>
          <a:xfrm flipH="1" rot="10800000">
            <a:off x="7886700" y="3072694"/>
            <a:ext cx="3600" cy="306300"/>
          </a:xfrm>
          <a:prstGeom prst="straightConnector1">
            <a:avLst/>
          </a:prstGeom>
          <a:noFill/>
          <a:ln cap="flat" cmpd="sng" w="19050">
            <a:solidFill>
              <a:srgbClr val="323F4F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1293" name="Google Shape;1293;p86"/>
          <p:cNvSpPr txBox="1"/>
          <p:nvPr/>
        </p:nvSpPr>
        <p:spPr>
          <a:xfrm>
            <a:off x="7909051" y="3464663"/>
            <a:ext cx="1249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s" sz="600">
                <a:solidFill>
                  <a:srgbClr val="757070"/>
                </a:solidFill>
              </a:rPr>
              <a:t>Mejoras técnicas:</a:t>
            </a:r>
            <a:endParaRPr b="1" sz="600">
              <a:solidFill>
                <a:srgbClr val="757070"/>
              </a:solidFill>
            </a:endParaRPr>
          </a:p>
          <a:p>
            <a:pPr indent="-203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600"/>
              <a:buChar char="●"/>
            </a:pPr>
            <a:r>
              <a:rPr b="1" lang="es" sz="600">
                <a:solidFill>
                  <a:srgbClr val="757070"/>
                </a:solidFill>
              </a:rPr>
              <a:t>Producto Garantizado</a:t>
            </a:r>
            <a:endParaRPr b="1" sz="600">
              <a:solidFill>
                <a:srgbClr val="757070"/>
              </a:solidFill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757070"/>
              </a:solidFill>
            </a:endParaRPr>
          </a:p>
          <a:p>
            <a:pPr indent="-203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600"/>
              <a:buChar char="●"/>
            </a:pPr>
            <a:r>
              <a:rPr b="1" lang="es" sz="600">
                <a:solidFill>
                  <a:srgbClr val="757070"/>
                </a:solidFill>
              </a:rPr>
              <a:t>Filtrar productos sin stock</a:t>
            </a:r>
            <a:endParaRPr b="1" sz="600">
              <a:solidFill>
                <a:srgbClr val="757070"/>
              </a:solidFill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757070"/>
              </a:solidFill>
            </a:endParaRPr>
          </a:p>
          <a:p>
            <a:pPr indent="-203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600"/>
              <a:buChar char="●"/>
            </a:pPr>
            <a:r>
              <a:rPr b="1" lang="es" sz="600">
                <a:solidFill>
                  <a:srgbClr val="757070"/>
                </a:solidFill>
              </a:rPr>
              <a:t>Almacenar rechazos por parte del cliente</a:t>
            </a:r>
            <a:endParaRPr b="1" sz="600">
              <a:solidFill>
                <a:srgbClr val="757070"/>
              </a:solidFill>
            </a:endParaRPr>
          </a:p>
        </p:txBody>
      </p:sp>
      <p:pic>
        <p:nvPicPr>
          <p:cNvPr id="1294" name="Google Shape;1294;p8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9578" y="3465779"/>
            <a:ext cx="292984" cy="292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9" name="Google Shape;1299;p87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87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87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2" name="Google Shape;1302;p87"/>
          <p:cNvPicPr preferRelativeResize="0"/>
          <p:nvPr/>
        </p:nvPicPr>
        <p:blipFill rotWithShape="1">
          <a:blip r:embed="rId5">
            <a:alphaModFix/>
          </a:blip>
          <a:srcRect b="4196" l="9095" r="68165" t="12197"/>
          <a:stretch/>
        </p:blipFill>
        <p:spPr>
          <a:xfrm>
            <a:off x="1234475" y="1077851"/>
            <a:ext cx="1723758" cy="3669965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87"/>
          <p:cNvSpPr txBox="1"/>
          <p:nvPr/>
        </p:nvSpPr>
        <p:spPr>
          <a:xfrm>
            <a:off x="2505697" y="2438818"/>
            <a:ext cx="281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87"/>
          <p:cNvSpPr/>
          <p:nvPr/>
        </p:nvSpPr>
        <p:spPr>
          <a:xfrm>
            <a:off x="1551375" y="2415172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Frecuencia</a:t>
            </a:r>
            <a:endParaRPr sz="1100"/>
          </a:p>
        </p:txBody>
      </p:sp>
      <p:sp>
        <p:nvSpPr>
          <p:cNvPr id="1305" name="Google Shape;1305;p87"/>
          <p:cNvSpPr/>
          <p:nvPr/>
        </p:nvSpPr>
        <p:spPr>
          <a:xfrm>
            <a:off x="1556460" y="2741418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Fechas de compras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87"/>
          <p:cNvSpPr/>
          <p:nvPr/>
        </p:nvSpPr>
        <p:spPr>
          <a:xfrm>
            <a:off x="1551375" y="3079966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Ventas</a:t>
            </a:r>
            <a:endParaRPr sz="1100"/>
          </a:p>
        </p:txBody>
      </p:sp>
      <p:sp>
        <p:nvSpPr>
          <p:cNvPr id="1307" name="Google Shape;1307;p87"/>
          <p:cNvSpPr/>
          <p:nvPr/>
        </p:nvSpPr>
        <p:spPr>
          <a:xfrm>
            <a:off x="2469282" y="2372173"/>
            <a:ext cx="36300" cy="10086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2" name="Google Shape;1312;p88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88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88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5" name="Google Shape;1315;p88"/>
          <p:cNvPicPr preferRelativeResize="0"/>
          <p:nvPr/>
        </p:nvPicPr>
        <p:blipFill rotWithShape="1">
          <a:blip r:embed="rId5">
            <a:alphaModFix/>
          </a:blip>
          <a:srcRect b="4196" l="9095" r="68165" t="12197"/>
          <a:stretch/>
        </p:blipFill>
        <p:spPr>
          <a:xfrm>
            <a:off x="1234475" y="1077851"/>
            <a:ext cx="1723758" cy="366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88"/>
          <p:cNvPicPr preferRelativeResize="0"/>
          <p:nvPr/>
        </p:nvPicPr>
        <p:blipFill rotWithShape="1">
          <a:blip r:embed="rId6">
            <a:alphaModFix/>
          </a:blip>
          <a:srcRect b="3227" l="33167" r="44093" t="13167"/>
          <a:stretch/>
        </p:blipFill>
        <p:spPr>
          <a:xfrm>
            <a:off x="3001825" y="1120684"/>
            <a:ext cx="1723758" cy="3669965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88"/>
          <p:cNvSpPr txBox="1"/>
          <p:nvPr/>
        </p:nvSpPr>
        <p:spPr>
          <a:xfrm>
            <a:off x="2505697" y="2438818"/>
            <a:ext cx="281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88"/>
          <p:cNvSpPr/>
          <p:nvPr/>
        </p:nvSpPr>
        <p:spPr>
          <a:xfrm>
            <a:off x="1551375" y="2415172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Frecuencia</a:t>
            </a:r>
            <a:endParaRPr sz="1100"/>
          </a:p>
        </p:txBody>
      </p:sp>
      <p:sp>
        <p:nvSpPr>
          <p:cNvPr id="1319" name="Google Shape;1319;p88"/>
          <p:cNvSpPr/>
          <p:nvPr/>
        </p:nvSpPr>
        <p:spPr>
          <a:xfrm>
            <a:off x="1556460" y="2741418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Fechas de compras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88"/>
          <p:cNvSpPr/>
          <p:nvPr/>
        </p:nvSpPr>
        <p:spPr>
          <a:xfrm>
            <a:off x="1551375" y="3079966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Ventas</a:t>
            </a:r>
            <a:endParaRPr sz="1100"/>
          </a:p>
        </p:txBody>
      </p:sp>
      <p:sp>
        <p:nvSpPr>
          <p:cNvPr id="1321" name="Google Shape;1321;p88"/>
          <p:cNvSpPr/>
          <p:nvPr/>
        </p:nvSpPr>
        <p:spPr>
          <a:xfrm>
            <a:off x="2469282" y="2372173"/>
            <a:ext cx="36300" cy="10086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88"/>
          <p:cNvSpPr/>
          <p:nvPr/>
        </p:nvSpPr>
        <p:spPr>
          <a:xfrm>
            <a:off x="3337427" y="2398630"/>
            <a:ext cx="1155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Filtro colaborativo</a:t>
            </a:r>
            <a:endParaRPr sz="1100"/>
          </a:p>
        </p:txBody>
      </p:sp>
      <p:pic>
        <p:nvPicPr>
          <p:cNvPr id="1323" name="Google Shape;1323;p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34351" y="2928757"/>
            <a:ext cx="352424" cy="3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89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89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89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analítica predictiva/prescriptiva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1" name="Google Shape;1331;p89"/>
          <p:cNvPicPr preferRelativeResize="0"/>
          <p:nvPr/>
        </p:nvPicPr>
        <p:blipFill rotWithShape="1">
          <a:blip r:embed="rId5">
            <a:alphaModFix/>
          </a:blip>
          <a:srcRect b="89417" l="14164" r="24594" t="4807"/>
          <a:stretch/>
        </p:blipFill>
        <p:spPr>
          <a:xfrm>
            <a:off x="1704050" y="4494324"/>
            <a:ext cx="4642268" cy="253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89"/>
          <p:cNvPicPr preferRelativeResize="0"/>
          <p:nvPr/>
        </p:nvPicPr>
        <p:blipFill rotWithShape="1">
          <a:blip r:embed="rId6">
            <a:alphaModFix/>
          </a:blip>
          <a:srcRect b="4196" l="9095" r="68165" t="12197"/>
          <a:stretch/>
        </p:blipFill>
        <p:spPr>
          <a:xfrm>
            <a:off x="1234475" y="1077851"/>
            <a:ext cx="1723758" cy="366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89"/>
          <p:cNvPicPr preferRelativeResize="0"/>
          <p:nvPr/>
        </p:nvPicPr>
        <p:blipFill rotWithShape="1">
          <a:blip r:embed="rId7">
            <a:alphaModFix/>
          </a:blip>
          <a:srcRect b="3227" l="33167" r="44093" t="13167"/>
          <a:stretch/>
        </p:blipFill>
        <p:spPr>
          <a:xfrm>
            <a:off x="3001825" y="1120684"/>
            <a:ext cx="1723758" cy="366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89"/>
          <p:cNvPicPr preferRelativeResize="0"/>
          <p:nvPr/>
        </p:nvPicPr>
        <p:blipFill rotWithShape="1">
          <a:blip r:embed="rId8">
            <a:alphaModFix/>
          </a:blip>
          <a:srcRect b="3912" l="55410" r="21850" t="12482"/>
          <a:stretch/>
        </p:blipFill>
        <p:spPr>
          <a:xfrm>
            <a:off x="4622556" y="1077851"/>
            <a:ext cx="1723758" cy="3669965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89"/>
          <p:cNvSpPr txBox="1"/>
          <p:nvPr/>
        </p:nvSpPr>
        <p:spPr>
          <a:xfrm>
            <a:off x="6561244" y="4360763"/>
            <a:ext cx="118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*Tablet del vendedor</a:t>
            </a:r>
            <a:endParaRPr sz="1100"/>
          </a:p>
        </p:txBody>
      </p:sp>
      <p:pic>
        <p:nvPicPr>
          <p:cNvPr id="1336" name="Google Shape;1336;p8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2535" y="1643339"/>
            <a:ext cx="1459814" cy="2624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89"/>
          <p:cNvSpPr txBox="1"/>
          <p:nvPr/>
        </p:nvSpPr>
        <p:spPr>
          <a:xfrm>
            <a:off x="2505697" y="2438818"/>
            <a:ext cx="281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b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89"/>
          <p:cNvSpPr/>
          <p:nvPr/>
        </p:nvSpPr>
        <p:spPr>
          <a:xfrm>
            <a:off x="1551375" y="2415172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Frecuencia</a:t>
            </a:r>
            <a:endParaRPr sz="1100"/>
          </a:p>
        </p:txBody>
      </p:sp>
      <p:sp>
        <p:nvSpPr>
          <p:cNvPr id="1339" name="Google Shape;1339;p89"/>
          <p:cNvSpPr/>
          <p:nvPr/>
        </p:nvSpPr>
        <p:spPr>
          <a:xfrm>
            <a:off x="1556460" y="2741418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Fechas de compras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89"/>
          <p:cNvSpPr/>
          <p:nvPr/>
        </p:nvSpPr>
        <p:spPr>
          <a:xfrm>
            <a:off x="1551375" y="3079966"/>
            <a:ext cx="931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Ventas</a:t>
            </a:r>
            <a:endParaRPr sz="1100"/>
          </a:p>
        </p:txBody>
      </p:sp>
      <p:sp>
        <p:nvSpPr>
          <p:cNvPr id="1341" name="Google Shape;1341;p89"/>
          <p:cNvSpPr/>
          <p:nvPr/>
        </p:nvSpPr>
        <p:spPr>
          <a:xfrm>
            <a:off x="2469282" y="2372173"/>
            <a:ext cx="36300" cy="10086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89"/>
          <p:cNvSpPr/>
          <p:nvPr/>
        </p:nvSpPr>
        <p:spPr>
          <a:xfrm>
            <a:off x="3337427" y="2398630"/>
            <a:ext cx="1155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Filtro colaborativo</a:t>
            </a:r>
            <a:endParaRPr sz="1100"/>
          </a:p>
        </p:txBody>
      </p:sp>
      <p:pic>
        <p:nvPicPr>
          <p:cNvPr id="1343" name="Google Shape;1343;p8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34351" y="2928757"/>
            <a:ext cx="352424" cy="36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4" name="Google Shape;1344;p89"/>
          <p:cNvCxnSpPr/>
          <p:nvPr/>
        </p:nvCxnSpPr>
        <p:spPr>
          <a:xfrm>
            <a:off x="4961092" y="2932094"/>
            <a:ext cx="1235700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1345" name="Google Shape;1345;p89"/>
          <p:cNvSpPr txBox="1"/>
          <p:nvPr/>
        </p:nvSpPr>
        <p:spPr>
          <a:xfrm>
            <a:off x="5139203" y="2513009"/>
            <a:ext cx="82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sku’s históricos</a:t>
            </a:r>
            <a:endParaRPr sz="1100"/>
          </a:p>
        </p:txBody>
      </p:sp>
      <p:sp>
        <p:nvSpPr>
          <p:cNvPr id="1346" name="Google Shape;1346;p89"/>
          <p:cNvSpPr txBox="1"/>
          <p:nvPr/>
        </p:nvSpPr>
        <p:spPr>
          <a:xfrm>
            <a:off x="5164546" y="3055198"/>
            <a:ext cx="776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sku’s nuevos</a:t>
            </a:r>
            <a:endParaRPr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90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90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90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algoritmos de modelado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4" name="Google Shape;1354;p90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5" name="Google Shape;135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91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91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91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algoritmos de modelado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5" name="Google Shape;1365;p91"/>
          <p:cNvPicPr preferRelativeResize="0"/>
          <p:nvPr/>
        </p:nvPicPr>
        <p:blipFill rotWithShape="1">
          <a:blip r:embed="rId5">
            <a:alphaModFix/>
          </a:blip>
          <a:srcRect b="0" l="19302" r="26823" t="0"/>
          <a:stretch/>
        </p:blipFill>
        <p:spPr>
          <a:xfrm>
            <a:off x="4543105" y="1306850"/>
            <a:ext cx="663095" cy="8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1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7" name="Google Shape;1367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9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91"/>
          <p:cNvSpPr txBox="1"/>
          <p:nvPr/>
        </p:nvSpPr>
        <p:spPr>
          <a:xfrm>
            <a:off x="41913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5" name="Google Shape;1375;p92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92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92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algoritmos de modelado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8" name="Google Shape;137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3150" y="1306850"/>
            <a:ext cx="861410" cy="8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92"/>
          <p:cNvPicPr preferRelativeResize="0"/>
          <p:nvPr/>
        </p:nvPicPr>
        <p:blipFill rotWithShape="1">
          <a:blip r:embed="rId6">
            <a:alphaModFix/>
          </a:blip>
          <a:srcRect b="6996" l="15398" r="28747" t="5766"/>
          <a:stretch/>
        </p:blipFill>
        <p:spPr>
          <a:xfrm>
            <a:off x="6614600" y="1306850"/>
            <a:ext cx="939450" cy="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2"/>
          <p:cNvPicPr preferRelativeResize="0"/>
          <p:nvPr/>
        </p:nvPicPr>
        <p:blipFill rotWithShape="1">
          <a:blip r:embed="rId7">
            <a:alphaModFix/>
          </a:blip>
          <a:srcRect b="0" l="19302" r="26823" t="0"/>
          <a:stretch/>
        </p:blipFill>
        <p:spPr>
          <a:xfrm>
            <a:off x="4543105" y="1306850"/>
            <a:ext cx="663095" cy="8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92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2" name="Google Shape;1382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9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9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92"/>
          <p:cNvSpPr txBox="1"/>
          <p:nvPr/>
        </p:nvSpPr>
        <p:spPr>
          <a:xfrm>
            <a:off x="41913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92"/>
          <p:cNvSpPr txBox="1"/>
          <p:nvPr/>
        </p:nvSpPr>
        <p:spPr>
          <a:xfrm>
            <a:off x="51819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93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93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93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algoritmos de modelado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4" name="Google Shape;1394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3150" y="1306850"/>
            <a:ext cx="861410" cy="8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93"/>
          <p:cNvPicPr preferRelativeResize="0"/>
          <p:nvPr/>
        </p:nvPicPr>
        <p:blipFill rotWithShape="1">
          <a:blip r:embed="rId6">
            <a:alphaModFix/>
          </a:blip>
          <a:srcRect b="6996" l="15398" r="28747" t="5766"/>
          <a:stretch/>
        </p:blipFill>
        <p:spPr>
          <a:xfrm>
            <a:off x="6614600" y="1306850"/>
            <a:ext cx="939450" cy="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93"/>
          <p:cNvPicPr preferRelativeResize="0"/>
          <p:nvPr/>
        </p:nvPicPr>
        <p:blipFill rotWithShape="1">
          <a:blip r:embed="rId7">
            <a:alphaModFix/>
          </a:blip>
          <a:srcRect b="0" l="19302" r="26823" t="0"/>
          <a:stretch/>
        </p:blipFill>
        <p:spPr>
          <a:xfrm>
            <a:off x="4543105" y="1306850"/>
            <a:ext cx="663095" cy="8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93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8" name="Google Shape;1398;p93"/>
          <p:cNvSpPr txBox="1"/>
          <p:nvPr/>
        </p:nvSpPr>
        <p:spPr>
          <a:xfrm>
            <a:off x="617832" y="2173481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Algoritmos: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9" name="Google Shape;1399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1" name="Google Shape;1401;p9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3"/>
          <p:cNvSpPr txBox="1"/>
          <p:nvPr/>
        </p:nvSpPr>
        <p:spPr>
          <a:xfrm>
            <a:off x="41913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3" name="Google Shape;1403;p93"/>
          <p:cNvSpPr txBox="1"/>
          <p:nvPr/>
        </p:nvSpPr>
        <p:spPr>
          <a:xfrm>
            <a:off x="51819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04" name="Google Shape;1404;p9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1675" y="2540300"/>
            <a:ext cx="3331072" cy="25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9" name="Google Shape;1409;p94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94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4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Herramientas y algoritmos de modelado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2" name="Google Shape;141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3150" y="1306850"/>
            <a:ext cx="861410" cy="8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94"/>
          <p:cNvPicPr preferRelativeResize="0"/>
          <p:nvPr/>
        </p:nvPicPr>
        <p:blipFill rotWithShape="1">
          <a:blip r:embed="rId6">
            <a:alphaModFix/>
          </a:blip>
          <a:srcRect b="6996" l="15398" r="28747" t="5766"/>
          <a:stretch/>
        </p:blipFill>
        <p:spPr>
          <a:xfrm>
            <a:off x="6614600" y="1306850"/>
            <a:ext cx="939450" cy="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94"/>
          <p:cNvPicPr preferRelativeResize="0"/>
          <p:nvPr/>
        </p:nvPicPr>
        <p:blipFill rotWithShape="1">
          <a:blip r:embed="rId7">
            <a:alphaModFix/>
          </a:blip>
          <a:srcRect b="0" l="19302" r="26823" t="0"/>
          <a:stretch/>
        </p:blipFill>
        <p:spPr>
          <a:xfrm>
            <a:off x="4543105" y="1306850"/>
            <a:ext cx="663095" cy="8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94"/>
          <p:cNvSpPr txBox="1"/>
          <p:nvPr/>
        </p:nvSpPr>
        <p:spPr>
          <a:xfrm>
            <a:off x="397707" y="1421906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endParaRPr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6" name="Google Shape;1416;p94"/>
          <p:cNvSpPr txBox="1"/>
          <p:nvPr/>
        </p:nvSpPr>
        <p:spPr>
          <a:xfrm>
            <a:off x="617832" y="2173481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Algoritmos: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7" name="Google Shape;1417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1025" y="1058724"/>
            <a:ext cx="874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9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26125" y="1849925"/>
            <a:ext cx="994250" cy="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9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16775" y="1461550"/>
            <a:ext cx="994250" cy="556783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94"/>
          <p:cNvSpPr txBox="1"/>
          <p:nvPr/>
        </p:nvSpPr>
        <p:spPr>
          <a:xfrm>
            <a:off x="41913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1" name="Google Shape;1421;p94"/>
          <p:cNvSpPr txBox="1"/>
          <p:nvPr/>
        </p:nvSpPr>
        <p:spPr>
          <a:xfrm>
            <a:off x="5181927" y="1498100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2" name="Google Shape;1422;p9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1675" y="2540300"/>
            <a:ext cx="3331072" cy="25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3" name="Google Shape;1423;p9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409175" y="2573675"/>
            <a:ext cx="3307500" cy="2496018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94"/>
          <p:cNvSpPr/>
          <p:nvPr/>
        </p:nvSpPr>
        <p:spPr>
          <a:xfrm>
            <a:off x="4492025" y="3398525"/>
            <a:ext cx="477600" cy="23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94"/>
          <p:cNvSpPr/>
          <p:nvPr/>
        </p:nvSpPr>
        <p:spPr>
          <a:xfrm>
            <a:off x="5190071" y="3925802"/>
            <a:ext cx="477600" cy="23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94"/>
          <p:cNvSpPr/>
          <p:nvPr/>
        </p:nvSpPr>
        <p:spPr>
          <a:xfrm>
            <a:off x="7271964" y="3773402"/>
            <a:ext cx="477600" cy="23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94"/>
          <p:cNvSpPr/>
          <p:nvPr/>
        </p:nvSpPr>
        <p:spPr>
          <a:xfrm>
            <a:off x="5964318" y="3011402"/>
            <a:ext cx="477600" cy="23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94"/>
          <p:cNvSpPr/>
          <p:nvPr/>
        </p:nvSpPr>
        <p:spPr>
          <a:xfrm>
            <a:off x="6878728" y="2782800"/>
            <a:ext cx="675300" cy="23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89A"/>
        </a:solidFill>
      </p:bgPr>
    </p:bg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" name="Google Shape;1433;p95"/>
          <p:cNvPicPr preferRelativeResize="0"/>
          <p:nvPr/>
        </p:nvPicPr>
        <p:blipFill rotWithShape="1">
          <a:blip r:embed="rId3">
            <a:alphaModFix amt="36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95"/>
          <p:cNvPicPr preferRelativeResize="0"/>
          <p:nvPr/>
        </p:nvPicPr>
        <p:blipFill rotWithShape="1">
          <a:blip r:embed="rId4">
            <a:alphaModFix amt="74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95"/>
          <p:cNvSpPr txBox="1"/>
          <p:nvPr/>
        </p:nvSpPr>
        <p:spPr>
          <a:xfrm>
            <a:off x="1886650" y="1425275"/>
            <a:ext cx="5994000" cy="27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Enfoque </a:t>
            </a:r>
            <a:endParaRPr b="1" sz="5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translator:</a:t>
            </a:r>
            <a:endParaRPr b="1" sz="5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200">
                <a:solidFill>
                  <a:srgbClr val="39D4FB"/>
                </a:solidFill>
                <a:latin typeface="Montserrat"/>
                <a:ea typeface="Montserrat"/>
                <a:cs typeface="Montserrat"/>
                <a:sym typeface="Montserrat"/>
              </a:rPr>
              <a:t>research &amp; development</a:t>
            </a:r>
            <a:endParaRPr b="1" sz="5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6" name="Google Shape;1436;p95"/>
          <p:cNvSpPr txBox="1"/>
          <p:nvPr/>
        </p:nvSpPr>
        <p:spPr>
          <a:xfrm>
            <a:off x="-135350" y="-551375"/>
            <a:ext cx="2988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5000">
                <a:solidFill>
                  <a:srgbClr val="00338B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i="1" sz="15000">
              <a:solidFill>
                <a:srgbClr val="0033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1" name="Google Shape;1441;p96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2" name="Google Shape;1442;p96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96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Enfoque data translator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4" name="Google Shape;1444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025" y="1655073"/>
            <a:ext cx="3617100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7525" y="1655074"/>
            <a:ext cx="3074078" cy="175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97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97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97"/>
          <p:cNvSpPr txBox="1"/>
          <p:nvPr>
            <p:ph type="ctrTitle"/>
          </p:nvPr>
        </p:nvSpPr>
        <p:spPr>
          <a:xfrm>
            <a:off x="598000" y="504075"/>
            <a:ext cx="710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 sz="27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Visión holística</a:t>
            </a:r>
            <a:endParaRPr b="1" sz="27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3" name="Google Shape;1453;p97"/>
          <p:cNvSpPr/>
          <p:nvPr/>
        </p:nvSpPr>
        <p:spPr>
          <a:xfrm>
            <a:off x="3574625" y="470850"/>
            <a:ext cx="4262400" cy="4201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97"/>
          <p:cNvSpPr/>
          <p:nvPr/>
        </p:nvSpPr>
        <p:spPr>
          <a:xfrm>
            <a:off x="4193194" y="1064950"/>
            <a:ext cx="3109200" cy="30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97"/>
          <p:cNvSpPr/>
          <p:nvPr/>
        </p:nvSpPr>
        <p:spPr>
          <a:xfrm>
            <a:off x="5275330" y="2023374"/>
            <a:ext cx="962100" cy="9621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97"/>
          <p:cNvSpPr txBox="1"/>
          <p:nvPr/>
        </p:nvSpPr>
        <p:spPr>
          <a:xfrm>
            <a:off x="5376240" y="2474961"/>
            <a:ext cx="7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PEOPLE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57" name="Google Shape;1457;p97"/>
          <p:cNvGrpSpPr/>
          <p:nvPr/>
        </p:nvGrpSpPr>
        <p:grpSpPr>
          <a:xfrm>
            <a:off x="5620568" y="2195206"/>
            <a:ext cx="271685" cy="334547"/>
            <a:chOff x="3316000" y="4399325"/>
            <a:chExt cx="392325" cy="483100"/>
          </a:xfrm>
        </p:grpSpPr>
        <p:sp>
          <p:nvSpPr>
            <p:cNvPr id="1458" name="Google Shape;1458;p97"/>
            <p:cNvSpPr/>
            <p:nvPr/>
          </p:nvSpPr>
          <p:spPr>
            <a:xfrm>
              <a:off x="3316000" y="4399325"/>
              <a:ext cx="392325" cy="483100"/>
            </a:xfrm>
            <a:custGeom>
              <a:rect b="b" l="l" r="r" t="t"/>
              <a:pathLst>
                <a:path extrusionOk="0" h="19324" w="15693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59" name="Google Shape;1459;p97"/>
            <p:cNvSpPr/>
            <p:nvPr/>
          </p:nvSpPr>
          <p:spPr>
            <a:xfrm>
              <a:off x="3582300" y="4797475"/>
              <a:ext cx="56650" cy="28350"/>
            </a:xfrm>
            <a:custGeom>
              <a:rect b="b" l="l" r="r" t="t"/>
              <a:pathLst>
                <a:path extrusionOk="0" h="1134" w="2266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" name="Google Shape;1464;p98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98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98"/>
          <p:cNvSpPr txBox="1"/>
          <p:nvPr>
            <p:ph type="ctrTitle"/>
          </p:nvPr>
        </p:nvSpPr>
        <p:spPr>
          <a:xfrm>
            <a:off x="598000" y="504075"/>
            <a:ext cx="710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 sz="27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Visión holística</a:t>
            </a:r>
            <a:endParaRPr b="1" sz="27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7" name="Google Shape;1467;p98"/>
          <p:cNvSpPr/>
          <p:nvPr/>
        </p:nvSpPr>
        <p:spPr>
          <a:xfrm>
            <a:off x="3574625" y="470850"/>
            <a:ext cx="4262400" cy="4201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98"/>
          <p:cNvSpPr/>
          <p:nvPr/>
        </p:nvSpPr>
        <p:spPr>
          <a:xfrm>
            <a:off x="4193194" y="1064950"/>
            <a:ext cx="3109200" cy="30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98"/>
          <p:cNvSpPr/>
          <p:nvPr/>
        </p:nvSpPr>
        <p:spPr>
          <a:xfrm>
            <a:off x="5275330" y="2023374"/>
            <a:ext cx="962100" cy="9621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98"/>
          <p:cNvSpPr txBox="1"/>
          <p:nvPr/>
        </p:nvSpPr>
        <p:spPr>
          <a:xfrm>
            <a:off x="5376240" y="2474961"/>
            <a:ext cx="7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PEOPLE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71" name="Google Shape;1471;p98"/>
          <p:cNvGrpSpPr/>
          <p:nvPr/>
        </p:nvGrpSpPr>
        <p:grpSpPr>
          <a:xfrm>
            <a:off x="5620568" y="2195206"/>
            <a:ext cx="271685" cy="334547"/>
            <a:chOff x="3316000" y="4399325"/>
            <a:chExt cx="392325" cy="483100"/>
          </a:xfrm>
        </p:grpSpPr>
        <p:sp>
          <p:nvSpPr>
            <p:cNvPr id="1472" name="Google Shape;1472;p98"/>
            <p:cNvSpPr/>
            <p:nvPr/>
          </p:nvSpPr>
          <p:spPr>
            <a:xfrm>
              <a:off x="3316000" y="4399325"/>
              <a:ext cx="392325" cy="483100"/>
            </a:xfrm>
            <a:custGeom>
              <a:rect b="b" l="l" r="r" t="t"/>
              <a:pathLst>
                <a:path extrusionOk="0" h="19324" w="15693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73" name="Google Shape;1473;p98"/>
            <p:cNvSpPr/>
            <p:nvPr/>
          </p:nvSpPr>
          <p:spPr>
            <a:xfrm>
              <a:off x="3582300" y="4797475"/>
              <a:ext cx="56650" cy="28350"/>
            </a:xfrm>
            <a:custGeom>
              <a:rect b="b" l="l" r="r" t="t"/>
              <a:pathLst>
                <a:path extrusionOk="0" h="1134" w="2266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74" name="Google Shape;1474;p98"/>
          <p:cNvSpPr/>
          <p:nvPr/>
        </p:nvSpPr>
        <p:spPr>
          <a:xfrm>
            <a:off x="5379176" y="3163571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98"/>
          <p:cNvSpPr txBox="1"/>
          <p:nvPr/>
        </p:nvSpPr>
        <p:spPr>
          <a:xfrm>
            <a:off x="5400844" y="3294745"/>
            <a:ext cx="6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/ Analítica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99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1" name="Google Shape;1481;p99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99"/>
          <p:cNvSpPr txBox="1"/>
          <p:nvPr>
            <p:ph type="ctrTitle"/>
          </p:nvPr>
        </p:nvSpPr>
        <p:spPr>
          <a:xfrm>
            <a:off x="598000" y="504075"/>
            <a:ext cx="710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 sz="27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Visión holística</a:t>
            </a:r>
            <a:endParaRPr b="1" sz="27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3" name="Google Shape;1483;p99"/>
          <p:cNvSpPr/>
          <p:nvPr/>
        </p:nvSpPr>
        <p:spPr>
          <a:xfrm>
            <a:off x="3574625" y="470850"/>
            <a:ext cx="4262400" cy="4201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99"/>
          <p:cNvSpPr/>
          <p:nvPr/>
        </p:nvSpPr>
        <p:spPr>
          <a:xfrm>
            <a:off x="4193194" y="1064950"/>
            <a:ext cx="3109200" cy="30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99"/>
          <p:cNvSpPr/>
          <p:nvPr/>
        </p:nvSpPr>
        <p:spPr>
          <a:xfrm>
            <a:off x="5275330" y="2023374"/>
            <a:ext cx="962100" cy="9621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99"/>
          <p:cNvSpPr txBox="1"/>
          <p:nvPr/>
        </p:nvSpPr>
        <p:spPr>
          <a:xfrm>
            <a:off x="5376240" y="2474961"/>
            <a:ext cx="7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PEOPLE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87" name="Google Shape;1487;p99"/>
          <p:cNvGrpSpPr/>
          <p:nvPr/>
        </p:nvGrpSpPr>
        <p:grpSpPr>
          <a:xfrm>
            <a:off x="5620568" y="2195206"/>
            <a:ext cx="271685" cy="334547"/>
            <a:chOff x="3316000" y="4399325"/>
            <a:chExt cx="392325" cy="483100"/>
          </a:xfrm>
        </p:grpSpPr>
        <p:sp>
          <p:nvSpPr>
            <p:cNvPr id="1488" name="Google Shape;1488;p99"/>
            <p:cNvSpPr/>
            <p:nvPr/>
          </p:nvSpPr>
          <p:spPr>
            <a:xfrm>
              <a:off x="3316000" y="4399325"/>
              <a:ext cx="392325" cy="483100"/>
            </a:xfrm>
            <a:custGeom>
              <a:rect b="b" l="l" r="r" t="t"/>
              <a:pathLst>
                <a:path extrusionOk="0" h="19324" w="15693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89" name="Google Shape;1489;p99"/>
            <p:cNvSpPr/>
            <p:nvPr/>
          </p:nvSpPr>
          <p:spPr>
            <a:xfrm>
              <a:off x="3582300" y="4797475"/>
              <a:ext cx="56650" cy="28350"/>
            </a:xfrm>
            <a:custGeom>
              <a:rect b="b" l="l" r="r" t="t"/>
              <a:pathLst>
                <a:path extrusionOk="0" h="1134" w="2266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90" name="Google Shape;1490;p99"/>
          <p:cNvSpPr/>
          <p:nvPr/>
        </p:nvSpPr>
        <p:spPr>
          <a:xfrm>
            <a:off x="4579743" y="2683911"/>
            <a:ext cx="726300" cy="726300"/>
          </a:xfrm>
          <a:prstGeom prst="ellipse">
            <a:avLst/>
          </a:prstGeom>
          <a:solidFill>
            <a:srgbClr val="4BD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99"/>
          <p:cNvSpPr txBox="1"/>
          <p:nvPr/>
        </p:nvSpPr>
        <p:spPr>
          <a:xfrm>
            <a:off x="4539037" y="2895752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2" name="Google Shape;1492;p99"/>
          <p:cNvSpPr/>
          <p:nvPr/>
        </p:nvSpPr>
        <p:spPr>
          <a:xfrm>
            <a:off x="5379176" y="3163571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99"/>
          <p:cNvSpPr txBox="1"/>
          <p:nvPr/>
        </p:nvSpPr>
        <p:spPr>
          <a:xfrm>
            <a:off x="5400844" y="3294745"/>
            <a:ext cx="6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/ Analítica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p100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100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100"/>
          <p:cNvSpPr txBox="1"/>
          <p:nvPr>
            <p:ph type="ctrTitle"/>
          </p:nvPr>
        </p:nvSpPr>
        <p:spPr>
          <a:xfrm>
            <a:off x="598000" y="504075"/>
            <a:ext cx="710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 sz="27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Visión holística</a:t>
            </a:r>
            <a:endParaRPr b="1" sz="27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1" name="Google Shape;1501;p100"/>
          <p:cNvSpPr/>
          <p:nvPr/>
        </p:nvSpPr>
        <p:spPr>
          <a:xfrm>
            <a:off x="3574625" y="470850"/>
            <a:ext cx="4262400" cy="4201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100"/>
          <p:cNvSpPr/>
          <p:nvPr/>
        </p:nvSpPr>
        <p:spPr>
          <a:xfrm>
            <a:off x="4193194" y="1064950"/>
            <a:ext cx="3109200" cy="30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100"/>
          <p:cNvSpPr/>
          <p:nvPr/>
        </p:nvSpPr>
        <p:spPr>
          <a:xfrm>
            <a:off x="5275330" y="2023374"/>
            <a:ext cx="962100" cy="9621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100"/>
          <p:cNvSpPr txBox="1"/>
          <p:nvPr/>
        </p:nvSpPr>
        <p:spPr>
          <a:xfrm>
            <a:off x="5376240" y="2474961"/>
            <a:ext cx="7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PEOPLE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05" name="Google Shape;1505;p100"/>
          <p:cNvGrpSpPr/>
          <p:nvPr/>
        </p:nvGrpSpPr>
        <p:grpSpPr>
          <a:xfrm>
            <a:off x="5620568" y="2195206"/>
            <a:ext cx="271685" cy="334547"/>
            <a:chOff x="3316000" y="4399325"/>
            <a:chExt cx="392325" cy="483100"/>
          </a:xfrm>
        </p:grpSpPr>
        <p:sp>
          <p:nvSpPr>
            <p:cNvPr id="1506" name="Google Shape;1506;p100"/>
            <p:cNvSpPr/>
            <p:nvPr/>
          </p:nvSpPr>
          <p:spPr>
            <a:xfrm>
              <a:off x="3316000" y="4399325"/>
              <a:ext cx="392325" cy="483100"/>
            </a:xfrm>
            <a:custGeom>
              <a:rect b="b" l="l" r="r" t="t"/>
              <a:pathLst>
                <a:path extrusionOk="0" h="19324" w="15693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07" name="Google Shape;1507;p100"/>
            <p:cNvSpPr/>
            <p:nvPr/>
          </p:nvSpPr>
          <p:spPr>
            <a:xfrm>
              <a:off x="3582300" y="4797475"/>
              <a:ext cx="56650" cy="28350"/>
            </a:xfrm>
            <a:custGeom>
              <a:rect b="b" l="l" r="r" t="t"/>
              <a:pathLst>
                <a:path extrusionOk="0" h="1134" w="2266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508" name="Google Shape;1508;p100"/>
          <p:cNvSpPr/>
          <p:nvPr/>
        </p:nvSpPr>
        <p:spPr>
          <a:xfrm>
            <a:off x="4579743" y="2683911"/>
            <a:ext cx="726300" cy="726300"/>
          </a:xfrm>
          <a:prstGeom prst="ellipse">
            <a:avLst/>
          </a:prstGeom>
          <a:solidFill>
            <a:srgbClr val="4BD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00"/>
          <p:cNvSpPr txBox="1"/>
          <p:nvPr/>
        </p:nvSpPr>
        <p:spPr>
          <a:xfrm>
            <a:off x="4539037" y="2895752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0" name="Google Shape;1510;p100"/>
          <p:cNvSpPr/>
          <p:nvPr/>
        </p:nvSpPr>
        <p:spPr>
          <a:xfrm>
            <a:off x="4419856" y="1804535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00"/>
          <p:cNvSpPr txBox="1"/>
          <p:nvPr/>
        </p:nvSpPr>
        <p:spPr>
          <a:xfrm>
            <a:off x="4379150" y="2016376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2" name="Google Shape;1512;p100"/>
          <p:cNvSpPr/>
          <p:nvPr/>
        </p:nvSpPr>
        <p:spPr>
          <a:xfrm>
            <a:off x="5379176" y="3163571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00"/>
          <p:cNvSpPr txBox="1"/>
          <p:nvPr/>
        </p:nvSpPr>
        <p:spPr>
          <a:xfrm>
            <a:off x="5400844" y="3294745"/>
            <a:ext cx="6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/ Analítica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Google Shape;1518;p101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101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101"/>
          <p:cNvSpPr txBox="1"/>
          <p:nvPr>
            <p:ph type="ctrTitle"/>
          </p:nvPr>
        </p:nvSpPr>
        <p:spPr>
          <a:xfrm>
            <a:off x="598000" y="504075"/>
            <a:ext cx="710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 sz="27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Visión holística</a:t>
            </a:r>
            <a:endParaRPr b="1" sz="27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1" name="Google Shape;1521;p101"/>
          <p:cNvSpPr/>
          <p:nvPr/>
        </p:nvSpPr>
        <p:spPr>
          <a:xfrm>
            <a:off x="3574625" y="470850"/>
            <a:ext cx="4262400" cy="4201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01"/>
          <p:cNvSpPr/>
          <p:nvPr/>
        </p:nvSpPr>
        <p:spPr>
          <a:xfrm>
            <a:off x="4193194" y="1064950"/>
            <a:ext cx="3109200" cy="30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01"/>
          <p:cNvSpPr/>
          <p:nvPr/>
        </p:nvSpPr>
        <p:spPr>
          <a:xfrm>
            <a:off x="5275330" y="2023374"/>
            <a:ext cx="962100" cy="9621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101"/>
          <p:cNvSpPr txBox="1"/>
          <p:nvPr/>
        </p:nvSpPr>
        <p:spPr>
          <a:xfrm>
            <a:off x="5376240" y="2474961"/>
            <a:ext cx="7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PEOPLE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25" name="Google Shape;1525;p101"/>
          <p:cNvGrpSpPr/>
          <p:nvPr/>
        </p:nvGrpSpPr>
        <p:grpSpPr>
          <a:xfrm>
            <a:off x="5620568" y="2195206"/>
            <a:ext cx="271685" cy="334547"/>
            <a:chOff x="3316000" y="4399325"/>
            <a:chExt cx="392325" cy="483100"/>
          </a:xfrm>
        </p:grpSpPr>
        <p:sp>
          <p:nvSpPr>
            <p:cNvPr id="1526" name="Google Shape;1526;p101"/>
            <p:cNvSpPr/>
            <p:nvPr/>
          </p:nvSpPr>
          <p:spPr>
            <a:xfrm>
              <a:off x="3316000" y="4399325"/>
              <a:ext cx="392325" cy="483100"/>
            </a:xfrm>
            <a:custGeom>
              <a:rect b="b" l="l" r="r" t="t"/>
              <a:pathLst>
                <a:path extrusionOk="0" h="19324" w="15693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27" name="Google Shape;1527;p101"/>
            <p:cNvSpPr/>
            <p:nvPr/>
          </p:nvSpPr>
          <p:spPr>
            <a:xfrm>
              <a:off x="3582300" y="4797475"/>
              <a:ext cx="56650" cy="28350"/>
            </a:xfrm>
            <a:custGeom>
              <a:rect b="b" l="l" r="r" t="t"/>
              <a:pathLst>
                <a:path extrusionOk="0" h="1134" w="2266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528" name="Google Shape;1528;p101"/>
          <p:cNvSpPr/>
          <p:nvPr/>
        </p:nvSpPr>
        <p:spPr>
          <a:xfrm>
            <a:off x="4579743" y="2683911"/>
            <a:ext cx="726300" cy="726300"/>
          </a:xfrm>
          <a:prstGeom prst="ellipse">
            <a:avLst/>
          </a:prstGeom>
          <a:solidFill>
            <a:srgbClr val="4BD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101"/>
          <p:cNvSpPr txBox="1"/>
          <p:nvPr/>
        </p:nvSpPr>
        <p:spPr>
          <a:xfrm>
            <a:off x="4539037" y="2895752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0" name="Google Shape;1530;p101"/>
          <p:cNvSpPr/>
          <p:nvPr/>
        </p:nvSpPr>
        <p:spPr>
          <a:xfrm>
            <a:off x="4419856" y="1804535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101"/>
          <p:cNvSpPr txBox="1"/>
          <p:nvPr/>
        </p:nvSpPr>
        <p:spPr>
          <a:xfrm>
            <a:off x="4379150" y="2016376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2" name="Google Shape;1532;p101"/>
          <p:cNvSpPr/>
          <p:nvPr/>
        </p:nvSpPr>
        <p:spPr>
          <a:xfrm>
            <a:off x="5379176" y="1164989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01"/>
          <p:cNvSpPr txBox="1"/>
          <p:nvPr/>
        </p:nvSpPr>
        <p:spPr>
          <a:xfrm>
            <a:off x="5352528" y="1313896"/>
            <a:ext cx="8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Gestión del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Cambio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4" name="Google Shape;1534;p101"/>
          <p:cNvSpPr/>
          <p:nvPr/>
        </p:nvSpPr>
        <p:spPr>
          <a:xfrm>
            <a:off x="6258552" y="1804535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101"/>
          <p:cNvSpPr txBox="1"/>
          <p:nvPr/>
        </p:nvSpPr>
        <p:spPr>
          <a:xfrm>
            <a:off x="6258548" y="1967898"/>
            <a:ext cx="7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Experimentación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6" name="Google Shape;1536;p101"/>
          <p:cNvSpPr/>
          <p:nvPr/>
        </p:nvSpPr>
        <p:spPr>
          <a:xfrm>
            <a:off x="5379176" y="3163571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101"/>
          <p:cNvSpPr txBox="1"/>
          <p:nvPr/>
        </p:nvSpPr>
        <p:spPr>
          <a:xfrm>
            <a:off x="5400844" y="3294745"/>
            <a:ext cx="6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/ Analítica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2" name="Google Shape;1542;p102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02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02"/>
          <p:cNvSpPr txBox="1"/>
          <p:nvPr>
            <p:ph type="ctrTitle"/>
          </p:nvPr>
        </p:nvSpPr>
        <p:spPr>
          <a:xfrm>
            <a:off x="598000" y="504075"/>
            <a:ext cx="710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 sz="27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Visión holística</a:t>
            </a:r>
            <a:endParaRPr b="1" sz="27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5" name="Google Shape;1545;p102"/>
          <p:cNvSpPr/>
          <p:nvPr/>
        </p:nvSpPr>
        <p:spPr>
          <a:xfrm>
            <a:off x="3574625" y="470850"/>
            <a:ext cx="4262400" cy="4201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102"/>
          <p:cNvSpPr/>
          <p:nvPr/>
        </p:nvSpPr>
        <p:spPr>
          <a:xfrm>
            <a:off x="4193194" y="1064950"/>
            <a:ext cx="3109200" cy="30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102"/>
          <p:cNvSpPr/>
          <p:nvPr/>
        </p:nvSpPr>
        <p:spPr>
          <a:xfrm>
            <a:off x="5275330" y="2023374"/>
            <a:ext cx="962100" cy="9621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102"/>
          <p:cNvSpPr txBox="1"/>
          <p:nvPr/>
        </p:nvSpPr>
        <p:spPr>
          <a:xfrm>
            <a:off x="5376240" y="2474961"/>
            <a:ext cx="7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PEOPLE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49" name="Google Shape;1549;p102"/>
          <p:cNvGrpSpPr/>
          <p:nvPr/>
        </p:nvGrpSpPr>
        <p:grpSpPr>
          <a:xfrm>
            <a:off x="5620568" y="2195206"/>
            <a:ext cx="271685" cy="334547"/>
            <a:chOff x="3316000" y="4399325"/>
            <a:chExt cx="392325" cy="483100"/>
          </a:xfrm>
        </p:grpSpPr>
        <p:sp>
          <p:nvSpPr>
            <p:cNvPr id="1550" name="Google Shape;1550;p102"/>
            <p:cNvSpPr/>
            <p:nvPr/>
          </p:nvSpPr>
          <p:spPr>
            <a:xfrm>
              <a:off x="3316000" y="4399325"/>
              <a:ext cx="392325" cy="483100"/>
            </a:xfrm>
            <a:custGeom>
              <a:rect b="b" l="l" r="r" t="t"/>
              <a:pathLst>
                <a:path extrusionOk="0" h="19324" w="15693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51" name="Google Shape;1551;p102"/>
            <p:cNvSpPr/>
            <p:nvPr/>
          </p:nvSpPr>
          <p:spPr>
            <a:xfrm>
              <a:off x="3582300" y="4797475"/>
              <a:ext cx="56650" cy="28350"/>
            </a:xfrm>
            <a:custGeom>
              <a:rect b="b" l="l" r="r" t="t"/>
              <a:pathLst>
                <a:path extrusionOk="0" h="1134" w="2266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552" name="Google Shape;1552;p102"/>
          <p:cNvSpPr/>
          <p:nvPr/>
        </p:nvSpPr>
        <p:spPr>
          <a:xfrm>
            <a:off x="4579743" y="2683911"/>
            <a:ext cx="726300" cy="726300"/>
          </a:xfrm>
          <a:prstGeom prst="ellipse">
            <a:avLst/>
          </a:prstGeom>
          <a:solidFill>
            <a:srgbClr val="4BD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102"/>
          <p:cNvSpPr txBox="1"/>
          <p:nvPr/>
        </p:nvSpPr>
        <p:spPr>
          <a:xfrm>
            <a:off x="4539037" y="2895752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4" name="Google Shape;1554;p102"/>
          <p:cNvSpPr/>
          <p:nvPr/>
        </p:nvSpPr>
        <p:spPr>
          <a:xfrm>
            <a:off x="6237525" y="2683911"/>
            <a:ext cx="726300" cy="726300"/>
          </a:xfrm>
          <a:prstGeom prst="ellipse">
            <a:avLst/>
          </a:prstGeom>
          <a:solidFill>
            <a:srgbClr val="4BD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102"/>
          <p:cNvSpPr txBox="1"/>
          <p:nvPr/>
        </p:nvSpPr>
        <p:spPr>
          <a:xfrm>
            <a:off x="6135272" y="2895752"/>
            <a:ext cx="9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6" name="Google Shape;1556;p102"/>
          <p:cNvSpPr/>
          <p:nvPr/>
        </p:nvSpPr>
        <p:spPr>
          <a:xfrm>
            <a:off x="4419856" y="1804535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02"/>
          <p:cNvSpPr txBox="1"/>
          <p:nvPr/>
        </p:nvSpPr>
        <p:spPr>
          <a:xfrm>
            <a:off x="4379150" y="2016376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8" name="Google Shape;1558;p102"/>
          <p:cNvSpPr/>
          <p:nvPr/>
        </p:nvSpPr>
        <p:spPr>
          <a:xfrm>
            <a:off x="5379176" y="1164989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02"/>
          <p:cNvSpPr txBox="1"/>
          <p:nvPr/>
        </p:nvSpPr>
        <p:spPr>
          <a:xfrm>
            <a:off x="5352528" y="1313896"/>
            <a:ext cx="8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Gestión del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Cambio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0" name="Google Shape;1560;p102"/>
          <p:cNvSpPr/>
          <p:nvPr/>
        </p:nvSpPr>
        <p:spPr>
          <a:xfrm>
            <a:off x="6258552" y="1804535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02"/>
          <p:cNvSpPr txBox="1"/>
          <p:nvPr/>
        </p:nvSpPr>
        <p:spPr>
          <a:xfrm>
            <a:off x="6258548" y="1967898"/>
            <a:ext cx="7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Experimentación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2" name="Google Shape;1562;p102"/>
          <p:cNvSpPr/>
          <p:nvPr/>
        </p:nvSpPr>
        <p:spPr>
          <a:xfrm>
            <a:off x="5379176" y="3163571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102"/>
          <p:cNvSpPr txBox="1"/>
          <p:nvPr/>
        </p:nvSpPr>
        <p:spPr>
          <a:xfrm>
            <a:off x="5400844" y="3294745"/>
            <a:ext cx="6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/ Analítica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Google Shape;1568;p103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03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03"/>
          <p:cNvSpPr txBox="1"/>
          <p:nvPr>
            <p:ph type="ctrTitle"/>
          </p:nvPr>
        </p:nvSpPr>
        <p:spPr>
          <a:xfrm>
            <a:off x="598000" y="504075"/>
            <a:ext cx="710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 sz="27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Visión holística</a:t>
            </a:r>
            <a:endParaRPr b="1" sz="27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1" name="Google Shape;1571;p103"/>
          <p:cNvSpPr/>
          <p:nvPr/>
        </p:nvSpPr>
        <p:spPr>
          <a:xfrm>
            <a:off x="3574625" y="470850"/>
            <a:ext cx="4262400" cy="4201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03"/>
          <p:cNvSpPr/>
          <p:nvPr/>
        </p:nvSpPr>
        <p:spPr>
          <a:xfrm>
            <a:off x="4193194" y="1064950"/>
            <a:ext cx="3109200" cy="30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03"/>
          <p:cNvSpPr txBox="1"/>
          <p:nvPr/>
        </p:nvSpPr>
        <p:spPr>
          <a:xfrm>
            <a:off x="5119810" y="4122444"/>
            <a:ext cx="1341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Gestión de proyectos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4" name="Google Shape;1574;p103"/>
          <p:cNvSpPr/>
          <p:nvPr/>
        </p:nvSpPr>
        <p:spPr>
          <a:xfrm>
            <a:off x="5275330" y="2023374"/>
            <a:ext cx="962100" cy="9621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03"/>
          <p:cNvSpPr txBox="1"/>
          <p:nvPr/>
        </p:nvSpPr>
        <p:spPr>
          <a:xfrm>
            <a:off x="5376240" y="2474961"/>
            <a:ext cx="7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PEOPLE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76" name="Google Shape;1576;p103"/>
          <p:cNvGrpSpPr/>
          <p:nvPr/>
        </p:nvGrpSpPr>
        <p:grpSpPr>
          <a:xfrm>
            <a:off x="5620568" y="2195206"/>
            <a:ext cx="271685" cy="334547"/>
            <a:chOff x="3316000" y="4399325"/>
            <a:chExt cx="392325" cy="483100"/>
          </a:xfrm>
        </p:grpSpPr>
        <p:sp>
          <p:nvSpPr>
            <p:cNvPr id="1577" name="Google Shape;1577;p103"/>
            <p:cNvSpPr/>
            <p:nvPr/>
          </p:nvSpPr>
          <p:spPr>
            <a:xfrm>
              <a:off x="3316000" y="4399325"/>
              <a:ext cx="392325" cy="483100"/>
            </a:xfrm>
            <a:custGeom>
              <a:rect b="b" l="l" r="r" t="t"/>
              <a:pathLst>
                <a:path extrusionOk="0" h="19324" w="15693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78" name="Google Shape;1578;p103"/>
            <p:cNvSpPr/>
            <p:nvPr/>
          </p:nvSpPr>
          <p:spPr>
            <a:xfrm>
              <a:off x="3582300" y="4797475"/>
              <a:ext cx="56650" cy="28350"/>
            </a:xfrm>
            <a:custGeom>
              <a:rect b="b" l="l" r="r" t="t"/>
              <a:pathLst>
                <a:path extrusionOk="0" h="1134" w="2266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579" name="Google Shape;1579;p103"/>
          <p:cNvSpPr/>
          <p:nvPr/>
        </p:nvSpPr>
        <p:spPr>
          <a:xfrm>
            <a:off x="4579743" y="2683911"/>
            <a:ext cx="726300" cy="726300"/>
          </a:xfrm>
          <a:prstGeom prst="ellipse">
            <a:avLst/>
          </a:prstGeom>
          <a:solidFill>
            <a:srgbClr val="4BD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03"/>
          <p:cNvSpPr txBox="1"/>
          <p:nvPr/>
        </p:nvSpPr>
        <p:spPr>
          <a:xfrm>
            <a:off x="4539037" y="2895752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1" name="Google Shape;1581;p103"/>
          <p:cNvSpPr/>
          <p:nvPr/>
        </p:nvSpPr>
        <p:spPr>
          <a:xfrm>
            <a:off x="6237525" y="2683911"/>
            <a:ext cx="726300" cy="726300"/>
          </a:xfrm>
          <a:prstGeom prst="ellipse">
            <a:avLst/>
          </a:prstGeom>
          <a:solidFill>
            <a:srgbClr val="4BD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03"/>
          <p:cNvSpPr txBox="1"/>
          <p:nvPr/>
        </p:nvSpPr>
        <p:spPr>
          <a:xfrm>
            <a:off x="6135272" y="2895752"/>
            <a:ext cx="9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3" name="Google Shape;1583;p103"/>
          <p:cNvSpPr/>
          <p:nvPr/>
        </p:nvSpPr>
        <p:spPr>
          <a:xfrm>
            <a:off x="4419856" y="1804535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103"/>
          <p:cNvSpPr txBox="1"/>
          <p:nvPr/>
        </p:nvSpPr>
        <p:spPr>
          <a:xfrm>
            <a:off x="4379150" y="2016376"/>
            <a:ext cx="8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5" name="Google Shape;1585;p103"/>
          <p:cNvSpPr/>
          <p:nvPr/>
        </p:nvSpPr>
        <p:spPr>
          <a:xfrm>
            <a:off x="5379176" y="1164989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03"/>
          <p:cNvSpPr txBox="1"/>
          <p:nvPr/>
        </p:nvSpPr>
        <p:spPr>
          <a:xfrm>
            <a:off x="5352528" y="1313896"/>
            <a:ext cx="8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Gestión del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Cambio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7" name="Google Shape;1587;p103"/>
          <p:cNvSpPr/>
          <p:nvPr/>
        </p:nvSpPr>
        <p:spPr>
          <a:xfrm>
            <a:off x="6258552" y="1804535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03"/>
          <p:cNvSpPr txBox="1"/>
          <p:nvPr/>
        </p:nvSpPr>
        <p:spPr>
          <a:xfrm>
            <a:off x="6258548" y="1967898"/>
            <a:ext cx="7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Experimentación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9" name="Google Shape;1589;p103"/>
          <p:cNvSpPr/>
          <p:nvPr/>
        </p:nvSpPr>
        <p:spPr>
          <a:xfrm>
            <a:off x="5379176" y="3163571"/>
            <a:ext cx="726300" cy="726300"/>
          </a:xfrm>
          <a:prstGeom prst="ellipse">
            <a:avLst/>
          </a:prstGeom>
          <a:solidFill>
            <a:srgbClr val="21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03"/>
          <p:cNvSpPr txBox="1"/>
          <p:nvPr/>
        </p:nvSpPr>
        <p:spPr>
          <a:xfrm>
            <a:off x="5400844" y="3294745"/>
            <a:ext cx="6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/ Analítica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1" name="Google Shape;1591;p103"/>
          <p:cNvSpPr/>
          <p:nvPr/>
        </p:nvSpPr>
        <p:spPr>
          <a:xfrm>
            <a:off x="1120300" y="2472625"/>
            <a:ext cx="1364700" cy="1125000"/>
          </a:xfrm>
          <a:prstGeom prst="roundRect">
            <a:avLst>
              <a:gd fmla="val 13631" name="adj"/>
            </a:avLst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2" name="Google Shape;1592;p103"/>
          <p:cNvGrpSpPr/>
          <p:nvPr/>
        </p:nvGrpSpPr>
        <p:grpSpPr>
          <a:xfrm>
            <a:off x="754407" y="1317752"/>
            <a:ext cx="1018847" cy="1018847"/>
            <a:chOff x="176550" y="40175"/>
            <a:chExt cx="1125300" cy="1125300"/>
          </a:xfrm>
        </p:grpSpPr>
        <p:sp>
          <p:nvSpPr>
            <p:cNvPr id="1593" name="Google Shape;1593;p103"/>
            <p:cNvSpPr/>
            <p:nvPr/>
          </p:nvSpPr>
          <p:spPr>
            <a:xfrm>
              <a:off x="176550" y="40175"/>
              <a:ext cx="1125300" cy="11253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03"/>
            <p:cNvSpPr/>
            <p:nvPr/>
          </p:nvSpPr>
          <p:spPr>
            <a:xfrm>
              <a:off x="270000" y="142350"/>
              <a:ext cx="949200" cy="9426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5" name="Google Shape;1595;p103"/>
            <p:cNvPicPr preferRelativeResize="0"/>
            <p:nvPr/>
          </p:nvPicPr>
          <p:blipFill rotWithShape="1">
            <a:blip r:embed="rId5">
              <a:alphaModFix/>
            </a:blip>
            <a:srcRect b="39998" l="-20805" r="-19112" t="-2350"/>
            <a:stretch/>
          </p:blipFill>
          <p:spPr>
            <a:xfrm>
              <a:off x="283500" y="80250"/>
              <a:ext cx="911400" cy="1004700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596" name="Google Shape;1596;p103"/>
          <p:cNvSpPr txBox="1"/>
          <p:nvPr/>
        </p:nvSpPr>
        <p:spPr>
          <a:xfrm>
            <a:off x="1256618" y="2575213"/>
            <a:ext cx="116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Balance en todas estas dimensiones</a:t>
            </a: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7" name="Google Shape;1597;p103"/>
          <p:cNvSpPr/>
          <p:nvPr/>
        </p:nvSpPr>
        <p:spPr>
          <a:xfrm>
            <a:off x="1120300" y="2410488"/>
            <a:ext cx="234575" cy="225900"/>
          </a:xfrm>
          <a:custGeom>
            <a:rect b="b" l="l" r="r" t="t"/>
            <a:pathLst>
              <a:path extrusionOk="0" h="9036" w="9383">
                <a:moveTo>
                  <a:pt x="0" y="0"/>
                </a:moveTo>
                <a:lnTo>
                  <a:pt x="0" y="9036"/>
                </a:lnTo>
                <a:lnTo>
                  <a:pt x="9383" y="278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89A"/>
        </a:solidFill>
      </p:bgPr>
    </p:bg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Google Shape;1602;p104"/>
          <p:cNvPicPr preferRelativeResize="0"/>
          <p:nvPr/>
        </p:nvPicPr>
        <p:blipFill rotWithShape="1">
          <a:blip r:embed="rId3">
            <a:alphaModFix amt="36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" name="Google Shape;1603;p104"/>
          <p:cNvPicPr preferRelativeResize="0"/>
          <p:nvPr/>
        </p:nvPicPr>
        <p:blipFill rotWithShape="1">
          <a:blip r:embed="rId4">
            <a:alphaModFix amt="74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104"/>
          <p:cNvSpPr txBox="1"/>
          <p:nvPr/>
        </p:nvSpPr>
        <p:spPr>
          <a:xfrm>
            <a:off x="1886650" y="1806275"/>
            <a:ext cx="5994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39D4FB"/>
                </a:solidFill>
                <a:latin typeface="Montserrat"/>
                <a:ea typeface="Montserrat"/>
                <a:cs typeface="Montserrat"/>
                <a:sym typeface="Montserrat"/>
              </a:rPr>
              <a:t>Entregables</a:t>
            </a:r>
            <a:r>
              <a:rPr b="1" lang="es"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" sz="6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clave</a:t>
            </a:r>
            <a:endParaRPr b="1" sz="6500">
              <a:solidFill>
                <a:srgbClr val="39D4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5" name="Google Shape;1605;p104"/>
          <p:cNvSpPr txBox="1"/>
          <p:nvPr/>
        </p:nvSpPr>
        <p:spPr>
          <a:xfrm>
            <a:off x="-135350" y="-551375"/>
            <a:ext cx="2988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5000">
                <a:solidFill>
                  <a:srgbClr val="00338B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i="1" sz="15000">
              <a:solidFill>
                <a:srgbClr val="0033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105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Flujo de trabajo end to end (funcional)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106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Flujo de trabajo end to end (funcional)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16" name="Google Shape;1616;p106"/>
          <p:cNvGrpSpPr/>
          <p:nvPr/>
        </p:nvGrpSpPr>
        <p:grpSpPr>
          <a:xfrm>
            <a:off x="124774" y="2469021"/>
            <a:ext cx="1033500" cy="1205100"/>
            <a:chOff x="701024" y="2020496"/>
            <a:chExt cx="1033500" cy="1205100"/>
          </a:xfrm>
        </p:grpSpPr>
        <p:sp>
          <p:nvSpPr>
            <p:cNvPr id="1617" name="Google Shape;1617;p106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18" name="Google Shape;1618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9" name="Google Shape;1619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1" name="Google Shape;1621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2" name="Google Shape;1622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3" name="Google Shape;1623;p106"/>
          <p:cNvSpPr txBox="1"/>
          <p:nvPr/>
        </p:nvSpPr>
        <p:spPr>
          <a:xfrm>
            <a:off x="124844" y="2124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24" name="Google Shape;1624;p106"/>
          <p:cNvGrpSpPr/>
          <p:nvPr/>
        </p:nvGrpSpPr>
        <p:grpSpPr>
          <a:xfrm>
            <a:off x="1561008" y="2455820"/>
            <a:ext cx="1144081" cy="1218348"/>
            <a:chOff x="2365858" y="2007295"/>
            <a:chExt cx="1144081" cy="1218348"/>
          </a:xfrm>
        </p:grpSpPr>
        <p:pic>
          <p:nvPicPr>
            <p:cNvPr id="1625" name="Google Shape;16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5858" y="2007295"/>
              <a:ext cx="1144081" cy="1218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6" name="Google Shape;1626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5232" y="2194966"/>
              <a:ext cx="715645" cy="715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7" name="Google Shape;1627;p106"/>
          <p:cNvSpPr txBox="1"/>
          <p:nvPr/>
        </p:nvSpPr>
        <p:spPr>
          <a:xfrm>
            <a:off x="1560977" y="2124651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Raw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28" name="Google Shape;1628;p106"/>
          <p:cNvGrpSpPr/>
          <p:nvPr/>
        </p:nvGrpSpPr>
        <p:grpSpPr>
          <a:xfrm>
            <a:off x="3051780" y="2421845"/>
            <a:ext cx="1224491" cy="1179716"/>
            <a:chOff x="4161430" y="1973320"/>
            <a:chExt cx="1224491" cy="1179716"/>
          </a:xfrm>
        </p:grpSpPr>
        <p:pic>
          <p:nvPicPr>
            <p:cNvPr id="1629" name="Google Shape;1629;p10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61430" y="1973320"/>
              <a:ext cx="1224491" cy="117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0" name="Google Shape;1630;p10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93723" y="2212327"/>
              <a:ext cx="701694" cy="7016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1" name="Google Shape;1631;p106"/>
          <p:cNvSpPr txBox="1"/>
          <p:nvPr/>
        </p:nvSpPr>
        <p:spPr>
          <a:xfrm>
            <a:off x="3055475" y="2124651"/>
            <a:ext cx="12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Master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2" name="Google Shape;1632;p106"/>
          <p:cNvSpPr/>
          <p:nvPr/>
        </p:nvSpPr>
        <p:spPr>
          <a:xfrm>
            <a:off x="1203938" y="2883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106"/>
          <p:cNvSpPr/>
          <p:nvPr/>
        </p:nvSpPr>
        <p:spPr>
          <a:xfrm>
            <a:off x="2694896" y="2883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4" name="Google Shape;1634;p106"/>
          <p:cNvGrpSpPr/>
          <p:nvPr/>
        </p:nvGrpSpPr>
        <p:grpSpPr>
          <a:xfrm>
            <a:off x="4658595" y="2488567"/>
            <a:ext cx="1183545" cy="1185698"/>
            <a:chOff x="3805475" y="1867375"/>
            <a:chExt cx="2337175" cy="2341425"/>
          </a:xfrm>
        </p:grpSpPr>
        <p:pic>
          <p:nvPicPr>
            <p:cNvPr id="1635" name="Google Shape;1635;p10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805475" y="1867375"/>
              <a:ext cx="2337175" cy="234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6" name="Google Shape;1636;p10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079675" y="2447900"/>
              <a:ext cx="1615200" cy="133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7" name="Google Shape;1637;p106"/>
          <p:cNvSpPr txBox="1"/>
          <p:nvPr/>
        </p:nvSpPr>
        <p:spPr>
          <a:xfrm>
            <a:off x="4479065" y="2032251"/>
            <a:ext cx="154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8" name="Google Shape;1638;p106"/>
          <p:cNvSpPr/>
          <p:nvPr/>
        </p:nvSpPr>
        <p:spPr>
          <a:xfrm>
            <a:off x="4262054" y="28801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9" name="Google Shape;1639;p106"/>
          <p:cNvGrpSpPr/>
          <p:nvPr/>
        </p:nvGrpSpPr>
        <p:grpSpPr>
          <a:xfrm>
            <a:off x="5867593" y="2678152"/>
            <a:ext cx="732655" cy="655114"/>
            <a:chOff x="5812500" y="2149403"/>
            <a:chExt cx="1064906" cy="952200"/>
          </a:xfrm>
        </p:grpSpPr>
        <p:sp>
          <p:nvSpPr>
            <p:cNvPr id="1640" name="Google Shape;1640;p106"/>
            <p:cNvSpPr/>
            <p:nvPr/>
          </p:nvSpPr>
          <p:spPr>
            <a:xfrm rot="8100000">
              <a:off x="6071228" y="2282273"/>
              <a:ext cx="660155" cy="686459"/>
            </a:xfrm>
            <a:prstGeom prst="leftUpArrow">
              <a:avLst/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06"/>
            <p:cNvSpPr/>
            <p:nvPr/>
          </p:nvSpPr>
          <p:spPr>
            <a:xfrm>
              <a:off x="5812500" y="2443100"/>
              <a:ext cx="443100" cy="364800"/>
            </a:xfrm>
            <a:prstGeom prst="rightArrow">
              <a:avLst>
                <a:gd fmla="val 50000" name="adj1"/>
                <a:gd fmla="val 0" name="adj2"/>
              </a:avLst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07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Flujo de trabajo end to end (funcional)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47" name="Google Shape;1647;p107"/>
          <p:cNvGrpSpPr/>
          <p:nvPr/>
        </p:nvGrpSpPr>
        <p:grpSpPr>
          <a:xfrm>
            <a:off x="124774" y="2469021"/>
            <a:ext cx="1033500" cy="1205100"/>
            <a:chOff x="701024" y="2020496"/>
            <a:chExt cx="1033500" cy="1205100"/>
          </a:xfrm>
        </p:grpSpPr>
        <p:sp>
          <p:nvSpPr>
            <p:cNvPr id="1648" name="Google Shape;1648;p107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49" name="Google Shape;1649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0" name="Google Shape;1650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1" name="Google Shape;1651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2" name="Google Shape;1652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3" name="Google Shape;1653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4" name="Google Shape;1654;p107"/>
          <p:cNvSpPr txBox="1"/>
          <p:nvPr/>
        </p:nvSpPr>
        <p:spPr>
          <a:xfrm>
            <a:off x="124844" y="2124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55" name="Google Shape;1655;p107"/>
          <p:cNvGrpSpPr/>
          <p:nvPr/>
        </p:nvGrpSpPr>
        <p:grpSpPr>
          <a:xfrm>
            <a:off x="1561008" y="2455820"/>
            <a:ext cx="1144081" cy="1218348"/>
            <a:chOff x="2365858" y="2007295"/>
            <a:chExt cx="1144081" cy="1218348"/>
          </a:xfrm>
        </p:grpSpPr>
        <p:pic>
          <p:nvPicPr>
            <p:cNvPr id="1656" name="Google Shape;1656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5858" y="2007295"/>
              <a:ext cx="1144081" cy="1218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7" name="Google Shape;1657;p10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5232" y="2194966"/>
              <a:ext cx="715645" cy="715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8" name="Google Shape;1658;p107"/>
          <p:cNvSpPr txBox="1"/>
          <p:nvPr/>
        </p:nvSpPr>
        <p:spPr>
          <a:xfrm>
            <a:off x="1560977" y="2124651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Raw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59" name="Google Shape;1659;p107"/>
          <p:cNvGrpSpPr/>
          <p:nvPr/>
        </p:nvGrpSpPr>
        <p:grpSpPr>
          <a:xfrm>
            <a:off x="3051780" y="2421845"/>
            <a:ext cx="1224491" cy="1179716"/>
            <a:chOff x="4161430" y="1973320"/>
            <a:chExt cx="1224491" cy="1179716"/>
          </a:xfrm>
        </p:grpSpPr>
        <p:pic>
          <p:nvPicPr>
            <p:cNvPr id="1660" name="Google Shape;1660;p10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61430" y="1973320"/>
              <a:ext cx="1224491" cy="117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1" name="Google Shape;1661;p10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93723" y="2212327"/>
              <a:ext cx="701694" cy="7016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2" name="Google Shape;1662;p107"/>
          <p:cNvSpPr txBox="1"/>
          <p:nvPr/>
        </p:nvSpPr>
        <p:spPr>
          <a:xfrm>
            <a:off x="3055475" y="2124651"/>
            <a:ext cx="12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Master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3" name="Google Shape;1663;p107"/>
          <p:cNvSpPr/>
          <p:nvPr/>
        </p:nvSpPr>
        <p:spPr>
          <a:xfrm>
            <a:off x="1203938" y="2883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107"/>
          <p:cNvSpPr/>
          <p:nvPr/>
        </p:nvSpPr>
        <p:spPr>
          <a:xfrm>
            <a:off x="2694896" y="2883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5" name="Google Shape;1665;p107"/>
          <p:cNvGrpSpPr/>
          <p:nvPr/>
        </p:nvGrpSpPr>
        <p:grpSpPr>
          <a:xfrm>
            <a:off x="4658595" y="2488567"/>
            <a:ext cx="1183545" cy="1185698"/>
            <a:chOff x="3805475" y="1867375"/>
            <a:chExt cx="2337175" cy="2341425"/>
          </a:xfrm>
        </p:grpSpPr>
        <p:pic>
          <p:nvPicPr>
            <p:cNvPr id="1666" name="Google Shape;1666;p10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805475" y="1867375"/>
              <a:ext cx="2337175" cy="234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7" name="Google Shape;1667;p10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079675" y="2447900"/>
              <a:ext cx="1615200" cy="133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8" name="Google Shape;1668;p107"/>
          <p:cNvSpPr txBox="1"/>
          <p:nvPr/>
        </p:nvSpPr>
        <p:spPr>
          <a:xfrm>
            <a:off x="4479065" y="2032251"/>
            <a:ext cx="154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9" name="Google Shape;1669;p107"/>
          <p:cNvSpPr/>
          <p:nvPr/>
        </p:nvSpPr>
        <p:spPr>
          <a:xfrm>
            <a:off x="4262054" y="28801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0" name="Google Shape;1670;p107"/>
          <p:cNvGrpSpPr/>
          <p:nvPr/>
        </p:nvGrpSpPr>
        <p:grpSpPr>
          <a:xfrm>
            <a:off x="5867593" y="2678152"/>
            <a:ext cx="732655" cy="655114"/>
            <a:chOff x="5812500" y="2149403"/>
            <a:chExt cx="1064906" cy="952200"/>
          </a:xfrm>
        </p:grpSpPr>
        <p:sp>
          <p:nvSpPr>
            <p:cNvPr id="1671" name="Google Shape;1671;p107"/>
            <p:cNvSpPr/>
            <p:nvPr/>
          </p:nvSpPr>
          <p:spPr>
            <a:xfrm rot="8100000">
              <a:off x="6071228" y="2282273"/>
              <a:ext cx="660155" cy="686459"/>
            </a:xfrm>
            <a:prstGeom prst="leftUpArrow">
              <a:avLst/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07"/>
            <p:cNvSpPr/>
            <p:nvPr/>
          </p:nvSpPr>
          <p:spPr>
            <a:xfrm>
              <a:off x="5812500" y="2443100"/>
              <a:ext cx="443100" cy="364800"/>
            </a:xfrm>
            <a:prstGeom prst="rightArrow">
              <a:avLst>
                <a:gd fmla="val 50000" name="adj1"/>
                <a:gd fmla="val 0" name="adj2"/>
              </a:avLst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3" name="Google Shape;1673;p107"/>
          <p:cNvSpPr txBox="1"/>
          <p:nvPr/>
        </p:nvSpPr>
        <p:spPr>
          <a:xfrm>
            <a:off x="7692181" y="1071101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4" name="Google Shape;1674;p10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54775" y="1609557"/>
            <a:ext cx="1094550" cy="10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10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48400" y="150495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07"/>
          <p:cNvSpPr txBox="1"/>
          <p:nvPr/>
        </p:nvSpPr>
        <p:spPr>
          <a:xfrm>
            <a:off x="6015781" y="1071101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Maqueta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7" name="Google Shape;1677;p107"/>
          <p:cNvSpPr/>
          <p:nvPr/>
        </p:nvSpPr>
        <p:spPr>
          <a:xfrm>
            <a:off x="7462454" y="19657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08"/>
          <p:cNvSpPr txBox="1"/>
          <p:nvPr/>
        </p:nvSpPr>
        <p:spPr>
          <a:xfrm>
            <a:off x="559174" y="500725"/>
            <a:ext cx="79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Flujo de trabajo end to end (funcional)</a:t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83" name="Google Shape;1683;p108"/>
          <p:cNvGrpSpPr/>
          <p:nvPr/>
        </p:nvGrpSpPr>
        <p:grpSpPr>
          <a:xfrm>
            <a:off x="124774" y="2469021"/>
            <a:ext cx="1033500" cy="1205100"/>
            <a:chOff x="701024" y="2020496"/>
            <a:chExt cx="1033500" cy="1205100"/>
          </a:xfrm>
        </p:grpSpPr>
        <p:sp>
          <p:nvSpPr>
            <p:cNvPr id="1684" name="Google Shape;1684;p108"/>
            <p:cNvSpPr/>
            <p:nvPr/>
          </p:nvSpPr>
          <p:spPr>
            <a:xfrm>
              <a:off x="701024" y="2020496"/>
              <a:ext cx="1033500" cy="1205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85" name="Google Shape;1685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3398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6" name="Google Shape;1686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4074" y="2135286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7" name="Google Shape;1687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3398" y="2425511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8" name="Google Shape;1688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4074" y="2425505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9" name="Google Shape;1689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12626" y="2740218"/>
              <a:ext cx="208246" cy="237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0" name="Google Shape;1690;p108"/>
          <p:cNvSpPr txBox="1"/>
          <p:nvPr/>
        </p:nvSpPr>
        <p:spPr>
          <a:xfrm>
            <a:off x="124844" y="2124651"/>
            <a:ext cx="10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Fuentes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91" name="Google Shape;1691;p108"/>
          <p:cNvGrpSpPr/>
          <p:nvPr/>
        </p:nvGrpSpPr>
        <p:grpSpPr>
          <a:xfrm>
            <a:off x="1561008" y="2455820"/>
            <a:ext cx="1144081" cy="1218348"/>
            <a:chOff x="2365858" y="2007295"/>
            <a:chExt cx="1144081" cy="1218348"/>
          </a:xfrm>
        </p:grpSpPr>
        <p:pic>
          <p:nvPicPr>
            <p:cNvPr id="1692" name="Google Shape;1692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5858" y="2007295"/>
              <a:ext cx="1144081" cy="1218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3" name="Google Shape;1693;p10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5232" y="2194966"/>
              <a:ext cx="715645" cy="715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4" name="Google Shape;1694;p108"/>
          <p:cNvSpPr txBox="1"/>
          <p:nvPr/>
        </p:nvSpPr>
        <p:spPr>
          <a:xfrm>
            <a:off x="1560977" y="2124651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Raw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95" name="Google Shape;1695;p108"/>
          <p:cNvGrpSpPr/>
          <p:nvPr/>
        </p:nvGrpSpPr>
        <p:grpSpPr>
          <a:xfrm>
            <a:off x="3051780" y="2421845"/>
            <a:ext cx="1224491" cy="1179716"/>
            <a:chOff x="4161430" y="1973320"/>
            <a:chExt cx="1224491" cy="1179716"/>
          </a:xfrm>
        </p:grpSpPr>
        <p:pic>
          <p:nvPicPr>
            <p:cNvPr id="1696" name="Google Shape;1696;p10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61430" y="1973320"/>
              <a:ext cx="1224491" cy="117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7" name="Google Shape;1697;p10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93723" y="2212327"/>
              <a:ext cx="701694" cy="7016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8" name="Google Shape;1698;p108"/>
          <p:cNvSpPr txBox="1"/>
          <p:nvPr/>
        </p:nvSpPr>
        <p:spPr>
          <a:xfrm>
            <a:off x="3055475" y="2124651"/>
            <a:ext cx="12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Master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9" name="Google Shape;1699;p108"/>
          <p:cNvSpPr/>
          <p:nvPr/>
        </p:nvSpPr>
        <p:spPr>
          <a:xfrm>
            <a:off x="1203938" y="2883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108"/>
          <p:cNvSpPr/>
          <p:nvPr/>
        </p:nvSpPr>
        <p:spPr>
          <a:xfrm>
            <a:off x="2694896" y="2883609"/>
            <a:ext cx="3987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1" name="Google Shape;1701;p108"/>
          <p:cNvGrpSpPr/>
          <p:nvPr/>
        </p:nvGrpSpPr>
        <p:grpSpPr>
          <a:xfrm>
            <a:off x="4658595" y="2488567"/>
            <a:ext cx="1183545" cy="1185698"/>
            <a:chOff x="3805475" y="1867375"/>
            <a:chExt cx="2337175" cy="2341425"/>
          </a:xfrm>
        </p:grpSpPr>
        <p:pic>
          <p:nvPicPr>
            <p:cNvPr id="1702" name="Google Shape;1702;p10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805475" y="1867375"/>
              <a:ext cx="2337175" cy="234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3" name="Google Shape;1703;p10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079675" y="2447900"/>
              <a:ext cx="1615200" cy="133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4" name="Google Shape;1704;p108"/>
          <p:cNvSpPr txBox="1"/>
          <p:nvPr/>
        </p:nvSpPr>
        <p:spPr>
          <a:xfrm>
            <a:off x="4479065" y="2032251"/>
            <a:ext cx="154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Capa de Explotación</a:t>
            </a:r>
            <a:endParaRPr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5" name="Google Shape;1705;p108"/>
          <p:cNvSpPr/>
          <p:nvPr/>
        </p:nvSpPr>
        <p:spPr>
          <a:xfrm>
            <a:off x="4262054" y="28801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6" name="Google Shape;1706;p108"/>
          <p:cNvGrpSpPr/>
          <p:nvPr/>
        </p:nvGrpSpPr>
        <p:grpSpPr>
          <a:xfrm>
            <a:off x="5867593" y="2678152"/>
            <a:ext cx="732655" cy="655114"/>
            <a:chOff x="5812500" y="2149403"/>
            <a:chExt cx="1064906" cy="952200"/>
          </a:xfrm>
        </p:grpSpPr>
        <p:sp>
          <p:nvSpPr>
            <p:cNvPr id="1707" name="Google Shape;1707;p108"/>
            <p:cNvSpPr/>
            <p:nvPr/>
          </p:nvSpPr>
          <p:spPr>
            <a:xfrm rot="8100000">
              <a:off x="6071228" y="2282273"/>
              <a:ext cx="660155" cy="686459"/>
            </a:xfrm>
            <a:prstGeom prst="leftUpArrow">
              <a:avLst/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108"/>
            <p:cNvSpPr/>
            <p:nvPr/>
          </p:nvSpPr>
          <p:spPr>
            <a:xfrm>
              <a:off x="5812500" y="2443100"/>
              <a:ext cx="443100" cy="364800"/>
            </a:xfrm>
            <a:prstGeom prst="rightArrow">
              <a:avLst>
                <a:gd fmla="val 50000" name="adj1"/>
                <a:gd fmla="val 0" name="adj2"/>
              </a:avLst>
            </a:prstGeom>
            <a:solidFill>
              <a:srgbClr val="D9EC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9" name="Google Shape;1709;p108"/>
          <p:cNvSpPr txBox="1"/>
          <p:nvPr/>
        </p:nvSpPr>
        <p:spPr>
          <a:xfrm>
            <a:off x="7692181" y="1071101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0" name="Google Shape;1710;p10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54775" y="1609557"/>
            <a:ext cx="1094550" cy="10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10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48400" y="150495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108"/>
          <p:cNvSpPr txBox="1"/>
          <p:nvPr/>
        </p:nvSpPr>
        <p:spPr>
          <a:xfrm>
            <a:off x="6015781" y="1071101"/>
            <a:ext cx="16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Maqueta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3" name="Google Shape;1713;p108"/>
          <p:cNvSpPr/>
          <p:nvPr/>
        </p:nvSpPr>
        <p:spPr>
          <a:xfrm>
            <a:off x="7462454" y="19657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4" name="Google Shape;1714;p108"/>
          <p:cNvGrpSpPr/>
          <p:nvPr/>
        </p:nvGrpSpPr>
        <p:grpSpPr>
          <a:xfrm>
            <a:off x="6206458" y="3338139"/>
            <a:ext cx="1270208" cy="1231864"/>
            <a:chOff x="3911647" y="1740112"/>
            <a:chExt cx="1664100" cy="1652400"/>
          </a:xfrm>
        </p:grpSpPr>
        <p:sp>
          <p:nvSpPr>
            <p:cNvPr id="1715" name="Google Shape;1715;p108"/>
            <p:cNvSpPr/>
            <p:nvPr/>
          </p:nvSpPr>
          <p:spPr>
            <a:xfrm>
              <a:off x="3911647" y="1740112"/>
              <a:ext cx="1664100" cy="1652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CFE2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6" name="Google Shape;1716;p10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981557" y="1864356"/>
              <a:ext cx="1524338" cy="14158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17" name="Google Shape;1717;p108"/>
            <p:cNvCxnSpPr/>
            <p:nvPr/>
          </p:nvCxnSpPr>
          <p:spPr>
            <a:xfrm rot="10800000">
              <a:off x="4636223" y="3392427"/>
              <a:ext cx="223800" cy="0"/>
            </a:xfrm>
            <a:prstGeom prst="straightConnector1">
              <a:avLst/>
            </a:prstGeom>
            <a:noFill/>
            <a:ln cap="flat" cmpd="sng" w="28575">
              <a:solidFill>
                <a:srgbClr val="CFE2F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18" name="Google Shape;1718;p108"/>
          <p:cNvSpPr txBox="1"/>
          <p:nvPr/>
        </p:nvSpPr>
        <p:spPr>
          <a:xfrm>
            <a:off x="5945182" y="4645183"/>
            <a:ext cx="1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Modelo Analítico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9" name="Google Shape;1719;p10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858899" y="3261295"/>
            <a:ext cx="1270224" cy="1231878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108"/>
          <p:cNvSpPr txBox="1"/>
          <p:nvPr/>
        </p:nvSpPr>
        <p:spPr>
          <a:xfrm>
            <a:off x="7824352" y="4622037"/>
            <a:ext cx="13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1" name="Google Shape;1721;p108"/>
          <p:cNvSpPr/>
          <p:nvPr/>
        </p:nvSpPr>
        <p:spPr>
          <a:xfrm>
            <a:off x="7538654" y="3794559"/>
            <a:ext cx="409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89A"/>
        </a:solidFill>
      </p:bgPr>
    </p:bg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6" name="Google Shape;1726;p109"/>
          <p:cNvPicPr preferRelativeResize="0"/>
          <p:nvPr/>
        </p:nvPicPr>
        <p:blipFill rotWithShape="1">
          <a:blip r:embed="rId3">
            <a:alphaModFix amt="36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109"/>
          <p:cNvPicPr preferRelativeResize="0"/>
          <p:nvPr/>
        </p:nvPicPr>
        <p:blipFill rotWithShape="1">
          <a:blip r:embed="rId4">
            <a:alphaModFix amt="74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109"/>
          <p:cNvSpPr txBox="1"/>
          <p:nvPr/>
        </p:nvSpPr>
        <p:spPr>
          <a:xfrm>
            <a:off x="1886650" y="1882475"/>
            <a:ext cx="5776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39D4FB"/>
                </a:solidFill>
                <a:latin typeface="Montserrat"/>
                <a:ea typeface="Montserrat"/>
                <a:cs typeface="Montserrat"/>
                <a:sym typeface="Montserrat"/>
              </a:rPr>
              <a:t>Caso </a:t>
            </a:r>
            <a:endParaRPr b="1" sz="6500">
              <a:solidFill>
                <a:srgbClr val="39D4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Práctico</a:t>
            </a:r>
            <a:endParaRPr b="1" sz="6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9" name="Google Shape;1729;p109"/>
          <p:cNvSpPr txBox="1"/>
          <p:nvPr/>
        </p:nvSpPr>
        <p:spPr>
          <a:xfrm>
            <a:off x="-135350" y="-551375"/>
            <a:ext cx="2988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5000">
                <a:solidFill>
                  <a:srgbClr val="00338B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i="1" sz="15000">
              <a:solidFill>
                <a:srgbClr val="0033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4" name="Google Shape;1734;p110"/>
          <p:cNvPicPr preferRelativeResize="0"/>
          <p:nvPr/>
        </p:nvPicPr>
        <p:blipFill rotWithShape="1">
          <a:blip r:embed="rId3">
            <a:alphaModFix amt="39000"/>
          </a:blip>
          <a:srcRect b="0" l="7543" r="49545" t="0"/>
          <a:stretch/>
        </p:blipFill>
        <p:spPr>
          <a:xfrm>
            <a:off x="8022001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110"/>
          <p:cNvPicPr preferRelativeResize="0"/>
          <p:nvPr/>
        </p:nvPicPr>
        <p:blipFill rotWithShape="1">
          <a:blip r:embed="rId4">
            <a:alphaModFix amt="36000"/>
          </a:blip>
          <a:srcRect b="0" l="49888" r="7200" t="0"/>
          <a:stretch/>
        </p:blipFill>
        <p:spPr>
          <a:xfrm>
            <a:off x="8457025" y="4423200"/>
            <a:ext cx="440874" cy="5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6" name="Google Shape;1736;p110"/>
          <p:cNvSpPr txBox="1"/>
          <p:nvPr>
            <p:ph idx="4294967295" type="title"/>
          </p:nvPr>
        </p:nvSpPr>
        <p:spPr>
          <a:xfrm>
            <a:off x="1234875" y="671525"/>
            <a:ext cx="532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 sz="2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Caso Práctico</a:t>
            </a:r>
            <a:endParaRPr b="1"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7" name="Google Shape;1737;p110"/>
          <p:cNvSpPr txBox="1"/>
          <p:nvPr>
            <p:ph idx="4294967295" type="body"/>
          </p:nvPr>
        </p:nvSpPr>
        <p:spPr>
          <a:xfrm>
            <a:off x="1230275" y="1669725"/>
            <a:ext cx="68148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(El alumno debe explicar que problema u oportunidad está solucionando y que tipo de analítica usaría para solucionarla)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AutoNum type="arabicPeriod"/>
            </a:pPr>
            <a:r>
              <a:rPr b="1"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Oportunidad: </a:t>
            </a:r>
            <a:r>
              <a:rPr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¿Que quiero solucionar?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AutoNum type="arabicPeriod"/>
            </a:pPr>
            <a:r>
              <a:rPr b="1"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 de analítica: </a:t>
            </a:r>
            <a:r>
              <a:rPr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¿Que tipo de analítica usaría?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AutoNum type="arabicPeriod"/>
            </a:pPr>
            <a:r>
              <a:rPr b="1"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Detalle de uso: </a:t>
            </a:r>
            <a:r>
              <a:rPr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¿Cuál sería la salida de mi solución?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(si es un dashboard -&gt; dibujar; si es un modelo -&gt; que información daría y como la vería el usuario)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38" name="Google Shape;1738;p110"/>
          <p:cNvGrpSpPr/>
          <p:nvPr/>
        </p:nvGrpSpPr>
        <p:grpSpPr>
          <a:xfrm>
            <a:off x="776543" y="742131"/>
            <a:ext cx="324609" cy="374825"/>
            <a:chOff x="-39783425" y="2337925"/>
            <a:chExt cx="275700" cy="318350"/>
          </a:xfrm>
        </p:grpSpPr>
        <p:sp>
          <p:nvSpPr>
            <p:cNvPr id="1739" name="Google Shape;1739;p110"/>
            <p:cNvSpPr/>
            <p:nvPr/>
          </p:nvSpPr>
          <p:spPr>
            <a:xfrm>
              <a:off x="-39739325" y="2468600"/>
              <a:ext cx="194575" cy="148500"/>
            </a:xfrm>
            <a:custGeom>
              <a:rect b="b" l="l" r="r" t="t"/>
              <a:pathLst>
                <a:path extrusionOk="0" h="5940" w="7783">
                  <a:moveTo>
                    <a:pt x="6349" y="772"/>
                  </a:moveTo>
                  <a:cubicBezTo>
                    <a:pt x="6459" y="772"/>
                    <a:pt x="6570" y="812"/>
                    <a:pt x="6648" y="891"/>
                  </a:cubicBezTo>
                  <a:cubicBezTo>
                    <a:pt x="6711" y="954"/>
                    <a:pt x="6743" y="1017"/>
                    <a:pt x="6806" y="1080"/>
                  </a:cubicBezTo>
                  <a:cubicBezTo>
                    <a:pt x="6837" y="1300"/>
                    <a:pt x="6837" y="1458"/>
                    <a:pt x="6711" y="1552"/>
                  </a:cubicBezTo>
                  <a:lnTo>
                    <a:pt x="3340" y="4955"/>
                  </a:lnTo>
                  <a:cubicBezTo>
                    <a:pt x="3261" y="5033"/>
                    <a:pt x="3151" y="5073"/>
                    <a:pt x="3041" y="5073"/>
                  </a:cubicBezTo>
                  <a:cubicBezTo>
                    <a:pt x="2931" y="5073"/>
                    <a:pt x="2820" y="5033"/>
                    <a:pt x="2742" y="4955"/>
                  </a:cubicBezTo>
                  <a:lnTo>
                    <a:pt x="1040" y="3253"/>
                  </a:lnTo>
                  <a:cubicBezTo>
                    <a:pt x="883" y="3096"/>
                    <a:pt x="883" y="2812"/>
                    <a:pt x="1040" y="2655"/>
                  </a:cubicBezTo>
                  <a:lnTo>
                    <a:pt x="1135" y="2592"/>
                  </a:lnTo>
                  <a:cubicBezTo>
                    <a:pt x="1214" y="2513"/>
                    <a:pt x="1316" y="2474"/>
                    <a:pt x="1418" y="2474"/>
                  </a:cubicBezTo>
                  <a:cubicBezTo>
                    <a:pt x="1521" y="2474"/>
                    <a:pt x="1623" y="2513"/>
                    <a:pt x="1702" y="2592"/>
                  </a:cubicBezTo>
                  <a:lnTo>
                    <a:pt x="2742" y="3600"/>
                  </a:lnTo>
                  <a:cubicBezTo>
                    <a:pt x="2820" y="3679"/>
                    <a:pt x="2931" y="3718"/>
                    <a:pt x="3041" y="3718"/>
                  </a:cubicBezTo>
                  <a:cubicBezTo>
                    <a:pt x="3151" y="3718"/>
                    <a:pt x="3261" y="3679"/>
                    <a:pt x="3340" y="3600"/>
                  </a:cubicBezTo>
                  <a:lnTo>
                    <a:pt x="6050" y="891"/>
                  </a:lnTo>
                  <a:cubicBezTo>
                    <a:pt x="6128" y="812"/>
                    <a:pt x="6239" y="772"/>
                    <a:pt x="6349" y="772"/>
                  </a:cubicBezTo>
                  <a:close/>
                  <a:moveTo>
                    <a:pt x="6369" y="1"/>
                  </a:moveTo>
                  <a:cubicBezTo>
                    <a:pt x="6050" y="1"/>
                    <a:pt x="5719" y="119"/>
                    <a:pt x="5451" y="355"/>
                  </a:cubicBezTo>
                  <a:lnTo>
                    <a:pt x="3025" y="2781"/>
                  </a:lnTo>
                  <a:lnTo>
                    <a:pt x="2269" y="2025"/>
                  </a:lnTo>
                  <a:cubicBezTo>
                    <a:pt x="2040" y="1796"/>
                    <a:pt x="1742" y="1663"/>
                    <a:pt x="1421" y="1663"/>
                  </a:cubicBezTo>
                  <a:cubicBezTo>
                    <a:pt x="1256" y="1663"/>
                    <a:pt x="1085" y="1698"/>
                    <a:pt x="914" y="1773"/>
                  </a:cubicBezTo>
                  <a:cubicBezTo>
                    <a:pt x="694" y="1867"/>
                    <a:pt x="536" y="1993"/>
                    <a:pt x="473" y="2119"/>
                  </a:cubicBezTo>
                  <a:cubicBezTo>
                    <a:pt x="1" y="2592"/>
                    <a:pt x="1" y="3379"/>
                    <a:pt x="473" y="3883"/>
                  </a:cubicBezTo>
                  <a:lnTo>
                    <a:pt x="2143" y="5585"/>
                  </a:lnTo>
                  <a:cubicBezTo>
                    <a:pt x="2379" y="5821"/>
                    <a:pt x="2694" y="5939"/>
                    <a:pt x="3017" y="5939"/>
                  </a:cubicBezTo>
                  <a:cubicBezTo>
                    <a:pt x="3340" y="5939"/>
                    <a:pt x="3671" y="5821"/>
                    <a:pt x="3939" y="5585"/>
                  </a:cubicBezTo>
                  <a:lnTo>
                    <a:pt x="7310" y="2182"/>
                  </a:lnTo>
                  <a:cubicBezTo>
                    <a:pt x="7656" y="1836"/>
                    <a:pt x="7782" y="1300"/>
                    <a:pt x="7593" y="859"/>
                  </a:cubicBezTo>
                  <a:cubicBezTo>
                    <a:pt x="7467" y="575"/>
                    <a:pt x="7310" y="418"/>
                    <a:pt x="7215" y="355"/>
                  </a:cubicBezTo>
                  <a:cubicBezTo>
                    <a:pt x="6995" y="119"/>
                    <a:pt x="6688" y="1"/>
                    <a:pt x="6369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10"/>
            <p:cNvSpPr/>
            <p:nvPr/>
          </p:nvSpPr>
          <p:spPr>
            <a:xfrm>
              <a:off x="-39783425" y="2337925"/>
              <a:ext cx="275700" cy="318350"/>
            </a:xfrm>
            <a:custGeom>
              <a:rect b="b" l="l" r="r" t="t"/>
              <a:pathLst>
                <a:path extrusionOk="0" h="12734" w="11028">
                  <a:moveTo>
                    <a:pt x="5608" y="793"/>
                  </a:moveTo>
                  <a:cubicBezTo>
                    <a:pt x="5829" y="793"/>
                    <a:pt x="5986" y="1014"/>
                    <a:pt x="6049" y="1234"/>
                  </a:cubicBezTo>
                  <a:cubicBezTo>
                    <a:pt x="6049" y="1486"/>
                    <a:pt x="6238" y="1644"/>
                    <a:pt x="6459" y="1644"/>
                  </a:cubicBezTo>
                  <a:lnTo>
                    <a:pt x="8129" y="1644"/>
                  </a:lnTo>
                  <a:cubicBezTo>
                    <a:pt x="8349" y="1644"/>
                    <a:pt x="8507" y="1833"/>
                    <a:pt x="8570" y="2053"/>
                  </a:cubicBezTo>
                  <a:lnTo>
                    <a:pt x="8570" y="2494"/>
                  </a:lnTo>
                  <a:lnTo>
                    <a:pt x="2773" y="2494"/>
                  </a:lnTo>
                  <a:lnTo>
                    <a:pt x="2773" y="2116"/>
                  </a:lnTo>
                  <a:lnTo>
                    <a:pt x="2741" y="2116"/>
                  </a:lnTo>
                  <a:cubicBezTo>
                    <a:pt x="2741" y="1864"/>
                    <a:pt x="2930" y="1707"/>
                    <a:pt x="3119" y="1675"/>
                  </a:cubicBezTo>
                  <a:lnTo>
                    <a:pt x="4789" y="1675"/>
                  </a:lnTo>
                  <a:cubicBezTo>
                    <a:pt x="5010" y="1675"/>
                    <a:pt x="5167" y="1486"/>
                    <a:pt x="5167" y="1234"/>
                  </a:cubicBezTo>
                  <a:cubicBezTo>
                    <a:pt x="5167" y="1014"/>
                    <a:pt x="5356" y="856"/>
                    <a:pt x="5608" y="793"/>
                  </a:cubicBezTo>
                  <a:close/>
                  <a:moveTo>
                    <a:pt x="10177" y="2494"/>
                  </a:moveTo>
                  <a:lnTo>
                    <a:pt x="10177" y="11883"/>
                  </a:lnTo>
                  <a:lnTo>
                    <a:pt x="788" y="11883"/>
                  </a:lnTo>
                  <a:lnTo>
                    <a:pt x="788" y="2494"/>
                  </a:lnTo>
                  <a:lnTo>
                    <a:pt x="1891" y="2494"/>
                  </a:lnTo>
                  <a:lnTo>
                    <a:pt x="1891" y="2904"/>
                  </a:lnTo>
                  <a:cubicBezTo>
                    <a:pt x="1891" y="3125"/>
                    <a:pt x="2111" y="3314"/>
                    <a:pt x="2332" y="3314"/>
                  </a:cubicBezTo>
                  <a:lnTo>
                    <a:pt x="8948" y="3314"/>
                  </a:lnTo>
                  <a:cubicBezTo>
                    <a:pt x="9200" y="3314"/>
                    <a:pt x="9357" y="3125"/>
                    <a:pt x="9357" y="2904"/>
                  </a:cubicBezTo>
                  <a:lnTo>
                    <a:pt x="9357" y="2494"/>
                  </a:lnTo>
                  <a:close/>
                  <a:moveTo>
                    <a:pt x="5615" y="1"/>
                  </a:moveTo>
                  <a:cubicBezTo>
                    <a:pt x="5456" y="1"/>
                    <a:pt x="5293" y="33"/>
                    <a:pt x="5136" y="100"/>
                  </a:cubicBezTo>
                  <a:cubicBezTo>
                    <a:pt x="4821" y="226"/>
                    <a:pt x="4537" y="478"/>
                    <a:pt x="4474" y="856"/>
                  </a:cubicBezTo>
                  <a:lnTo>
                    <a:pt x="3151" y="856"/>
                  </a:lnTo>
                  <a:cubicBezTo>
                    <a:pt x="2647" y="856"/>
                    <a:pt x="2174" y="1203"/>
                    <a:pt x="1985" y="1675"/>
                  </a:cubicBezTo>
                  <a:lnTo>
                    <a:pt x="410" y="1675"/>
                  </a:lnTo>
                  <a:cubicBezTo>
                    <a:pt x="158" y="1675"/>
                    <a:pt x="0" y="1864"/>
                    <a:pt x="0" y="2116"/>
                  </a:cubicBezTo>
                  <a:lnTo>
                    <a:pt x="0" y="12292"/>
                  </a:lnTo>
                  <a:cubicBezTo>
                    <a:pt x="0" y="12544"/>
                    <a:pt x="221" y="12734"/>
                    <a:pt x="410" y="12734"/>
                  </a:cubicBezTo>
                  <a:lnTo>
                    <a:pt x="10618" y="12734"/>
                  </a:lnTo>
                  <a:cubicBezTo>
                    <a:pt x="10838" y="12734"/>
                    <a:pt x="11027" y="12544"/>
                    <a:pt x="11027" y="12292"/>
                  </a:cubicBezTo>
                  <a:lnTo>
                    <a:pt x="11027" y="2116"/>
                  </a:lnTo>
                  <a:cubicBezTo>
                    <a:pt x="10996" y="1864"/>
                    <a:pt x="10807" y="1675"/>
                    <a:pt x="10555" y="1675"/>
                  </a:cubicBezTo>
                  <a:lnTo>
                    <a:pt x="9263" y="1675"/>
                  </a:lnTo>
                  <a:cubicBezTo>
                    <a:pt x="9105" y="1203"/>
                    <a:pt x="8633" y="856"/>
                    <a:pt x="8097" y="856"/>
                  </a:cubicBezTo>
                  <a:lnTo>
                    <a:pt x="6774" y="856"/>
                  </a:lnTo>
                  <a:cubicBezTo>
                    <a:pt x="6606" y="328"/>
                    <a:pt x="6127" y="1"/>
                    <a:pt x="5615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1" name="Google Shape;1741;p110"/>
          <p:cNvSpPr txBox="1"/>
          <p:nvPr/>
        </p:nvSpPr>
        <p:spPr>
          <a:xfrm>
            <a:off x="1227000" y="1280250"/>
            <a:ext cx="6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B46AE"/>
                </a:solidFill>
                <a:latin typeface="Montserrat"/>
                <a:ea typeface="Montserrat"/>
                <a:cs typeface="Montserrat"/>
                <a:sym typeface="Montserrat"/>
              </a:rPr>
              <a:t>Objetivo: diseñar una solución analítica (funcional)</a:t>
            </a:r>
            <a:endParaRPr b="1">
              <a:solidFill>
                <a:srgbClr val="0B46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479B"/>
        </a:solidFill>
      </p:bgPr>
    </p:bg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11"/>
          <p:cNvSpPr txBox="1"/>
          <p:nvPr>
            <p:ph idx="4294967295" type="body"/>
          </p:nvPr>
        </p:nvSpPr>
        <p:spPr>
          <a:xfrm>
            <a:off x="-523575" y="2111050"/>
            <a:ext cx="586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b="1" lang="es" sz="8000">
                <a:solidFill>
                  <a:schemeClr val="lt1"/>
                </a:solidFill>
              </a:rPr>
              <a:t>Gracias</a:t>
            </a:r>
            <a:endParaRPr b="1" sz="8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47" name="Google Shape;1747;p111"/>
          <p:cNvGrpSpPr/>
          <p:nvPr/>
        </p:nvGrpSpPr>
        <p:grpSpPr>
          <a:xfrm>
            <a:off x="2022919" y="1360537"/>
            <a:ext cx="772600" cy="871043"/>
            <a:chOff x="3299850" y="238575"/>
            <a:chExt cx="427725" cy="482225"/>
          </a:xfrm>
        </p:grpSpPr>
        <p:sp>
          <p:nvSpPr>
            <p:cNvPr id="1748" name="Google Shape;1748;p111"/>
            <p:cNvSpPr/>
            <p:nvPr/>
          </p:nvSpPr>
          <p:spPr>
            <a:xfrm>
              <a:off x="3299850" y="323500"/>
              <a:ext cx="427725" cy="397300"/>
            </a:xfrm>
            <a:custGeom>
              <a:rect b="b" l="l" r="r" t="t"/>
              <a:pathLst>
                <a:path extrusionOk="0" h="15892" w="17109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11"/>
            <p:cNvSpPr/>
            <p:nvPr/>
          </p:nvSpPr>
          <p:spPr>
            <a:xfrm>
              <a:off x="3467650" y="238575"/>
              <a:ext cx="46525" cy="56650"/>
            </a:xfrm>
            <a:custGeom>
              <a:rect b="b" l="l" r="r" t="t"/>
              <a:pathLst>
                <a:path extrusionOk="0" h="2266" w="1861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11"/>
            <p:cNvSpPr/>
            <p:nvPr/>
          </p:nvSpPr>
          <p:spPr>
            <a:xfrm>
              <a:off x="3566675" y="238575"/>
              <a:ext cx="46525" cy="56675"/>
            </a:xfrm>
            <a:custGeom>
              <a:rect b="b" l="l" r="r" t="t"/>
              <a:pathLst>
                <a:path extrusionOk="0" h="2267" w="1861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11"/>
            <p:cNvSpPr/>
            <p:nvPr/>
          </p:nvSpPr>
          <p:spPr>
            <a:xfrm>
              <a:off x="361122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11"/>
            <p:cNvSpPr/>
            <p:nvPr/>
          </p:nvSpPr>
          <p:spPr>
            <a:xfrm>
              <a:off x="341307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3" name="Google Shape;1753;p111"/>
          <p:cNvGrpSpPr/>
          <p:nvPr/>
        </p:nvGrpSpPr>
        <p:grpSpPr>
          <a:xfrm>
            <a:off x="643486" y="3796602"/>
            <a:ext cx="840096" cy="816283"/>
            <a:chOff x="1323129" y="2571761"/>
            <a:chExt cx="417024" cy="417024"/>
          </a:xfrm>
        </p:grpSpPr>
        <p:sp>
          <p:nvSpPr>
            <p:cNvPr id="1754" name="Google Shape;1754;p111"/>
            <p:cNvSpPr/>
            <p:nvPr/>
          </p:nvSpPr>
          <p:spPr>
            <a:xfrm>
              <a:off x="1385007" y="2719183"/>
              <a:ext cx="73337" cy="219907"/>
            </a:xfrm>
            <a:custGeom>
              <a:rect b="b" l="l" r="r" t="t"/>
              <a:pathLst>
                <a:path extrusionOk="0" h="10537" w="3514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3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11"/>
            <p:cNvSpPr/>
            <p:nvPr/>
          </p:nvSpPr>
          <p:spPr>
            <a:xfrm>
              <a:off x="1385007" y="2621430"/>
              <a:ext cx="73337" cy="73337"/>
            </a:xfrm>
            <a:custGeom>
              <a:rect b="b" l="l" r="r" t="t"/>
              <a:pathLst>
                <a:path extrusionOk="0" h="3514" w="3514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3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11"/>
            <p:cNvSpPr/>
            <p:nvPr/>
          </p:nvSpPr>
          <p:spPr>
            <a:xfrm>
              <a:off x="1482759" y="2718786"/>
              <a:ext cx="195510" cy="220304"/>
            </a:xfrm>
            <a:custGeom>
              <a:rect b="b" l="l" r="r" t="t"/>
              <a:pathLst>
                <a:path extrusionOk="0" h="10556" w="9368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3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11"/>
            <p:cNvSpPr/>
            <p:nvPr/>
          </p:nvSpPr>
          <p:spPr>
            <a:xfrm>
              <a:off x="1323129" y="2571761"/>
              <a:ext cx="417024" cy="417024"/>
            </a:xfrm>
            <a:custGeom>
              <a:rect b="b" l="l" r="r" t="t"/>
              <a:pathLst>
                <a:path extrusionOk="0" h="19982" w="19982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3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8" name="Google Shape;1758;p111"/>
          <p:cNvSpPr txBox="1"/>
          <p:nvPr/>
        </p:nvSpPr>
        <p:spPr>
          <a:xfrm>
            <a:off x="1573075" y="3796575"/>
            <a:ext cx="4009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Roberto Inchaustegui</a:t>
            </a:r>
            <a:endParaRPr i="0" sz="15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Operations Manager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100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linkedin.com/in/rinchaustegui/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59" name="Google Shape;1759;p111"/>
          <p:cNvPicPr preferRelativeResize="0"/>
          <p:nvPr/>
        </p:nvPicPr>
        <p:blipFill rotWithShape="1">
          <a:blip r:embed="rId4">
            <a:alphaModFix/>
          </a:blip>
          <a:srcRect b="0" l="52253" r="1422" t="0"/>
          <a:stretch/>
        </p:blipFill>
        <p:spPr>
          <a:xfrm>
            <a:off x="4835212" y="0"/>
            <a:ext cx="43087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0" name="Google Shape;1760;p111"/>
          <p:cNvPicPr preferRelativeResize="0"/>
          <p:nvPr/>
        </p:nvPicPr>
        <p:blipFill rotWithShape="1">
          <a:blip r:embed="rId5">
            <a:alphaModFix/>
          </a:blip>
          <a:srcRect b="0" l="9043" r="9043" t="0"/>
          <a:stretch/>
        </p:blipFill>
        <p:spPr>
          <a:xfrm>
            <a:off x="7994125" y="102375"/>
            <a:ext cx="1087901" cy="1405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