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513892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303520" y="0"/>
            <a:ext cx="3840480" cy="5138928"/>
          </a:xfrm>
          <a:prstGeom prst="rect">
            <a:avLst/>
          </a:prstGeom>
          <a:solidFill>
            <a:srgbClr val="00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303520" y="0"/>
            <a:ext cx="45720" cy="513892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29260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0" b="1" i="0">
                <a:solidFill>
                  <a:srgbClr val="00338B"/>
                </a:solidFill>
                <a:latin typeface="Montserrat"/>
              </a:rPr>
              <a:t>AF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Montserrat"/>
              </a:rPr>
              <a:t>Data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97A7"/>
                </a:solidFill>
                <a:latin typeface="Montserrat"/>
              </a:rPr>
              <a:t>Agentic Fabric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9748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9D9"/>
                </a:solidFill>
                <a:latin typeface="Montserrat"/>
              </a:rPr>
              <a:t>Como construimos datos con inteligencia artificial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33472"/>
            <a:ext cx="1828800" cy="45720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520440"/>
            <a:ext cx="4389120" cy="1097280"/>
          </a:xfrm>
          <a:prstGeom prst="rect">
            <a:avLst/>
          </a:prstGeom>
          <a:solidFill>
            <a:srgbClr val="002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6576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9D9"/>
                </a:solidFill>
                <a:latin typeface="Montserrat"/>
              </a:rPr>
              <a:t>Dominio DATA  |  ITCM Data &amp; Analytics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0233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9D9"/>
                </a:solidFill>
                <a:latin typeface="Montserrat"/>
              </a:rPr>
              <a:t>20-25 minutos  |  Gerentes &amp; Jefes de Proyecto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457200"/>
            <a:ext cx="3291840" cy="777240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1463040"/>
            <a:ext cx="3291840" cy="77724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468880"/>
            <a:ext cx="3291840" cy="77724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474720"/>
            <a:ext cx="3291840" cy="7772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AG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0" cy="51389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502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i="0">
                <a:solidFill>
                  <a:srgbClr val="666666"/>
                </a:solidFill>
                <a:latin typeface="Montserrat"/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987552"/>
            <a:ext cx="73152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56032"/>
            <a:ext cx="5577840" cy="512064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832104"/>
            <a:ext cx="5577840" cy="512064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1840" y="1408176"/>
            <a:ext cx="5577840" cy="512064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1840" y="1984248"/>
            <a:ext cx="5577840" cy="512064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91840" y="2560320"/>
            <a:ext cx="5577840" cy="512064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91840" y="3136391"/>
            <a:ext cx="5577840" cy="512064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91840" y="3712464"/>
            <a:ext cx="5577840" cy="512064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91840" y="4288536"/>
            <a:ext cx="5577840" cy="5120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1680" y="182880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Marco Conceptual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011680" y="274320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9D9D9"/>
                </a:solidFill>
                <a:latin typeface="Montserrat"/>
              </a:rPr>
              <a:t>El vocabulario de la fabrica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Marco Conceptual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El vocabulario que necesitas para entender la fabrica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Knowledge Layers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Tres capas complementarias — cada skill referencia los standards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Montserrat"/>
              </a:rPr>
              <a:t>Arquetipo de Repositorio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4320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9D9D9"/>
                </a:solidFill>
                <a:latin typeface="Montserrat"/>
              </a:rPr>
              <a:t>Estructura estandar para todo desarrollo de datos ITC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Arquetipo de Repositorio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Patron de naming y estructura de carpetas estandar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Flujo de Etapas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9D9D9"/>
                </a:solidFill>
                <a:latin typeface="Montserrat"/>
              </a:rPr>
              <a:t>Cinco bloques · Trece etapas · Un flujo reproducible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Flujo de Etapas — Bloques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Cada bloque agrupa etapas con el mismo proposito y actores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Artefactos por Etapa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Que produce cada etapa — salidas concretas y verificables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8221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Tipos de Modulo (spec.type)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El type determina el skill y la ruta de implementacion de cada etapa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5844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Montserrat"/>
              </a:rPr>
              <a:t>Flujo de Comandos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9D9D9"/>
                </a:solidFill>
                <a:latin typeface="Montserrat"/>
              </a:rPr>
              <a:t>Comandos atomicos que leen spec.yaml como fuente de verdad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Flujo de Comandos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Cada comando es atomico — puede ejecutarse de forma independiente o en secuencia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828800"/>
            <a:ext cx="7132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Montserrat"/>
              </a:rPr>
              <a:t>Interaccion del Usuario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78892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D9D9D9"/>
                </a:solidFill>
                <a:latin typeface="Montserrat"/>
              </a:rPr>
              <a:t>Como trabaja un Data Engineer con la fabrica dia a dia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Interaccion del Usuario con la Fabrica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8 pasos desde el brief funcional hasta el deploy en produccion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5204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spec.yaml — Fuente de Verdad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Todos los comandos leen el spec antes de actuar — es el contrato del desarrollo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1645920"/>
            <a:ext cx="7132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Montserrat"/>
              </a:rPr>
              <a:t>Caso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7132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97A7"/>
                </a:solidFill>
                <a:latin typeface="Montserrat"/>
              </a:rPr>
              <a:t>Modelo de Ingresos VII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108960"/>
            <a:ext cx="7132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9D9D9"/>
                </a:solidFill>
                <a:latin typeface="Montserrat"/>
              </a:rPr>
              <a:t>De la ejecucion manual en notebook al pipeline mensual automatizado en Vertex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0B53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Modelo de Ingresos VII — type: vertex_ml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SPEC-ITC-20260330-001  |  6 modelos XGBoost/sklearn  |  ~2M clientes/mes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7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34343"/>
                </a:solidFill>
                <a:latin typeface="Montserrat"/>
              </a:rPr>
              <a:t>Estado Actual &amp; Proximos Pasos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666666"/>
                </a:solidFill>
                <a:latin typeface="Montserrat"/>
              </a:rPr>
              <a:t>Que tenemos hoy y hacia donde va la fabrica de datos ITC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713232"/>
            <a:ext cx="1097280" cy="36576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4983480"/>
            <a:ext cx="9144000" cy="54864"/>
          </a:xfrm>
          <a:prstGeom prst="rect">
            <a:avLst/>
          </a:prstGeom>
          <a:solidFill>
            <a:srgbClr val="D9E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24128"/>
            <a:ext cx="8412480" cy="37033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89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91440" y="-27432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0" b="1" i="0">
                <a:solidFill>
                  <a:srgbClr val="00338B"/>
                </a:solidFill>
                <a:latin typeface="Montserrat"/>
              </a:rPr>
              <a:t>FIN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4937760"/>
            <a:ext cx="9144000" cy="20116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Montserrat"/>
              </a:rPr>
              <a:t>La fabrica no reemplaza al ingeniero.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412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097A7"/>
                </a:solidFill>
                <a:latin typeface="Montserrat"/>
              </a:rPr>
              <a:t>Le da superpoderes.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43000"/>
            <a:ext cx="1371600" cy="54864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743200"/>
            <a:ext cx="54864" cy="2926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6974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9D9"/>
                </a:solidFill>
                <a:latin typeface="Montserrat"/>
              </a:rPr>
              <a:t>Cada etapa produce artefactos concretos — no hay trabajo invisible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3200400"/>
            <a:ext cx="54864" cy="2926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31546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9D9"/>
                </a:solidFill>
                <a:latin typeface="Montserrat"/>
              </a:rPr>
              <a:t>spec.yaml es la fuente de verdad — todo lo demas se deriva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657600"/>
            <a:ext cx="54864" cy="2926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36118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9D9"/>
                </a:solidFill>
                <a:latin typeface="Montserrat"/>
              </a:rPr>
              <a:t>El conocimiento esta en el repositorio, no en la cabeza de nadie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4864" cy="292608"/>
          </a:xfrm>
          <a:prstGeom prst="rect">
            <a:avLst/>
          </a:prstGeom>
          <a:solidFill>
            <a:srgbClr val="0097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406908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D9D9D9"/>
                </a:solidFill>
                <a:latin typeface="Montserrat"/>
              </a:rPr>
              <a:t>Un desarrollador con la fabrica produce lo que antes hacian tres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9D9D9"/>
                </a:solidFill>
                <a:latin typeface="Montserrat"/>
              </a:rPr>
              <a:t>itcm-dp-knowledge-base  |  Dominio DATA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