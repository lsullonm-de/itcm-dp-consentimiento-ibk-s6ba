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4"/>
    <p:sldMasterId id="2147483715" r:id="rId5"/>
    <p:sldMasterId id="214748371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Inconsolata"/>
      <p:regular r:id="rId24"/>
      <p:bold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  <p:embeddedFont>
      <p:font typeface="Helvetica Neue Light"/>
      <p:regular r:id="rId32"/>
      <p:bold r:id="rId33"/>
      <p:italic r:id="rId34"/>
      <p:boldItalic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27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27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Inconsolata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Montserrat-regular.fntdata"/><Relationship Id="rId25" Type="http://schemas.openxmlformats.org/officeDocument/2006/relationships/font" Target="fonts/Inconsolata-bold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4.xml"/><Relationship Id="rId33" Type="http://schemas.openxmlformats.org/officeDocument/2006/relationships/font" Target="fonts/HelveticaNeueLight-bold.fntdata"/><Relationship Id="rId10" Type="http://schemas.openxmlformats.org/officeDocument/2006/relationships/slide" Target="slides/slide3.xml"/><Relationship Id="rId32" Type="http://schemas.openxmlformats.org/officeDocument/2006/relationships/font" Target="fonts/HelveticaNeueLight-regular.fntdata"/><Relationship Id="rId13" Type="http://schemas.openxmlformats.org/officeDocument/2006/relationships/slide" Target="slides/slide6.xml"/><Relationship Id="rId35" Type="http://schemas.openxmlformats.org/officeDocument/2006/relationships/font" Target="fonts/HelveticaNeueLight-boldItalic.fntdata"/><Relationship Id="rId12" Type="http://schemas.openxmlformats.org/officeDocument/2006/relationships/slide" Target="slides/slide5.xml"/><Relationship Id="rId34" Type="http://schemas.openxmlformats.org/officeDocument/2006/relationships/font" Target="fonts/HelveticaNeueLight-italic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7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10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9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712d12ed1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712d12ed1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e542d99b3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2ee542d99b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e542d99b3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2ee542d99b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12d12ed1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12d12ed1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47ea1062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47ea1062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0b4d22ec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00b4d22ec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6ac17bef2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f6ac17bef2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8b5c18d3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c8b5c18d3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8b5c18d3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c8b5c18d3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12a5d1a7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12a5d1a7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47ea1062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47ea1062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8b5c18d3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c8b5c18d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8b5c18d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c8b5c18d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f6ac17bef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f6ac17bef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Destacar que se trata de un proceso de mejora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00b4d22ec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00b4d22ec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72" name="Google Shape;472;g300b4d22ec5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712d12ed1f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2712d12ed1f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emoción se contagia de manera automática, si vivimos la historia el mensaje llegará a nuestra audiencia.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rgbClr val="122FA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250705" y="45770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780610" y="458348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7387" y="286176"/>
            <a:ext cx="2738008" cy="2725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ítulo y objetos">
  <p:cSld name="9_Título y objeto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734574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5"/>
          <p:cNvSpPr/>
          <p:nvPr>
            <p:ph idx="2" type="pic"/>
          </p:nvPr>
        </p:nvSpPr>
        <p:spPr>
          <a:xfrm>
            <a:off x="734574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4797419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5"/>
          <p:cNvSpPr/>
          <p:nvPr>
            <p:ph idx="4" type="pic"/>
          </p:nvPr>
        </p:nvSpPr>
        <p:spPr>
          <a:xfrm>
            <a:off x="4797419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 1">
  <p:cSld name="TITLE_AND_BODY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ard content">
  <p:cSld name="storyboard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8">
  <p:cSld name="TITLE_AND_BODY_1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630663" y="1351360"/>
            <a:ext cx="4814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ítulo y objetos">
  <p:cSld name="9_Título y objeto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1"/>
          <p:cNvPicPr preferRelativeResize="0"/>
          <p:nvPr/>
        </p:nvPicPr>
        <p:blipFill rotWithShape="1">
          <a:blip r:embed="rId2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1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734574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21"/>
          <p:cNvSpPr/>
          <p:nvPr>
            <p:ph idx="2" type="pic"/>
          </p:nvPr>
        </p:nvSpPr>
        <p:spPr>
          <a:xfrm>
            <a:off x="734574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1"/>
          <p:cNvSpPr txBox="1"/>
          <p:nvPr>
            <p:ph idx="3" type="body"/>
          </p:nvPr>
        </p:nvSpPr>
        <p:spPr>
          <a:xfrm>
            <a:off x="4797419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1"/>
          <p:cNvSpPr/>
          <p:nvPr>
            <p:ph idx="4" type="pic"/>
          </p:nvPr>
        </p:nvSpPr>
        <p:spPr>
          <a:xfrm>
            <a:off x="4797419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rgbClr val="122FA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-4017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2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195873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" y="3507689"/>
            <a:ext cx="9153000" cy="16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0" type="dt"/>
          </p:nvPr>
        </p:nvSpPr>
        <p:spPr>
          <a:xfrm>
            <a:off x="565274" y="391952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6" name="Google Shape;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31842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1142071"/>
            <a:ext cx="3538963" cy="136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idx="1" type="subTitle"/>
          </p:nvPr>
        </p:nvSpPr>
        <p:spPr>
          <a:xfrm>
            <a:off x="591245" y="3078843"/>
            <a:ext cx="2553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0" name="Google Shape;100;p23"/>
          <p:cNvSpPr txBox="1"/>
          <p:nvPr>
            <p:ph type="ctrTitle"/>
          </p:nvPr>
        </p:nvSpPr>
        <p:spPr>
          <a:xfrm>
            <a:off x="591245" y="1544499"/>
            <a:ext cx="25530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3000"/>
              <a:buFont typeface="Century Gothic"/>
              <a:buNone/>
              <a:defRPr b="0" i="0" sz="3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1" name="Google Shape;101;p23"/>
          <p:cNvPicPr preferRelativeResize="0"/>
          <p:nvPr/>
        </p:nvPicPr>
        <p:blipFill rotWithShape="1">
          <a:blip r:embed="rId2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3"/>
          <p:cNvSpPr txBox="1"/>
          <p:nvPr>
            <p:ph idx="2" type="body"/>
          </p:nvPr>
        </p:nvSpPr>
        <p:spPr>
          <a:xfrm>
            <a:off x="630772" y="469325"/>
            <a:ext cx="4524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1500"/>
              <a:buNone/>
              <a:defRPr b="0" i="0" sz="15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seño personalizado">
  <p:cSld name="2_Diseño personalizado">
    <p:bg>
      <p:bgPr>
        <a:solidFill>
          <a:srgbClr val="122FA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580768" y="1527745"/>
            <a:ext cx="4030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580768" y="3128409"/>
            <a:ext cx="3600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06" name="Google Shape;10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bg>
      <p:bgPr>
        <a:solidFill>
          <a:srgbClr val="AB80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-4017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5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195873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" y="3507689"/>
            <a:ext cx="9153000" cy="16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5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0" type="dt"/>
          </p:nvPr>
        </p:nvSpPr>
        <p:spPr>
          <a:xfrm>
            <a:off x="565274" y="391952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31842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4613" y="1142071"/>
            <a:ext cx="3538963" cy="136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bg>
      <p:bgPr>
        <a:solidFill>
          <a:srgbClr val="23E5B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6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-4017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6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195873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" y="3507689"/>
            <a:ext cx="9153000" cy="16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565274" y="391952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2" name="Google Shape;1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31842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1142071"/>
            <a:ext cx="3538963" cy="136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Diseño personalizado">
  <p:cSld name="9_Diseño personalizado">
    <p:bg>
      <p:bgPr>
        <a:solidFill>
          <a:srgbClr val="1AC8FF">
            <a:alpha val="80000"/>
          </a:srgbClr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-4017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195873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" y="3507689"/>
            <a:ext cx="9153000" cy="16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7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0" type="dt"/>
          </p:nvPr>
        </p:nvSpPr>
        <p:spPr>
          <a:xfrm>
            <a:off x="565274" y="391952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0" name="Google Shape;1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31842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11420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bg>
      <p:bgPr>
        <a:solidFill>
          <a:srgbClr val="FF575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8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-4017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8"/>
          <p:cNvPicPr preferRelativeResize="0"/>
          <p:nvPr/>
        </p:nvPicPr>
        <p:blipFill rotWithShape="1">
          <a:blip r:embed="rId2">
            <a:alphaModFix/>
          </a:blip>
          <a:srcRect b="0" l="0" r="31338" t="0"/>
          <a:stretch/>
        </p:blipFill>
        <p:spPr>
          <a:xfrm>
            <a:off x="6833588" y="1958731"/>
            <a:ext cx="2429988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" y="3507689"/>
            <a:ext cx="9153000" cy="16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8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0" type="dt"/>
          </p:nvPr>
        </p:nvSpPr>
        <p:spPr>
          <a:xfrm>
            <a:off x="565274" y="391952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9" name="Google Shape;1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3184271"/>
            <a:ext cx="3538963" cy="136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613" y="1142071"/>
            <a:ext cx="3538963" cy="136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rgbClr val="ECE4D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" type="subTitle"/>
          </p:nvPr>
        </p:nvSpPr>
        <p:spPr>
          <a:xfrm>
            <a:off x="591245" y="3078843"/>
            <a:ext cx="2553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3" name="Google Shape;143;p29"/>
          <p:cNvSpPr txBox="1"/>
          <p:nvPr>
            <p:ph type="ctrTitle"/>
          </p:nvPr>
        </p:nvSpPr>
        <p:spPr>
          <a:xfrm>
            <a:off x="591245" y="1544499"/>
            <a:ext cx="25530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3000"/>
              <a:buFont typeface="Century Gothic"/>
              <a:buNone/>
              <a:defRPr b="0" i="0" sz="3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44" name="Google Shape;144;p29"/>
          <p:cNvPicPr preferRelativeResize="0"/>
          <p:nvPr/>
        </p:nvPicPr>
        <p:blipFill rotWithShape="1">
          <a:blip r:embed="rId2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0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580768" y="3128409"/>
            <a:ext cx="3355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50" name="Google Shape;1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Diseño personalizado">
  <p:cSld name="7_Diseño personalizado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34510" cy="518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1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580768" y="3128409"/>
            <a:ext cx="3355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56" name="Google Shape;1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seño personalizado">
  <p:cSld name="12_Diseño personalizado"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883" y="0"/>
            <a:ext cx="91345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2"/>
          <p:cNvSpPr/>
          <p:nvPr/>
        </p:nvSpPr>
        <p:spPr>
          <a:xfrm>
            <a:off x="-10391" y="0"/>
            <a:ext cx="9125100" cy="5143500"/>
          </a:xfrm>
          <a:prstGeom prst="rect">
            <a:avLst/>
          </a:prstGeom>
          <a:solidFill>
            <a:srgbClr val="002FA8">
              <a:alpha val="6431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2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580768" y="3128409"/>
            <a:ext cx="33558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63" name="Google Shape;1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bg>
      <p:bgPr>
        <a:solidFill>
          <a:srgbClr val="AB80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580768" y="3128409"/>
            <a:ext cx="359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68" name="Google Shape;16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seño personalizado">
  <p:cSld name="8_Diseño personalizado">
    <p:bg>
      <p:bgPr>
        <a:solidFill>
          <a:srgbClr val="23E5B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>
            <a:off x="580768" y="3128409"/>
            <a:ext cx="359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73" name="Google Shape;17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Diseño personalizado">
  <p:cSld name="10_Diseño personalizado">
    <p:bg>
      <p:bgPr>
        <a:solidFill>
          <a:srgbClr val="1AC8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580768" y="3128409"/>
            <a:ext cx="359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78" name="Google Shape;17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Diseño personalizado">
  <p:cSld name="11_Diseño personalizado">
    <p:bg>
      <p:bgPr>
        <a:solidFill>
          <a:srgbClr val="FF575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580768" y="3128409"/>
            <a:ext cx="359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1" y="500498"/>
            <a:ext cx="1328498" cy="25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1" y="3518080"/>
            <a:ext cx="9144900" cy="166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ítulo y objetos">
  <p:cSld name="10_Título y objeto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7"/>
          <p:cNvPicPr preferRelativeResize="0"/>
          <p:nvPr/>
        </p:nvPicPr>
        <p:blipFill rotWithShape="1">
          <a:blip r:embed="rId2">
            <a:alphaModFix/>
          </a:blip>
          <a:srcRect b="0" l="15598" r="720" t="0"/>
          <a:stretch/>
        </p:blipFill>
        <p:spPr>
          <a:xfrm>
            <a:off x="0" y="1040879"/>
            <a:ext cx="3992519" cy="2545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7"/>
          <p:cNvPicPr preferRelativeResize="0"/>
          <p:nvPr/>
        </p:nvPicPr>
        <p:blipFill rotWithShape="1">
          <a:blip r:embed="rId3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7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7"/>
          <p:cNvSpPr/>
          <p:nvPr>
            <p:ph idx="2" type="pic"/>
          </p:nvPr>
        </p:nvSpPr>
        <p:spPr>
          <a:xfrm>
            <a:off x="714403" y="1103988"/>
            <a:ext cx="2936400" cy="17736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4307679" y="1040879"/>
            <a:ext cx="4122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100"/>
              <a:buNone/>
              <a:defRPr sz="1100"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•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ítulo y objetos">
  <p:cSld name="8_Título y objetos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8"/>
          <p:cNvPicPr preferRelativeResize="0"/>
          <p:nvPr/>
        </p:nvPicPr>
        <p:blipFill rotWithShape="1">
          <a:blip r:embed="rId2">
            <a:alphaModFix/>
          </a:blip>
          <a:srcRect b="-19603" l="0" r="79188" t="0"/>
          <a:stretch/>
        </p:blipFill>
        <p:spPr>
          <a:xfrm>
            <a:off x="305991" y="500498"/>
            <a:ext cx="272824" cy="30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ítulo y objetos">
  <p:cSld name="6_Título y objeto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ítulo y objetos">
  <p:cSld name="7_Título y objetos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ítulo y objetos">
  <p:cSld name="5_Título y objeto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y objetos">
  <p:cSld name="2_Título y objeto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ítulo y objetos">
  <p:cSld name="4_Título y objeto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y objetos">
  <p:cSld name="3_Título y objeto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ard content">
  <p:cSld name="storyboard cont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1" name="Google Shape;231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2" name="Google Shape;2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5" name="Google Shape;2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9" name="Google Shape;239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0" name="Google Shape;240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1" name="Google Shape;24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44" name="Google Shape;24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7" name="Google Shape;247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 1">
  <p:cSld name="TITLE_AND_BODY_1_1">
    <p:bg>
      <p:bgPr>
        <a:solidFill>
          <a:srgbClr val="F3F3F3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0"/>
          <p:cNvSpPr txBox="1"/>
          <p:nvPr>
            <p:ph type="title"/>
          </p:nvPr>
        </p:nvSpPr>
        <p:spPr>
          <a:xfrm>
            <a:off x="1075950" y="2808850"/>
            <a:ext cx="4793100" cy="33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3500"/>
              <a:buFont typeface="Montserrat"/>
              <a:buNone/>
              <a:defRPr b="1" sz="3500">
                <a:solidFill>
                  <a:srgbClr val="FF3B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3B3B"/>
              </a:buClr>
              <a:buSzPts val="1000"/>
              <a:buFont typeface="Inconsolata"/>
              <a:buNone/>
              <a:defRPr b="1" sz="1000">
                <a:solidFill>
                  <a:srgbClr val="FF3B3B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53" name="Google Shape;253;p60"/>
          <p:cNvSpPr/>
          <p:nvPr/>
        </p:nvSpPr>
        <p:spPr>
          <a:xfrm>
            <a:off x="5201925" y="705725"/>
            <a:ext cx="5079300" cy="5412300"/>
          </a:xfrm>
          <a:prstGeom prst="diamond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FF3B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60"/>
          <p:cNvSpPr txBox="1"/>
          <p:nvPr>
            <p:ph idx="12" type="sldNum"/>
          </p:nvPr>
        </p:nvSpPr>
        <p:spPr>
          <a:xfrm>
            <a:off x="8474333" y="911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buClr>
                <a:srgbClr val="000000"/>
              </a:buClr>
              <a:buSzPts val="1100"/>
              <a:buFont typeface="Arial"/>
              <a:buNone/>
              <a:defRPr sz="1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55" name="Google Shape;255;p60"/>
          <p:cNvSpPr txBox="1"/>
          <p:nvPr>
            <p:ph idx="1" type="subTitle"/>
          </p:nvPr>
        </p:nvSpPr>
        <p:spPr>
          <a:xfrm>
            <a:off x="1103513" y="3133825"/>
            <a:ext cx="38043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200"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200"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200"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200"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200"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200"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200"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ard content">
  <p:cSld name="storyboard conten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bg>
      <p:bgPr>
        <a:solidFill>
          <a:srgbClr val="AB80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2"/>
          <p:cNvSpPr txBox="1"/>
          <p:nvPr>
            <p:ph type="title"/>
          </p:nvPr>
        </p:nvSpPr>
        <p:spPr>
          <a:xfrm>
            <a:off x="580769" y="1527745"/>
            <a:ext cx="3991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" name="Google Shape;259;p62"/>
          <p:cNvSpPr txBox="1"/>
          <p:nvPr>
            <p:ph idx="1" type="body"/>
          </p:nvPr>
        </p:nvSpPr>
        <p:spPr>
          <a:xfrm>
            <a:off x="580768" y="3128409"/>
            <a:ext cx="359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rgbClr val="122FA8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3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2" name="Google Shape;262;p63"/>
          <p:cNvSpPr txBox="1"/>
          <p:nvPr>
            <p:ph idx="10" type="dt"/>
          </p:nvPr>
        </p:nvSpPr>
        <p:spPr>
          <a:xfrm>
            <a:off x="250705" y="45770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63" name="Google Shape;263;p63"/>
          <p:cNvSpPr txBox="1"/>
          <p:nvPr>
            <p:ph idx="12" type="sldNum"/>
          </p:nvPr>
        </p:nvSpPr>
        <p:spPr>
          <a:xfrm>
            <a:off x="6780610" y="458348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64" name="Google Shape;26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7387" y="286176"/>
            <a:ext cx="2738008" cy="2725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rgbClr val="ECE4D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4"/>
          <p:cNvSpPr txBox="1"/>
          <p:nvPr>
            <p:ph idx="1" type="subTitle"/>
          </p:nvPr>
        </p:nvSpPr>
        <p:spPr>
          <a:xfrm>
            <a:off x="591245" y="3078843"/>
            <a:ext cx="2553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 b="0" i="0" sz="1400">
                <a:solidFill>
                  <a:srgbClr val="122FA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7" name="Google Shape;267;p64"/>
          <p:cNvSpPr txBox="1"/>
          <p:nvPr>
            <p:ph type="ctrTitle"/>
          </p:nvPr>
        </p:nvSpPr>
        <p:spPr>
          <a:xfrm>
            <a:off x="591245" y="1544499"/>
            <a:ext cx="25530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3000"/>
              <a:buFont typeface="Verdana"/>
              <a:buNone/>
              <a:defRPr sz="3000">
                <a:solidFill>
                  <a:srgbClr val="122FA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5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p65"/>
          <p:cNvSpPr txBox="1"/>
          <p:nvPr>
            <p:ph idx="1" type="body"/>
          </p:nvPr>
        </p:nvSpPr>
        <p:spPr>
          <a:xfrm>
            <a:off x="630663" y="1351360"/>
            <a:ext cx="4814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ítulo y objetos">
  <p:cSld name="9_Título y objeto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6"/>
          <p:cNvSpPr txBox="1"/>
          <p:nvPr>
            <p:ph type="title"/>
          </p:nvPr>
        </p:nvSpPr>
        <p:spPr>
          <a:xfrm>
            <a:off x="630772" y="469325"/>
            <a:ext cx="4814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66"/>
          <p:cNvSpPr txBox="1"/>
          <p:nvPr>
            <p:ph idx="1" type="body"/>
          </p:nvPr>
        </p:nvSpPr>
        <p:spPr>
          <a:xfrm>
            <a:off x="734574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74" name="Google Shape;274;p66"/>
          <p:cNvSpPr/>
          <p:nvPr>
            <p:ph idx="2" type="pic"/>
          </p:nvPr>
        </p:nvSpPr>
        <p:spPr>
          <a:xfrm>
            <a:off x="734574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66"/>
          <p:cNvSpPr txBox="1"/>
          <p:nvPr>
            <p:ph idx="3" type="body"/>
          </p:nvPr>
        </p:nvSpPr>
        <p:spPr>
          <a:xfrm>
            <a:off x="4797419" y="3242180"/>
            <a:ext cx="3780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76" name="Google Shape;276;p66"/>
          <p:cNvSpPr/>
          <p:nvPr>
            <p:ph idx="4" type="pic"/>
          </p:nvPr>
        </p:nvSpPr>
        <p:spPr>
          <a:xfrm>
            <a:off x="4797419" y="1184671"/>
            <a:ext cx="3780000" cy="189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7"/>
          <p:cNvSpPr txBox="1"/>
          <p:nvPr>
            <p:ph idx="1" type="subTitle"/>
          </p:nvPr>
        </p:nvSpPr>
        <p:spPr>
          <a:xfrm>
            <a:off x="591245" y="3078843"/>
            <a:ext cx="2553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None/>
              <a:defRPr b="0" i="0" sz="14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79" name="Google Shape;279;p67"/>
          <p:cNvSpPr txBox="1"/>
          <p:nvPr>
            <p:ph type="ctrTitle"/>
          </p:nvPr>
        </p:nvSpPr>
        <p:spPr>
          <a:xfrm>
            <a:off x="591245" y="1544499"/>
            <a:ext cx="2553000" cy="14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3000"/>
              <a:buFont typeface="Century Gothic"/>
              <a:buNone/>
              <a:defRPr b="0" i="0" sz="3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67"/>
          <p:cNvSpPr txBox="1"/>
          <p:nvPr>
            <p:ph idx="2" type="body"/>
          </p:nvPr>
        </p:nvSpPr>
        <p:spPr>
          <a:xfrm>
            <a:off x="630772" y="469325"/>
            <a:ext cx="4524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1500"/>
              <a:buNone/>
              <a:defRPr b="0" i="0" sz="15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seño personalizado">
  <p:cSld name="2_Diseño personalizado">
    <p:bg>
      <p:bgPr>
        <a:solidFill>
          <a:srgbClr val="122FA9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8"/>
          <p:cNvSpPr txBox="1"/>
          <p:nvPr>
            <p:ph type="title"/>
          </p:nvPr>
        </p:nvSpPr>
        <p:spPr>
          <a:xfrm>
            <a:off x="580768" y="1527745"/>
            <a:ext cx="4030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68"/>
          <p:cNvSpPr txBox="1"/>
          <p:nvPr>
            <p:ph idx="1" type="body"/>
          </p:nvPr>
        </p:nvSpPr>
        <p:spPr>
          <a:xfrm>
            <a:off x="580768" y="3128409"/>
            <a:ext cx="3600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i="0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7">
  <p:cSld name="TITLE_AND_BODY_10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6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44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5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theme" Target="../theme/theme3.xml"/><Relationship Id="rId21" Type="http://schemas.openxmlformats.org/officeDocument/2006/relationships/slideLayout" Target="../slideLayouts/slideLayout66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78816" y="1501854"/>
            <a:ext cx="25509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3000"/>
              <a:buFont typeface="Century Gothic"/>
              <a:buNone/>
              <a:defRPr b="0" i="0" sz="3000" u="none" cap="none" strike="noStrike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578816" y="2610299"/>
            <a:ext cx="30063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FA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250705" y="457707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orient="horz" pos="174">
          <p15:clr>
            <a:srgbClr val="F26B43"/>
          </p15:clr>
        </p15:guide>
        <p15:guide id="3" pos="5585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pos="397">
          <p15:clr>
            <a:srgbClr val="F26B43"/>
          </p15:clr>
        </p15:guide>
        <p15:guide id="6" pos="1009">
          <p15:clr>
            <a:srgbClr val="F26B43"/>
          </p15:clr>
        </p15:guide>
        <p15:guide id="7" pos="1094">
          <p15:clr>
            <a:srgbClr val="F26B43"/>
          </p15:clr>
        </p15:guide>
        <p15:guide id="8" pos="1910">
          <p15:clr>
            <a:srgbClr val="F26B43"/>
          </p15:clr>
        </p15:guide>
        <p15:guide id="9" pos="2029">
          <p15:clr>
            <a:srgbClr val="F26B43"/>
          </p15:clr>
        </p15:guide>
        <p15:guide id="10" pos="2846">
          <p15:clr>
            <a:srgbClr val="F26B43"/>
          </p15:clr>
        </p15:guide>
        <p15:guide id="11" pos="2948">
          <p15:clr>
            <a:srgbClr val="F26B43"/>
          </p15:clr>
        </p15:guide>
        <p15:guide id="12" pos="3748">
          <p15:clr>
            <a:srgbClr val="F26B43"/>
          </p15:clr>
        </p15:guide>
        <p15:guide id="13" pos="3850">
          <p15:clr>
            <a:srgbClr val="F26B43"/>
          </p15:clr>
        </p15:guide>
        <p15:guide id="14" pos="4683">
          <p15:clr>
            <a:srgbClr val="F26B43"/>
          </p15:clr>
        </p15:guide>
        <p15:guide id="15" pos="47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9" Type="http://schemas.openxmlformats.org/officeDocument/2006/relationships/image" Target="../media/image48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Relationship Id="rId10" Type="http://schemas.openxmlformats.org/officeDocument/2006/relationships/image" Target="../media/image4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Relationship Id="rId4" Type="http://schemas.openxmlformats.org/officeDocument/2006/relationships/image" Target="../media/image50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Relationship Id="rId7" Type="http://schemas.openxmlformats.org/officeDocument/2006/relationships/image" Target="../media/image33.png"/><Relationship Id="rId8" Type="http://schemas.openxmlformats.org/officeDocument/2006/relationships/image" Target="../media/image40.png"/><Relationship Id="rId10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QX_zCCpHaJipv0w3MQEWW0QGpOKAQixnMWmTNvChn7k/edit?usp=sharing" TargetMode="External"/><Relationship Id="rId4" Type="http://schemas.openxmlformats.org/officeDocument/2006/relationships/image" Target="../media/image41.png"/><Relationship Id="rId5" Type="http://schemas.openxmlformats.org/officeDocument/2006/relationships/image" Target="../media/image51.png"/><Relationship Id="rId6" Type="http://schemas.openxmlformats.org/officeDocument/2006/relationships/image" Target="../media/image44.png"/><Relationship Id="rId7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Relationship Id="rId4" Type="http://schemas.openxmlformats.org/officeDocument/2006/relationships/image" Target="../media/image54.png"/><Relationship Id="rId5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63.png"/><Relationship Id="rId5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63.png"/><Relationship Id="rId5" Type="http://schemas.openxmlformats.org/officeDocument/2006/relationships/image" Target="../media/image55.png"/><Relationship Id="rId6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70.png"/><Relationship Id="rId9" Type="http://schemas.openxmlformats.org/officeDocument/2006/relationships/image" Target="../media/image65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9.png"/><Relationship Id="rId8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Relationship Id="rId9" Type="http://schemas.openxmlformats.org/officeDocument/2006/relationships/image" Target="../media/image60.png"/><Relationship Id="rId5" Type="http://schemas.openxmlformats.org/officeDocument/2006/relationships/image" Target="../media/image62.png"/><Relationship Id="rId6" Type="http://schemas.openxmlformats.org/officeDocument/2006/relationships/image" Target="../media/image72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3" Type="http://schemas.openxmlformats.org/officeDocument/2006/relationships/image" Target="../media/image64.png"/><Relationship Id="rId12" Type="http://schemas.openxmlformats.org/officeDocument/2006/relationships/image" Target="../media/image71.png"/><Relationship Id="rId14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FA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0"/>
          <p:cNvSpPr txBox="1"/>
          <p:nvPr/>
        </p:nvSpPr>
        <p:spPr>
          <a:xfrm>
            <a:off x="562200" y="2681475"/>
            <a:ext cx="61206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s-419" sz="375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Framework para Despliegues - DataOps</a:t>
            </a:r>
            <a:endParaRPr b="1" sz="375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70"/>
          <p:cNvSpPr txBox="1"/>
          <p:nvPr/>
        </p:nvSpPr>
        <p:spPr>
          <a:xfrm>
            <a:off x="553800" y="4321600"/>
            <a:ext cx="2862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7D5A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Lima, 2024</a:t>
            </a:r>
            <a:endParaRPr sz="1200">
              <a:solidFill>
                <a:srgbClr val="17D5AF"/>
              </a:solidFill>
            </a:endParaRPr>
          </a:p>
        </p:txBody>
      </p:sp>
      <p:pic>
        <p:nvPicPr>
          <p:cNvPr id="294" name="Google Shape;2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00" y="294000"/>
            <a:ext cx="1157427" cy="2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CB9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1"/>
          <p:cNvSpPr/>
          <p:nvPr/>
        </p:nvSpPr>
        <p:spPr>
          <a:xfrm>
            <a:off x="8138139" y="2377501"/>
            <a:ext cx="3565648" cy="1409115"/>
          </a:xfrm>
          <a:custGeom>
            <a:rect b="b" l="l" r="r" t="t"/>
            <a:pathLst>
              <a:path extrusionOk="0" h="47541" w="97542">
                <a:moveTo>
                  <a:pt x="0" y="17213"/>
                </a:moveTo>
                <a:lnTo>
                  <a:pt x="0" y="47541"/>
                </a:lnTo>
                <a:lnTo>
                  <a:pt x="97542" y="29918"/>
                </a:lnTo>
                <a:lnTo>
                  <a:pt x="97542" y="0"/>
                </a:lnTo>
                <a:close/>
              </a:path>
            </a:pathLst>
          </a:custGeom>
          <a:solidFill>
            <a:srgbClr val="122FA9"/>
          </a:solidFill>
          <a:ln>
            <a:noFill/>
          </a:ln>
        </p:spPr>
      </p:sp>
      <p:sp>
        <p:nvSpPr>
          <p:cNvPr id="300" name="Google Shape;300;p71"/>
          <p:cNvSpPr/>
          <p:nvPr/>
        </p:nvSpPr>
        <p:spPr>
          <a:xfrm>
            <a:off x="7896275" y="3233201"/>
            <a:ext cx="5198669" cy="1712807"/>
          </a:xfrm>
          <a:custGeom>
            <a:rect b="b" l="l" r="r" t="t"/>
            <a:pathLst>
              <a:path extrusionOk="0" h="57787" w="142215">
                <a:moveTo>
                  <a:pt x="0" y="25410"/>
                </a:moveTo>
                <a:lnTo>
                  <a:pt x="0" y="57787"/>
                </a:lnTo>
                <a:lnTo>
                  <a:pt x="142215" y="31967"/>
                </a:lnTo>
                <a:lnTo>
                  <a:pt x="142215" y="0"/>
                </a:lnTo>
                <a:close/>
              </a:path>
            </a:pathLst>
          </a:custGeom>
          <a:solidFill>
            <a:srgbClr val="1337CD"/>
          </a:solidFill>
          <a:ln>
            <a:noFill/>
          </a:ln>
        </p:spPr>
      </p:sp>
      <p:sp>
        <p:nvSpPr>
          <p:cNvPr id="301" name="Google Shape;301;p71"/>
          <p:cNvSpPr txBox="1"/>
          <p:nvPr/>
        </p:nvSpPr>
        <p:spPr>
          <a:xfrm>
            <a:off x="1145475" y="1843000"/>
            <a:ext cx="5121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●"/>
            </a:pPr>
            <a:r>
              <a:rPr b="1" lang="es-419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●"/>
            </a:pPr>
            <a:r>
              <a:rPr b="1" lang="es-419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●"/>
            </a:pPr>
            <a:r>
              <a:rPr b="1" lang="es-419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Requisitos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●"/>
            </a:pPr>
            <a:r>
              <a:rPr b="1" lang="es-419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Explicación del framework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2" name="Google Shape;302;p71"/>
          <p:cNvCxnSpPr/>
          <p:nvPr/>
        </p:nvCxnSpPr>
        <p:spPr>
          <a:xfrm flipH="1" rot="10800000">
            <a:off x="0" y="1007850"/>
            <a:ext cx="4544100" cy="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71"/>
          <p:cNvSpPr txBox="1"/>
          <p:nvPr/>
        </p:nvSpPr>
        <p:spPr>
          <a:xfrm>
            <a:off x="382650" y="465000"/>
            <a:ext cx="83073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Qué veremos</a:t>
            </a:r>
            <a:endParaRPr sz="2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2"/>
          <p:cNvSpPr/>
          <p:nvPr/>
        </p:nvSpPr>
        <p:spPr>
          <a:xfrm>
            <a:off x="658850" y="2358525"/>
            <a:ext cx="7043400" cy="2132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entury Gothic"/>
                <a:ea typeface="Century Gothic"/>
                <a:cs typeface="Century Gothic"/>
                <a:sym typeface="Century Gothic"/>
              </a:rPr>
              <a:t>Proceso de desarrollo de datos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72"/>
          <p:cNvSpPr/>
          <p:nvPr/>
        </p:nvSpPr>
        <p:spPr>
          <a:xfrm>
            <a:off x="733425" y="2531125"/>
            <a:ext cx="883500" cy="906600"/>
          </a:xfrm>
          <a:prstGeom prst="ellipse">
            <a:avLst/>
          </a:prstGeom>
          <a:solidFill>
            <a:srgbClr val="102A98"/>
          </a:solidFill>
          <a:ln cap="flat" cmpd="sng" w="76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2"/>
          <p:cNvSpPr txBox="1"/>
          <p:nvPr/>
        </p:nvSpPr>
        <p:spPr>
          <a:xfrm>
            <a:off x="6016621" y="2923375"/>
            <a:ext cx="20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AI Lab</a:t>
            </a:r>
            <a:endParaRPr b="1" sz="7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1" name="Google Shape;311;p72"/>
          <p:cNvCxnSpPr/>
          <p:nvPr/>
        </p:nvCxnSpPr>
        <p:spPr>
          <a:xfrm flipH="1" rot="10800000">
            <a:off x="0" y="1007850"/>
            <a:ext cx="4544100" cy="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72"/>
          <p:cNvSpPr/>
          <p:nvPr/>
        </p:nvSpPr>
        <p:spPr>
          <a:xfrm>
            <a:off x="1723553" y="2531125"/>
            <a:ext cx="883500" cy="906600"/>
          </a:xfrm>
          <a:prstGeom prst="ellipse">
            <a:avLst/>
          </a:prstGeom>
          <a:solidFill>
            <a:srgbClr val="102A98"/>
          </a:solidFill>
          <a:ln cap="flat" cmpd="sng" w="76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2"/>
          <p:cNvSpPr/>
          <p:nvPr/>
        </p:nvSpPr>
        <p:spPr>
          <a:xfrm>
            <a:off x="2713680" y="2531130"/>
            <a:ext cx="883500" cy="906600"/>
          </a:xfrm>
          <a:prstGeom prst="ellipse">
            <a:avLst/>
          </a:prstGeom>
          <a:solidFill>
            <a:srgbClr val="122FA9"/>
          </a:solidFill>
          <a:ln cap="flat" cmpd="sng" w="76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2"/>
          <p:cNvSpPr/>
          <p:nvPr/>
        </p:nvSpPr>
        <p:spPr>
          <a:xfrm>
            <a:off x="3703808" y="2531130"/>
            <a:ext cx="883500" cy="906600"/>
          </a:xfrm>
          <a:prstGeom prst="ellipse">
            <a:avLst/>
          </a:prstGeom>
          <a:solidFill>
            <a:srgbClr val="00FFFF"/>
          </a:solidFill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2"/>
          <p:cNvSpPr/>
          <p:nvPr/>
        </p:nvSpPr>
        <p:spPr>
          <a:xfrm>
            <a:off x="4693923" y="2531130"/>
            <a:ext cx="883500" cy="906600"/>
          </a:xfrm>
          <a:prstGeom prst="ellipse">
            <a:avLst/>
          </a:prstGeom>
          <a:solidFill>
            <a:srgbClr val="FF0000"/>
          </a:solidFill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2"/>
          <p:cNvSpPr/>
          <p:nvPr/>
        </p:nvSpPr>
        <p:spPr>
          <a:xfrm>
            <a:off x="5684051" y="2531125"/>
            <a:ext cx="883500" cy="906600"/>
          </a:xfrm>
          <a:prstGeom prst="ellipse">
            <a:avLst/>
          </a:prstGeom>
          <a:solidFill>
            <a:srgbClr val="1337CD"/>
          </a:solidFill>
          <a:ln cap="flat" cmpd="sng" w="76200">
            <a:solidFill>
              <a:srgbClr val="002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2"/>
          <p:cNvSpPr/>
          <p:nvPr/>
        </p:nvSpPr>
        <p:spPr>
          <a:xfrm>
            <a:off x="6674163" y="2531130"/>
            <a:ext cx="883500" cy="906600"/>
          </a:xfrm>
          <a:prstGeom prst="ellipse">
            <a:avLst/>
          </a:prstGeom>
          <a:solidFill>
            <a:srgbClr val="1337CD"/>
          </a:solidFill>
          <a:ln cap="flat" cmpd="sng" w="76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775" y="2661021"/>
            <a:ext cx="646801" cy="64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250" y="270737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8375" y="2707366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2274" y="2661026"/>
            <a:ext cx="646801" cy="64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8750" y="270737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80560" y="2661030"/>
            <a:ext cx="738001" cy="73802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72"/>
          <p:cNvSpPr txBox="1"/>
          <p:nvPr/>
        </p:nvSpPr>
        <p:spPr>
          <a:xfrm>
            <a:off x="4444775" y="1721938"/>
            <a:ext cx="1381800" cy="369300"/>
          </a:xfrm>
          <a:prstGeom prst="rect">
            <a:avLst/>
          </a:prstGeom>
          <a:noFill/>
          <a:ln cap="flat" cmpd="sng" w="9525">
            <a:solidFill>
              <a:srgbClr val="122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122FA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Despliegue</a:t>
            </a:r>
            <a:endParaRPr b="1" sz="1600">
              <a:solidFill>
                <a:srgbClr val="122FA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72"/>
          <p:cNvSpPr/>
          <p:nvPr/>
        </p:nvSpPr>
        <p:spPr>
          <a:xfrm>
            <a:off x="5096675" y="2103850"/>
            <a:ext cx="78000" cy="3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72"/>
          <p:cNvSpPr/>
          <p:nvPr/>
        </p:nvSpPr>
        <p:spPr>
          <a:xfrm>
            <a:off x="3657300" y="2498738"/>
            <a:ext cx="976500" cy="976200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1337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7" name="Google Shape;327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39800" y="2661025"/>
            <a:ext cx="646799" cy="64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72"/>
          <p:cNvPicPr preferRelativeResize="0"/>
          <p:nvPr/>
        </p:nvPicPr>
        <p:blipFill rotWithShape="1">
          <a:blip r:embed="rId10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72"/>
          <p:cNvSpPr txBox="1"/>
          <p:nvPr/>
        </p:nvSpPr>
        <p:spPr>
          <a:xfrm>
            <a:off x="792600" y="402325"/>
            <a:ext cx="73947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 del Framework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72"/>
          <p:cNvSpPr txBox="1"/>
          <p:nvPr/>
        </p:nvSpPr>
        <p:spPr>
          <a:xfrm>
            <a:off x="507275" y="1008750"/>
            <a:ext cx="809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Dentro de un proceso de desarrollo, nuestro alcance es cubrir la necesidad de realizar despliegues hacia ambientes productivos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72"/>
          <p:cNvSpPr txBox="1"/>
          <p:nvPr/>
        </p:nvSpPr>
        <p:spPr>
          <a:xfrm>
            <a:off x="686925" y="3519270"/>
            <a:ext cx="97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9B9B9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Ideación</a:t>
            </a:r>
            <a:endParaRPr sz="1300">
              <a:solidFill>
                <a:srgbClr val="9B9B9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72"/>
          <p:cNvSpPr txBox="1"/>
          <p:nvPr/>
        </p:nvSpPr>
        <p:spPr>
          <a:xfrm>
            <a:off x="1677050" y="3519270"/>
            <a:ext cx="97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9B9B9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endParaRPr sz="1300">
              <a:solidFill>
                <a:srgbClr val="9B9B9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72"/>
          <p:cNvSpPr txBox="1"/>
          <p:nvPr/>
        </p:nvSpPr>
        <p:spPr>
          <a:xfrm>
            <a:off x="2667175" y="3519270"/>
            <a:ext cx="97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9B9B9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 sz="1300">
              <a:solidFill>
                <a:srgbClr val="9B9B9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72"/>
          <p:cNvSpPr txBox="1"/>
          <p:nvPr/>
        </p:nvSpPr>
        <p:spPr>
          <a:xfrm>
            <a:off x="3692300" y="3519270"/>
            <a:ext cx="97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9B9B9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Construcción</a:t>
            </a:r>
            <a:endParaRPr sz="1300">
              <a:solidFill>
                <a:srgbClr val="9B9B9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72"/>
          <p:cNvSpPr txBox="1"/>
          <p:nvPr/>
        </p:nvSpPr>
        <p:spPr>
          <a:xfrm>
            <a:off x="5637550" y="3519275"/>
            <a:ext cx="188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9B9B9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Monitoreo</a:t>
            </a:r>
            <a:endParaRPr sz="1300">
              <a:solidFill>
                <a:srgbClr val="9B9B9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3"/>
          <p:cNvSpPr/>
          <p:nvPr/>
        </p:nvSpPr>
        <p:spPr>
          <a:xfrm>
            <a:off x="3649100" y="1668677"/>
            <a:ext cx="2071200" cy="2777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3"/>
          <p:cNvSpPr/>
          <p:nvPr/>
        </p:nvSpPr>
        <p:spPr>
          <a:xfrm>
            <a:off x="1419600" y="1668675"/>
            <a:ext cx="2071200" cy="2777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3"/>
          <p:cNvSpPr/>
          <p:nvPr/>
        </p:nvSpPr>
        <p:spPr>
          <a:xfrm>
            <a:off x="5878600" y="1668675"/>
            <a:ext cx="2071200" cy="2777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73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73"/>
          <p:cNvSpPr txBox="1"/>
          <p:nvPr/>
        </p:nvSpPr>
        <p:spPr>
          <a:xfrm>
            <a:off x="1921750" y="856350"/>
            <a:ext cx="570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Sincronizar los equipos de Desarrollo y Operación en las actividades de despliegues a producción (Proyectos de Data) mediante 3 pilares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5" name="Google Shape;345;p73"/>
          <p:cNvSpPr txBox="1"/>
          <p:nvPr/>
        </p:nvSpPr>
        <p:spPr>
          <a:xfrm>
            <a:off x="1561375" y="3060900"/>
            <a:ext cx="165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DE </a:t>
            </a: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REPOSITORIOS</a:t>
            </a: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VERSIONAMIENTO Y CONTROL DE </a:t>
            </a: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CÓDIGO</a:t>
            </a:r>
            <a:endParaRPr sz="1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73"/>
          <p:cNvSpPr txBox="1"/>
          <p:nvPr/>
        </p:nvSpPr>
        <p:spPr>
          <a:xfrm>
            <a:off x="3984200" y="3156200"/>
            <a:ext cx="1562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DESPLIEGUE AUTOMATIZADO MEDIANTE CI/CD ENGINE</a:t>
            </a:r>
            <a:endParaRPr sz="1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p73"/>
          <p:cNvSpPr txBox="1"/>
          <p:nvPr/>
        </p:nvSpPr>
        <p:spPr>
          <a:xfrm>
            <a:off x="6026725" y="3107075"/>
            <a:ext cx="165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EQUIPOS SINCRONIZADOS</a:t>
            </a:r>
            <a:endParaRPr sz="1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73"/>
          <p:cNvSpPr txBox="1"/>
          <p:nvPr/>
        </p:nvSpPr>
        <p:spPr>
          <a:xfrm>
            <a:off x="792602" y="402325"/>
            <a:ext cx="8351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queremos lograr?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9" name="Google Shape;34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1750" y="1831975"/>
            <a:ext cx="1073000" cy="10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6644" y="1923519"/>
            <a:ext cx="1316125" cy="10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2050" y="1983313"/>
            <a:ext cx="904275" cy="9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73"/>
          <p:cNvSpPr txBox="1"/>
          <p:nvPr/>
        </p:nvSpPr>
        <p:spPr>
          <a:xfrm>
            <a:off x="2011525" y="4489345"/>
            <a:ext cx="97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Autogestión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73"/>
          <p:cNvSpPr txBox="1"/>
          <p:nvPr/>
        </p:nvSpPr>
        <p:spPr>
          <a:xfrm>
            <a:off x="4102850" y="4489350"/>
            <a:ext cx="124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Automatización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73"/>
          <p:cNvSpPr txBox="1"/>
          <p:nvPr/>
        </p:nvSpPr>
        <p:spPr>
          <a:xfrm>
            <a:off x="6309650" y="4489350"/>
            <a:ext cx="13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Colaboración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4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Requisitos para el Framework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75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75"/>
          <p:cNvSpPr txBox="1"/>
          <p:nvPr/>
        </p:nvSpPr>
        <p:spPr>
          <a:xfrm>
            <a:off x="679150" y="2160675"/>
            <a:ext cx="23637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Tener un repositorio como  servicio de  versionamiento de código. 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Ejemplo: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-Gitlab</a:t>
            </a:r>
            <a:b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b="1"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Github</a:t>
            </a:r>
            <a:endParaRPr b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-Azure Repos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 de comandos Git</a:t>
            </a:r>
            <a:br>
              <a:rPr b="1"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75"/>
          <p:cNvSpPr txBox="1"/>
          <p:nvPr/>
        </p:nvSpPr>
        <p:spPr>
          <a:xfrm>
            <a:off x="3643300" y="2160675"/>
            <a:ext cx="21006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repositorio debe tener su configuración en Cloud Build: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Trigger dev/qa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Trigger prd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Cuentas de Servicio para despliegues dev y prd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75"/>
          <p:cNvSpPr txBox="1"/>
          <p:nvPr/>
        </p:nvSpPr>
        <p:spPr>
          <a:xfrm>
            <a:off x="6320850" y="2094775"/>
            <a:ext cx="20772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Data/ML Engineer:</a:t>
            </a:r>
            <a:endParaRPr b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Responsable de la configuración del repo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Test y ejecución del despliegue en dev/qa (</a:t>
            </a:r>
            <a:r>
              <a:rPr lang="es-419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Build Id</a:t>
            </a: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Operator:</a:t>
            </a:r>
            <a:endParaRPr b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Revisión y validación del </a:t>
            </a:r>
            <a:r>
              <a:rPr lang="es-419" sz="13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Build Id</a:t>
            </a:r>
            <a:endParaRPr sz="13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Ejecución del despliegue en prd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75"/>
          <p:cNvSpPr txBox="1"/>
          <p:nvPr/>
        </p:nvSpPr>
        <p:spPr>
          <a:xfrm>
            <a:off x="792601" y="402325"/>
            <a:ext cx="5114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Requisitos para el Framework DataOps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9" name="Google Shape;36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5125" y="1357502"/>
            <a:ext cx="789225" cy="64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389" y="1374124"/>
            <a:ext cx="789225" cy="61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7875" y="3904400"/>
            <a:ext cx="513701" cy="47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7875" y="3559675"/>
            <a:ext cx="344750" cy="3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40225" y="3904396"/>
            <a:ext cx="344750" cy="3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40225" y="4523309"/>
            <a:ext cx="344750" cy="3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7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91500" y="1298000"/>
            <a:ext cx="596357" cy="5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7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87875" y="4523300"/>
            <a:ext cx="513700" cy="5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5"/>
          <p:cNvSpPr txBox="1"/>
          <p:nvPr/>
        </p:nvSpPr>
        <p:spPr>
          <a:xfrm>
            <a:off x="1359600" y="952675"/>
            <a:ext cx="13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2CB9"/>
                </a:solidFill>
              </a:rPr>
              <a:t>Repositorio</a:t>
            </a:r>
            <a:endParaRPr b="1">
              <a:solidFill>
                <a:srgbClr val="0C2CB9"/>
              </a:solidFill>
            </a:endParaRPr>
          </a:p>
        </p:txBody>
      </p:sp>
      <p:sp>
        <p:nvSpPr>
          <p:cNvPr id="378" name="Google Shape;378;p75"/>
          <p:cNvSpPr txBox="1"/>
          <p:nvPr/>
        </p:nvSpPr>
        <p:spPr>
          <a:xfrm>
            <a:off x="3722413" y="952675"/>
            <a:ext cx="18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2CB9"/>
                </a:solidFill>
              </a:rPr>
              <a:t>Configuración</a:t>
            </a:r>
            <a:endParaRPr b="1">
              <a:solidFill>
                <a:srgbClr val="0C2CB9"/>
              </a:solidFill>
            </a:endParaRPr>
          </a:p>
        </p:txBody>
      </p:sp>
      <p:sp>
        <p:nvSpPr>
          <p:cNvPr id="379" name="Google Shape;379;p75"/>
          <p:cNvSpPr txBox="1"/>
          <p:nvPr/>
        </p:nvSpPr>
        <p:spPr>
          <a:xfrm>
            <a:off x="6444588" y="952675"/>
            <a:ext cx="18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2CB9"/>
                </a:solidFill>
              </a:rPr>
              <a:t>Responsabilidades</a:t>
            </a:r>
            <a:endParaRPr b="1">
              <a:solidFill>
                <a:srgbClr val="0C2CB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6"/>
          <p:cNvSpPr/>
          <p:nvPr/>
        </p:nvSpPr>
        <p:spPr>
          <a:xfrm>
            <a:off x="895200" y="793650"/>
            <a:ext cx="6867300" cy="6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uso del Framework de desarrollo de datos para Empresas f</a:t>
            </a: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acilita el nombramiento y disposición de componentes en la plataforma de datos y permite:</a:t>
            </a:r>
            <a:endParaRPr b="1"/>
          </a:p>
        </p:txBody>
      </p:sp>
      <p:sp>
        <p:nvSpPr>
          <p:cNvPr id="385" name="Google Shape;385;p76"/>
          <p:cNvSpPr txBox="1"/>
          <p:nvPr/>
        </p:nvSpPr>
        <p:spPr>
          <a:xfrm>
            <a:off x="751300" y="1524450"/>
            <a:ext cx="701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Estructuras de Proyectos y DataSet definidos 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Nombrar objetos y componentes en la plataforma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Utilización de cuentas de servicio definidas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Utilización de un </a:t>
            </a:r>
            <a:r>
              <a:rPr b="1"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arquetipo </a:t>
            </a: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el código fuente en los repositorios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6" name="Google Shape;386;p7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725" y="2654650"/>
            <a:ext cx="2736025" cy="5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4725" y="3165650"/>
            <a:ext cx="1270675" cy="1587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76"/>
          <p:cNvPicPr preferRelativeResize="0"/>
          <p:nvPr/>
        </p:nvPicPr>
        <p:blipFill rotWithShape="1">
          <a:blip r:embed="rId6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6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del Framework de desarrollo de datos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0" name="Google Shape;390;p76"/>
          <p:cNvPicPr preferRelativeResize="0"/>
          <p:nvPr/>
        </p:nvPicPr>
        <p:blipFill rotWithShape="1">
          <a:blip r:embed="rId7">
            <a:alphaModFix/>
          </a:blip>
          <a:srcRect b="37330" l="0" r="32624" t="14750"/>
          <a:stretch/>
        </p:blipFill>
        <p:spPr>
          <a:xfrm>
            <a:off x="1372175" y="2722550"/>
            <a:ext cx="2127550" cy="20303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1" name="Google Shape;391;p76"/>
          <p:cNvSpPr txBox="1"/>
          <p:nvPr/>
        </p:nvSpPr>
        <p:spPr>
          <a:xfrm>
            <a:off x="1582775" y="4752850"/>
            <a:ext cx="159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Arquetipo de Proyecto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7"/>
          <p:cNvSpPr/>
          <p:nvPr/>
        </p:nvSpPr>
        <p:spPr>
          <a:xfrm>
            <a:off x="895200" y="793650"/>
            <a:ext cx="6867300" cy="6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definición para el despliegue de todo componente se realiza vía su archivo de despliegue en formato yaml, el cual contiene 2 bloques:</a:t>
            </a:r>
            <a:endParaRPr b="1"/>
          </a:p>
        </p:txBody>
      </p:sp>
      <p:pic>
        <p:nvPicPr>
          <p:cNvPr id="397" name="Google Shape;397;p77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77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Arquetipo de componentes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9" name="Google Shape;39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025" y="1542423"/>
            <a:ext cx="2223963" cy="334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5582" y="1529512"/>
            <a:ext cx="3278026" cy="334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77"/>
          <p:cNvCxnSpPr>
            <a:endCxn id="400" idx="1"/>
          </p:cNvCxnSpPr>
          <p:nvPr/>
        </p:nvCxnSpPr>
        <p:spPr>
          <a:xfrm flipH="1" rot="10800000">
            <a:off x="2144082" y="3203437"/>
            <a:ext cx="1351500" cy="9327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77"/>
          <p:cNvSpPr/>
          <p:nvPr/>
        </p:nvSpPr>
        <p:spPr>
          <a:xfrm>
            <a:off x="7056950" y="1542423"/>
            <a:ext cx="1867800" cy="10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Bloque 1</a:t>
            </a:r>
            <a:r>
              <a:rPr lang="es-419"/>
              <a:t> Configuración para despliegue  del componente</a:t>
            </a:r>
            <a:endParaRPr/>
          </a:p>
        </p:txBody>
      </p:sp>
      <p:sp>
        <p:nvSpPr>
          <p:cNvPr id="403" name="Google Shape;403;p77"/>
          <p:cNvSpPr/>
          <p:nvPr/>
        </p:nvSpPr>
        <p:spPr>
          <a:xfrm>
            <a:off x="7056950" y="2726248"/>
            <a:ext cx="1867800" cy="215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Bloque 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Variables de entorno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/>
          <p:nvPr/>
        </p:nvSpPr>
        <p:spPr>
          <a:xfrm>
            <a:off x="895200" y="793650"/>
            <a:ext cx="6867300" cy="10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lograr escalabilidad, interoperabilidad y desacoplamiento entre sistemas, es recomendable hacer uso de buenas prácticas en el desarrollo de procesos de datos con bigquery stored procedures, workflows y apis. </a:t>
            </a:r>
            <a:endParaRPr b="1"/>
          </a:p>
        </p:txBody>
      </p:sp>
      <p:sp>
        <p:nvSpPr>
          <p:cNvPr id="409" name="Google Shape;409;p78"/>
          <p:cNvSpPr txBox="1"/>
          <p:nvPr/>
        </p:nvSpPr>
        <p:spPr>
          <a:xfrm>
            <a:off x="750825" y="1907750"/>
            <a:ext cx="7011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Parametrización de Store procedures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de tabla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Orquestación vía workflows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Ejecución de componentes vía apis ( impersonando con service account)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0" name="Google Shape;410;p78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78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Adopción de buenas prácticas de desarrollo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9"/>
          <p:cNvSpPr/>
          <p:nvPr/>
        </p:nvSpPr>
        <p:spPr>
          <a:xfrm>
            <a:off x="895200" y="793650"/>
            <a:ext cx="6867300" cy="10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lograr escalabilidad, interoperabilidad y desacoplamiento entre sistemas, es recomendable hacer uso de buenas prácticas en el desarrollo de procesos de datos con bigquery </a:t>
            </a: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stored</a:t>
            </a: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procedures. Nos basamos en las siguientes premisas:</a:t>
            </a:r>
            <a:endParaRPr b="1"/>
          </a:p>
        </p:txBody>
      </p:sp>
      <p:sp>
        <p:nvSpPr>
          <p:cNvPr id="417" name="Google Shape;417;p79"/>
          <p:cNvSpPr txBox="1"/>
          <p:nvPr/>
        </p:nvSpPr>
        <p:spPr>
          <a:xfrm>
            <a:off x="751300" y="1753050"/>
            <a:ext cx="7011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Dentro de un SP, toda referencia a una tabla debe estar parametrizada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○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de tabla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trabaja con queries dinámicos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ejecución de un SP entre ambientes, solo depende de los valores en sus parámetros.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8" name="Google Shape;418;p79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79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Adopción de buenas prácticas de desarrollo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0" name="Google Shape;42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475" y="3386525"/>
            <a:ext cx="3839426" cy="115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9350" y="3386525"/>
            <a:ext cx="4637674" cy="11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0"/>
          <p:cNvSpPr txBox="1"/>
          <p:nvPr>
            <p:ph type="title"/>
          </p:nvPr>
        </p:nvSpPr>
        <p:spPr>
          <a:xfrm>
            <a:off x="565274" y="1607235"/>
            <a:ext cx="4464000" cy="188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XOps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81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81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Inclusión del framework MLOps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3" name="Google Shape;433;p81"/>
          <p:cNvPicPr preferRelativeResize="0"/>
          <p:nvPr/>
        </p:nvPicPr>
        <p:blipFill rotWithShape="1">
          <a:blip r:embed="rId4">
            <a:alphaModFix/>
          </a:blip>
          <a:srcRect b="3508" l="0" r="53227" t="1938"/>
          <a:stretch/>
        </p:blipFill>
        <p:spPr>
          <a:xfrm>
            <a:off x="750825" y="1799850"/>
            <a:ext cx="23656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81"/>
          <p:cNvPicPr preferRelativeResize="0"/>
          <p:nvPr/>
        </p:nvPicPr>
        <p:blipFill rotWithShape="1">
          <a:blip r:embed="rId4">
            <a:alphaModFix/>
          </a:blip>
          <a:srcRect b="3508" l="50387" r="0" t="1938"/>
          <a:stretch/>
        </p:blipFill>
        <p:spPr>
          <a:xfrm>
            <a:off x="5869700" y="1799838"/>
            <a:ext cx="25093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863" y="2671938"/>
            <a:ext cx="1584425" cy="10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81"/>
          <p:cNvSpPr/>
          <p:nvPr/>
        </p:nvSpPr>
        <p:spPr>
          <a:xfrm>
            <a:off x="895200" y="793650"/>
            <a:ext cx="6867300" cy="10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desarrolló un componente que interprete los notebooks y despliegue (compile) todos los artefactos que definen un pipeline vertex ai</a:t>
            </a:r>
            <a:endParaRPr b="1"/>
          </a:p>
        </p:txBody>
      </p:sp>
      <p:sp>
        <p:nvSpPr>
          <p:cNvPr id="437" name="Google Shape;437;p81"/>
          <p:cNvSpPr/>
          <p:nvPr/>
        </p:nvSpPr>
        <p:spPr>
          <a:xfrm>
            <a:off x="1203150" y="4546225"/>
            <a:ext cx="2604000" cy="46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mantiene la forma de trabajo ML Engineers</a:t>
            </a:r>
            <a:endParaRPr/>
          </a:p>
        </p:txBody>
      </p:sp>
      <p:sp>
        <p:nvSpPr>
          <p:cNvPr id="438" name="Google Shape;438;p81"/>
          <p:cNvSpPr/>
          <p:nvPr/>
        </p:nvSpPr>
        <p:spPr>
          <a:xfrm>
            <a:off x="5585975" y="4495375"/>
            <a:ext cx="3390600" cy="56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framework crea los artefactos definidos en el yaml de los notebooks</a:t>
            </a:r>
            <a:endParaRPr/>
          </a:p>
        </p:txBody>
      </p:sp>
      <p:sp>
        <p:nvSpPr>
          <p:cNvPr id="439" name="Google Shape;439;p81"/>
          <p:cNvSpPr/>
          <p:nvPr/>
        </p:nvSpPr>
        <p:spPr>
          <a:xfrm>
            <a:off x="3368850" y="2934850"/>
            <a:ext cx="438300" cy="31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1"/>
          <p:cNvSpPr/>
          <p:nvPr/>
        </p:nvSpPr>
        <p:spPr>
          <a:xfrm>
            <a:off x="5285300" y="2934850"/>
            <a:ext cx="438300" cy="31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82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82"/>
          <p:cNvSpPr txBox="1"/>
          <p:nvPr/>
        </p:nvSpPr>
        <p:spPr>
          <a:xfrm>
            <a:off x="792600" y="402325"/>
            <a:ext cx="6202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Inclusión del framework MLOps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7" name="Google Shape;447;p82"/>
          <p:cNvPicPr preferRelativeResize="0"/>
          <p:nvPr/>
        </p:nvPicPr>
        <p:blipFill rotWithShape="1">
          <a:blip r:embed="rId4">
            <a:alphaModFix/>
          </a:blip>
          <a:srcRect b="3508" l="0" r="53227" t="1938"/>
          <a:stretch/>
        </p:blipFill>
        <p:spPr>
          <a:xfrm>
            <a:off x="750825" y="1799850"/>
            <a:ext cx="23656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863" y="2671938"/>
            <a:ext cx="1584425" cy="10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2"/>
          <p:cNvSpPr/>
          <p:nvPr/>
        </p:nvSpPr>
        <p:spPr>
          <a:xfrm>
            <a:off x="895200" y="793650"/>
            <a:ext cx="6867300" cy="10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desarrolló un componente que interprete los notebooks y despliegue (compile) todos los artefactos que definen un pipeline vertex ai</a:t>
            </a:r>
            <a:endParaRPr b="1"/>
          </a:p>
        </p:txBody>
      </p:sp>
      <p:sp>
        <p:nvSpPr>
          <p:cNvPr id="450" name="Google Shape;450;p82"/>
          <p:cNvSpPr/>
          <p:nvPr/>
        </p:nvSpPr>
        <p:spPr>
          <a:xfrm>
            <a:off x="1203150" y="4546225"/>
            <a:ext cx="2604000" cy="46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mantiene la forma de trabajo ML Engineers</a:t>
            </a:r>
            <a:endParaRPr/>
          </a:p>
        </p:txBody>
      </p:sp>
      <p:sp>
        <p:nvSpPr>
          <p:cNvPr id="451" name="Google Shape;451;p82"/>
          <p:cNvSpPr/>
          <p:nvPr/>
        </p:nvSpPr>
        <p:spPr>
          <a:xfrm>
            <a:off x="5585975" y="4495375"/>
            <a:ext cx="3076800" cy="56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resto de componentes Bigquery ya se despliegan por el framework</a:t>
            </a:r>
            <a:endParaRPr/>
          </a:p>
        </p:txBody>
      </p:sp>
      <p:sp>
        <p:nvSpPr>
          <p:cNvPr id="452" name="Google Shape;452;p82"/>
          <p:cNvSpPr/>
          <p:nvPr/>
        </p:nvSpPr>
        <p:spPr>
          <a:xfrm>
            <a:off x="3368850" y="2934850"/>
            <a:ext cx="438300" cy="31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2"/>
          <p:cNvSpPr/>
          <p:nvPr/>
        </p:nvSpPr>
        <p:spPr>
          <a:xfrm>
            <a:off x="5285300" y="2934850"/>
            <a:ext cx="438300" cy="31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82"/>
          <p:cNvPicPr preferRelativeResize="0"/>
          <p:nvPr/>
        </p:nvPicPr>
        <p:blipFill rotWithShape="1">
          <a:blip r:embed="rId6">
            <a:alphaModFix/>
          </a:blip>
          <a:srcRect b="3308" l="59031" r="0" t="2192"/>
          <a:stretch/>
        </p:blipFill>
        <p:spPr>
          <a:xfrm>
            <a:off x="6211250" y="1754688"/>
            <a:ext cx="1826249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3"/>
          <p:cNvSpPr txBox="1"/>
          <p:nvPr/>
        </p:nvSpPr>
        <p:spPr>
          <a:xfrm>
            <a:off x="851000" y="1070375"/>
            <a:ext cx="5121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Bigquery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○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DDL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○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Store Procedures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Function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Run Service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Workflows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Scheduler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●"/>
            </a:pPr>
            <a:r>
              <a:rPr lang="es-419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Vertex AI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0" name="Google Shape;460;p83"/>
          <p:cNvPicPr preferRelativeResize="0"/>
          <p:nvPr/>
        </p:nvPicPr>
        <p:blipFill rotWithShape="1">
          <a:blip r:embed="rId3">
            <a:alphaModFix/>
          </a:blip>
          <a:srcRect b="8475" l="0" r="0" t="0"/>
          <a:stretch/>
        </p:blipFill>
        <p:spPr>
          <a:xfrm>
            <a:off x="5820975" y="937100"/>
            <a:ext cx="1394400" cy="668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83"/>
          <p:cNvPicPr preferRelativeResize="0"/>
          <p:nvPr/>
        </p:nvPicPr>
        <p:blipFill rotWithShape="1">
          <a:blip r:embed="rId4">
            <a:alphaModFix/>
          </a:blip>
          <a:srcRect b="18960" l="0" r="0" t="12617"/>
          <a:stretch/>
        </p:blipFill>
        <p:spPr>
          <a:xfrm>
            <a:off x="5671100" y="1671700"/>
            <a:ext cx="1896201" cy="6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83"/>
          <p:cNvPicPr preferRelativeResize="0"/>
          <p:nvPr/>
        </p:nvPicPr>
        <p:blipFill rotWithShape="1">
          <a:blip r:embed="rId5">
            <a:alphaModFix/>
          </a:blip>
          <a:srcRect b="19183" l="0" r="0" t="16400"/>
          <a:stretch/>
        </p:blipFill>
        <p:spPr>
          <a:xfrm>
            <a:off x="5577725" y="3633250"/>
            <a:ext cx="1896150" cy="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83"/>
          <p:cNvPicPr preferRelativeResize="0"/>
          <p:nvPr/>
        </p:nvPicPr>
        <p:blipFill rotWithShape="1">
          <a:blip r:embed="rId6">
            <a:alphaModFix/>
          </a:blip>
          <a:srcRect b="23629" l="6255" r="14669" t="28606"/>
          <a:stretch/>
        </p:blipFill>
        <p:spPr>
          <a:xfrm>
            <a:off x="5782123" y="2352837"/>
            <a:ext cx="1736499" cy="59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83"/>
          <p:cNvPicPr preferRelativeResize="0"/>
          <p:nvPr/>
        </p:nvPicPr>
        <p:blipFill rotWithShape="1">
          <a:blip r:embed="rId7">
            <a:alphaModFix/>
          </a:blip>
          <a:srcRect b="0" l="0" r="41928" t="0"/>
          <a:stretch/>
        </p:blipFill>
        <p:spPr>
          <a:xfrm>
            <a:off x="5747300" y="2999100"/>
            <a:ext cx="1660300" cy="64124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83"/>
          <p:cNvSpPr txBox="1"/>
          <p:nvPr/>
        </p:nvSpPr>
        <p:spPr>
          <a:xfrm>
            <a:off x="6368250" y="3087188"/>
            <a:ext cx="13944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</a:rPr>
              <a:t>Workflows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466" name="Google Shape;466;p83"/>
          <p:cNvPicPr preferRelativeResize="0"/>
          <p:nvPr/>
        </p:nvPicPr>
        <p:blipFill rotWithShape="1">
          <a:blip r:embed="rId8">
            <a:alphaModFix/>
          </a:blip>
          <a:srcRect b="0" l="0" r="76778" t="0"/>
          <a:stretch/>
        </p:blipFill>
        <p:spPr>
          <a:xfrm>
            <a:off x="406075" y="44397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83"/>
          <p:cNvSpPr txBox="1"/>
          <p:nvPr/>
        </p:nvSpPr>
        <p:spPr>
          <a:xfrm>
            <a:off x="792601" y="402325"/>
            <a:ext cx="5114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900">
                <a:solidFill>
                  <a:srgbClr val="0C2CB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Servicios Soportados para despliegues</a:t>
            </a:r>
            <a:endParaRPr sz="20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8" name="Google Shape;468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09195" y="4327753"/>
            <a:ext cx="1736500" cy="611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4"/>
          <p:cNvSpPr txBox="1"/>
          <p:nvPr/>
        </p:nvSpPr>
        <p:spPr>
          <a:xfrm>
            <a:off x="3578350" y="2914575"/>
            <a:ext cx="97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>
                <a:solidFill>
                  <a:schemeClr val="dk2"/>
                </a:solidFill>
              </a:rPr>
              <a:t>Deploy Logs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475" name="Google Shape;475;p84"/>
          <p:cNvPicPr preferRelativeResize="0"/>
          <p:nvPr/>
        </p:nvPicPr>
        <p:blipFill rotWithShape="1">
          <a:blip r:embed="rId3">
            <a:alphaModFix/>
          </a:blip>
          <a:srcRect b="0" l="0" r="76778" t="0"/>
          <a:stretch/>
        </p:blipFill>
        <p:spPr>
          <a:xfrm>
            <a:off x="389925" y="158125"/>
            <a:ext cx="344751" cy="3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84"/>
          <p:cNvSpPr txBox="1"/>
          <p:nvPr/>
        </p:nvSpPr>
        <p:spPr>
          <a:xfrm>
            <a:off x="776452" y="116475"/>
            <a:ext cx="79776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Funcionamiento</a:t>
            </a:r>
            <a:endParaRPr sz="1900">
              <a:solidFill>
                <a:srgbClr val="122FA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p84"/>
          <p:cNvSpPr txBox="1"/>
          <p:nvPr/>
        </p:nvSpPr>
        <p:spPr>
          <a:xfrm>
            <a:off x="569200" y="796375"/>
            <a:ext cx="84825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Data Developer realizan el test de todo el despliegue en ambientes previos y los Cloud Operator realizan el deploy a producción luego de comprobar que el despliegue se haya probado satisfactoriamente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p84"/>
          <p:cNvSpPr/>
          <p:nvPr/>
        </p:nvSpPr>
        <p:spPr>
          <a:xfrm>
            <a:off x="1137400" y="2101275"/>
            <a:ext cx="960900" cy="354000"/>
          </a:xfrm>
          <a:prstGeom prst="rect">
            <a:avLst/>
          </a:prstGeom>
          <a:solidFill>
            <a:srgbClr val="17D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Workspace dev1</a:t>
            </a:r>
            <a:endParaRPr b="1" sz="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9" name="Google Shape;479;p84"/>
          <p:cNvSpPr/>
          <p:nvPr/>
        </p:nvSpPr>
        <p:spPr>
          <a:xfrm>
            <a:off x="1137400" y="3189875"/>
            <a:ext cx="977400" cy="316200"/>
          </a:xfrm>
          <a:prstGeom prst="rect">
            <a:avLst/>
          </a:prstGeom>
          <a:solidFill>
            <a:srgbClr val="17D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Workspace dev2</a:t>
            </a:r>
            <a:endParaRPr b="1" i="0" sz="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84"/>
          <p:cNvSpPr/>
          <p:nvPr/>
        </p:nvSpPr>
        <p:spPr>
          <a:xfrm>
            <a:off x="5840750" y="2980300"/>
            <a:ext cx="1228500" cy="921300"/>
          </a:xfrm>
          <a:prstGeom prst="rect">
            <a:avLst/>
          </a:prstGeom>
          <a:solidFill>
            <a:srgbClr val="1AC8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Cloud Build</a:t>
            </a: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(Deployer)</a:t>
            </a:r>
            <a:endParaRPr/>
          </a:p>
        </p:txBody>
      </p:sp>
      <p:sp>
        <p:nvSpPr>
          <p:cNvPr id="481" name="Google Shape;481;p84"/>
          <p:cNvSpPr/>
          <p:nvPr/>
        </p:nvSpPr>
        <p:spPr>
          <a:xfrm>
            <a:off x="2615925" y="1991425"/>
            <a:ext cx="977400" cy="1626000"/>
          </a:xfrm>
          <a:prstGeom prst="rect">
            <a:avLst/>
          </a:prstGeom>
          <a:solidFill>
            <a:srgbClr val="17D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Repositorio </a:t>
            </a: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&lt;/&gt;</a:t>
            </a:r>
            <a:endParaRPr b="1" sz="11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</a:t>
            </a: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0" sz="11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82" name="Google Shape;482;p84"/>
          <p:cNvCxnSpPr>
            <a:stCxn id="478" idx="3"/>
            <a:endCxn id="481" idx="1"/>
          </p:cNvCxnSpPr>
          <p:nvPr/>
        </p:nvCxnSpPr>
        <p:spPr>
          <a:xfrm>
            <a:off x="2098300" y="2278275"/>
            <a:ext cx="517500" cy="526200"/>
          </a:xfrm>
          <a:prstGeom prst="bentConnector3">
            <a:avLst>
              <a:gd fmla="val 50012" name="adj1"/>
            </a:avLst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84"/>
          <p:cNvCxnSpPr>
            <a:stCxn id="479" idx="3"/>
            <a:endCxn id="481" idx="1"/>
          </p:cNvCxnSpPr>
          <p:nvPr/>
        </p:nvCxnSpPr>
        <p:spPr>
          <a:xfrm flipH="1" rot="10800000">
            <a:off x="2114800" y="2804375"/>
            <a:ext cx="501000" cy="543600"/>
          </a:xfrm>
          <a:prstGeom prst="bentConnector3">
            <a:avLst>
              <a:gd fmla="val 50012" name="adj1"/>
            </a:avLst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84"/>
          <p:cNvSpPr/>
          <p:nvPr/>
        </p:nvSpPr>
        <p:spPr>
          <a:xfrm>
            <a:off x="3957850" y="2397100"/>
            <a:ext cx="750600" cy="583200"/>
          </a:xfrm>
          <a:prstGeom prst="rect">
            <a:avLst/>
          </a:prstGeom>
          <a:solidFill>
            <a:srgbClr val="122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Trigger</a:t>
            </a:r>
            <a:b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certificación</a:t>
            </a:r>
            <a:endParaRPr sz="1000"/>
          </a:p>
        </p:txBody>
      </p:sp>
      <p:sp>
        <p:nvSpPr>
          <p:cNvPr id="485" name="Google Shape;485;p84"/>
          <p:cNvSpPr/>
          <p:nvPr/>
        </p:nvSpPr>
        <p:spPr>
          <a:xfrm>
            <a:off x="4119500" y="3706623"/>
            <a:ext cx="1207200" cy="750600"/>
          </a:xfrm>
          <a:prstGeom prst="rect">
            <a:avLst/>
          </a:prstGeom>
          <a:solidFill>
            <a:srgbClr val="122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Framework Despliegue XOps</a:t>
            </a:r>
            <a:endParaRPr/>
          </a:p>
        </p:txBody>
      </p:sp>
      <p:cxnSp>
        <p:nvCxnSpPr>
          <p:cNvPr id="486" name="Google Shape;486;p84"/>
          <p:cNvCxnSpPr>
            <a:stCxn id="484" idx="2"/>
            <a:endCxn id="480" idx="1"/>
          </p:cNvCxnSpPr>
          <p:nvPr/>
        </p:nvCxnSpPr>
        <p:spPr>
          <a:xfrm flipH="1" rot="-5400000">
            <a:off x="4856650" y="2456800"/>
            <a:ext cx="460500" cy="1507500"/>
          </a:xfrm>
          <a:prstGeom prst="bentConnector2">
            <a:avLst/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" name="Google Shape;487;p84"/>
          <p:cNvCxnSpPr>
            <a:stCxn id="485" idx="0"/>
            <a:endCxn id="480" idx="1"/>
          </p:cNvCxnSpPr>
          <p:nvPr/>
        </p:nvCxnSpPr>
        <p:spPr>
          <a:xfrm rot="-5400000">
            <a:off x="5149100" y="3014823"/>
            <a:ext cx="265800" cy="1117800"/>
          </a:xfrm>
          <a:prstGeom prst="bentConnector2">
            <a:avLst/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88" name="Google Shape;48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75" y="2106380"/>
            <a:ext cx="455400" cy="4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75" y="3066480"/>
            <a:ext cx="455400" cy="4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84"/>
          <p:cNvSpPr/>
          <p:nvPr/>
        </p:nvSpPr>
        <p:spPr>
          <a:xfrm>
            <a:off x="1381600" y="2624875"/>
            <a:ext cx="436500" cy="3654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{}</a:t>
            </a:r>
            <a:endParaRPr/>
          </a:p>
        </p:txBody>
      </p:sp>
      <p:sp>
        <p:nvSpPr>
          <p:cNvPr id="491" name="Google Shape;491;p84"/>
          <p:cNvSpPr/>
          <p:nvPr/>
        </p:nvSpPr>
        <p:spPr>
          <a:xfrm>
            <a:off x="1326150" y="3642800"/>
            <a:ext cx="455400" cy="4554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{}</a:t>
            </a:r>
            <a:endParaRPr/>
          </a:p>
        </p:txBody>
      </p:sp>
      <p:pic>
        <p:nvPicPr>
          <p:cNvPr id="492" name="Google Shape;49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6550" y="4500900"/>
            <a:ext cx="365400" cy="3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8138" y="1670575"/>
            <a:ext cx="646515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0000" y="4022000"/>
            <a:ext cx="594000" cy="59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7544" y="2373270"/>
            <a:ext cx="1693757" cy="208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9675" y="1723074"/>
            <a:ext cx="594001" cy="59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84"/>
          <p:cNvSpPr txBox="1"/>
          <p:nvPr/>
        </p:nvSpPr>
        <p:spPr>
          <a:xfrm>
            <a:off x="5437675" y="1556963"/>
            <a:ext cx="169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595959"/>
                </a:solidFill>
              </a:rPr>
              <a:t>Cloud Operator</a:t>
            </a:r>
            <a:endParaRPr sz="1100">
              <a:solidFill>
                <a:srgbClr val="595959"/>
              </a:solidFill>
            </a:endParaRPr>
          </a:p>
        </p:txBody>
      </p:sp>
      <p:sp>
        <p:nvSpPr>
          <p:cNvPr id="498" name="Google Shape;498;p84"/>
          <p:cNvSpPr/>
          <p:nvPr/>
        </p:nvSpPr>
        <p:spPr>
          <a:xfrm>
            <a:off x="4975500" y="2407650"/>
            <a:ext cx="750600" cy="583200"/>
          </a:xfrm>
          <a:prstGeom prst="rect">
            <a:avLst/>
          </a:prstGeom>
          <a:solidFill>
            <a:srgbClr val="122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Trigger</a:t>
            </a:r>
            <a:b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419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producción</a:t>
            </a:r>
            <a:endParaRPr sz="1000"/>
          </a:p>
        </p:txBody>
      </p:sp>
      <p:sp>
        <p:nvSpPr>
          <p:cNvPr id="499" name="Google Shape;499;p84"/>
          <p:cNvSpPr txBox="1"/>
          <p:nvPr/>
        </p:nvSpPr>
        <p:spPr>
          <a:xfrm>
            <a:off x="3710450" y="1403550"/>
            <a:ext cx="133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595959"/>
                </a:solidFill>
              </a:rPr>
              <a:t>ML/Data Engineer</a:t>
            </a:r>
            <a:endParaRPr sz="1100">
              <a:solidFill>
                <a:srgbClr val="595959"/>
              </a:solidFill>
            </a:endParaRPr>
          </a:p>
        </p:txBody>
      </p:sp>
      <p:sp>
        <p:nvSpPr>
          <p:cNvPr id="500" name="Google Shape;500;p84"/>
          <p:cNvSpPr txBox="1"/>
          <p:nvPr/>
        </p:nvSpPr>
        <p:spPr>
          <a:xfrm>
            <a:off x="5303650" y="4529800"/>
            <a:ext cx="116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595959"/>
                </a:solidFill>
              </a:rPr>
              <a:t>DataOps Engineer</a:t>
            </a:r>
            <a:endParaRPr sz="1100">
              <a:solidFill>
                <a:srgbClr val="595959"/>
              </a:solidFill>
            </a:endParaRPr>
          </a:p>
        </p:txBody>
      </p:sp>
      <p:cxnSp>
        <p:nvCxnSpPr>
          <p:cNvPr id="501" name="Google Shape;501;p84"/>
          <p:cNvCxnSpPr>
            <a:stCxn id="498" idx="2"/>
            <a:endCxn id="480" idx="1"/>
          </p:cNvCxnSpPr>
          <p:nvPr/>
        </p:nvCxnSpPr>
        <p:spPr>
          <a:xfrm flipH="1" rot="-5400000">
            <a:off x="5370750" y="2970900"/>
            <a:ext cx="450000" cy="489900"/>
          </a:xfrm>
          <a:prstGeom prst="bentConnector2">
            <a:avLst/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02" name="Google Shape;502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4052" y="2914648"/>
            <a:ext cx="296875" cy="2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65395" y="3136525"/>
            <a:ext cx="234175" cy="2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65395" y="3288925"/>
            <a:ext cx="234175" cy="23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84"/>
          <p:cNvCxnSpPr>
            <a:stCxn id="481" idx="2"/>
            <a:endCxn id="485" idx="1"/>
          </p:cNvCxnSpPr>
          <p:nvPr/>
        </p:nvCxnSpPr>
        <p:spPr>
          <a:xfrm flipH="1" rot="-5400000">
            <a:off x="3379875" y="3342175"/>
            <a:ext cx="464400" cy="1014900"/>
          </a:xfrm>
          <a:prstGeom prst="bentConnector2">
            <a:avLst/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06" name="Google Shape;506;p8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56212" y="2753375"/>
            <a:ext cx="436500" cy="43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84"/>
          <p:cNvCxnSpPr>
            <a:stCxn id="480" idx="3"/>
            <a:endCxn id="495" idx="1"/>
          </p:cNvCxnSpPr>
          <p:nvPr/>
        </p:nvCxnSpPr>
        <p:spPr>
          <a:xfrm flipH="1" rot="10800000">
            <a:off x="7069250" y="3418150"/>
            <a:ext cx="198300" cy="22800"/>
          </a:xfrm>
          <a:prstGeom prst="bentConnector3">
            <a:avLst>
              <a:gd fmla="val 49998" name="adj1"/>
            </a:avLst>
          </a:prstGeom>
          <a:noFill/>
          <a:ln cap="flat" cmpd="sng" w="12700">
            <a:solidFill>
              <a:srgbClr val="1AC8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8" name="Google Shape;508;p84"/>
          <p:cNvSpPr/>
          <p:nvPr/>
        </p:nvSpPr>
        <p:spPr>
          <a:xfrm>
            <a:off x="7284600" y="2016450"/>
            <a:ext cx="1507500" cy="354000"/>
          </a:xfrm>
          <a:prstGeom prst="rect">
            <a:avLst/>
          </a:prstGeom>
          <a:solidFill>
            <a:srgbClr val="17D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Despliegue de componentes</a:t>
            </a:r>
            <a:endParaRPr b="1" sz="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9" name="Google Shape;50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9240" y="2025060"/>
            <a:ext cx="296875" cy="2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84"/>
          <p:cNvPicPr preferRelativeResize="0"/>
          <p:nvPr/>
        </p:nvPicPr>
        <p:blipFill rotWithShape="1">
          <a:blip r:embed="rId12">
            <a:alphaModFix/>
          </a:blip>
          <a:srcRect b="0" l="19955" r="0" t="0"/>
          <a:stretch/>
        </p:blipFill>
        <p:spPr>
          <a:xfrm>
            <a:off x="7598175" y="2397100"/>
            <a:ext cx="1335150" cy="21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8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50163" y="3440950"/>
            <a:ext cx="365400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84"/>
          <p:cNvSpPr txBox="1"/>
          <p:nvPr/>
        </p:nvSpPr>
        <p:spPr>
          <a:xfrm>
            <a:off x="3167400" y="4640725"/>
            <a:ext cx="140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rgbClr val="595959"/>
                </a:solidFill>
              </a:rPr>
              <a:t>+Conexión GitHub-Cloud Build</a:t>
            </a:r>
            <a:endParaRPr sz="700">
              <a:solidFill>
                <a:srgbClr val="595959"/>
              </a:solidFill>
            </a:endParaRPr>
          </a:p>
        </p:txBody>
      </p:sp>
      <p:sp>
        <p:nvSpPr>
          <p:cNvPr id="513" name="Google Shape;513;p84"/>
          <p:cNvSpPr txBox="1"/>
          <p:nvPr/>
        </p:nvSpPr>
        <p:spPr>
          <a:xfrm>
            <a:off x="5840650" y="3706650"/>
            <a:ext cx="140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rgbClr val="595959"/>
                </a:solidFill>
                <a:highlight>
                  <a:schemeClr val="accent6"/>
                </a:highlight>
              </a:rPr>
              <a:t>+Service Account DataOps</a:t>
            </a:r>
            <a:endParaRPr sz="700">
              <a:solidFill>
                <a:srgbClr val="595959"/>
              </a:solidFill>
              <a:highlight>
                <a:schemeClr val="accent6"/>
              </a:highlight>
            </a:endParaRPr>
          </a:p>
        </p:txBody>
      </p:sp>
      <p:sp>
        <p:nvSpPr>
          <p:cNvPr id="514" name="Google Shape;514;p84"/>
          <p:cNvSpPr/>
          <p:nvPr/>
        </p:nvSpPr>
        <p:spPr>
          <a:xfrm>
            <a:off x="7598175" y="4275200"/>
            <a:ext cx="944100" cy="31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84"/>
          <p:cNvPicPr preferRelativeResize="0"/>
          <p:nvPr/>
        </p:nvPicPr>
        <p:blipFill rotWithShape="1">
          <a:blip r:embed="rId14">
            <a:alphaModFix/>
          </a:blip>
          <a:srcRect b="18471" l="0" r="0" t="20123"/>
          <a:stretch/>
        </p:blipFill>
        <p:spPr>
          <a:xfrm>
            <a:off x="7424950" y="4242850"/>
            <a:ext cx="1162200" cy="3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FA8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5"/>
          <p:cNvSpPr txBox="1"/>
          <p:nvPr/>
        </p:nvSpPr>
        <p:spPr>
          <a:xfrm>
            <a:off x="-443800" y="1738563"/>
            <a:ext cx="5865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-419" sz="7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Gracias  </a:t>
            </a:r>
            <a:endParaRPr b="1" sz="7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1" name="Google Shape;521;p85"/>
          <p:cNvSpPr/>
          <p:nvPr/>
        </p:nvSpPr>
        <p:spPr>
          <a:xfrm>
            <a:off x="6892600" y="209200"/>
            <a:ext cx="2438550" cy="1188525"/>
          </a:xfrm>
          <a:custGeom>
            <a:rect b="b" l="l" r="r" t="t"/>
            <a:pathLst>
              <a:path extrusionOk="0" h="47541" w="97542">
                <a:moveTo>
                  <a:pt x="0" y="17213"/>
                </a:moveTo>
                <a:lnTo>
                  <a:pt x="0" y="47541"/>
                </a:lnTo>
                <a:lnTo>
                  <a:pt x="97542" y="29918"/>
                </a:lnTo>
                <a:lnTo>
                  <a:pt x="97542" y="0"/>
                </a:lnTo>
                <a:close/>
              </a:path>
            </a:pathLst>
          </a:custGeom>
          <a:solidFill>
            <a:srgbClr val="102A98"/>
          </a:solidFill>
          <a:ln>
            <a:noFill/>
          </a:ln>
        </p:spPr>
      </p:sp>
      <p:sp>
        <p:nvSpPr>
          <p:cNvPr id="522" name="Google Shape;522;p85"/>
          <p:cNvSpPr/>
          <p:nvPr/>
        </p:nvSpPr>
        <p:spPr>
          <a:xfrm>
            <a:off x="6892600" y="2197800"/>
            <a:ext cx="2438550" cy="1188525"/>
          </a:xfrm>
          <a:custGeom>
            <a:rect b="b" l="l" r="r" t="t"/>
            <a:pathLst>
              <a:path extrusionOk="0" h="47541" w="97542">
                <a:moveTo>
                  <a:pt x="0" y="17213"/>
                </a:moveTo>
                <a:lnTo>
                  <a:pt x="0" y="47541"/>
                </a:lnTo>
                <a:lnTo>
                  <a:pt x="97542" y="29918"/>
                </a:lnTo>
                <a:lnTo>
                  <a:pt x="97542" y="0"/>
                </a:lnTo>
                <a:close/>
              </a:path>
            </a:pathLst>
          </a:custGeom>
          <a:solidFill>
            <a:srgbClr val="102A98"/>
          </a:solidFill>
          <a:ln>
            <a:noFill/>
          </a:ln>
        </p:spPr>
      </p:sp>
      <p:sp>
        <p:nvSpPr>
          <p:cNvPr id="523" name="Google Shape;523;p85"/>
          <p:cNvSpPr/>
          <p:nvPr/>
        </p:nvSpPr>
        <p:spPr>
          <a:xfrm>
            <a:off x="5775775" y="1182575"/>
            <a:ext cx="3555375" cy="1444675"/>
          </a:xfrm>
          <a:custGeom>
            <a:rect b="b" l="l" r="r" t="t"/>
            <a:pathLst>
              <a:path extrusionOk="0" h="57787" w="142215">
                <a:moveTo>
                  <a:pt x="0" y="25410"/>
                </a:moveTo>
                <a:lnTo>
                  <a:pt x="0" y="57787"/>
                </a:lnTo>
                <a:lnTo>
                  <a:pt x="142215" y="31967"/>
                </a:lnTo>
                <a:lnTo>
                  <a:pt x="142215" y="0"/>
                </a:lnTo>
                <a:close/>
              </a:path>
            </a:pathLst>
          </a:custGeom>
          <a:solidFill>
            <a:srgbClr val="1337CD"/>
          </a:solidFill>
          <a:ln>
            <a:noFill/>
          </a:ln>
        </p:spPr>
      </p:sp>
      <p:sp>
        <p:nvSpPr>
          <p:cNvPr id="524" name="Google Shape;524;p85"/>
          <p:cNvSpPr/>
          <p:nvPr/>
        </p:nvSpPr>
        <p:spPr>
          <a:xfrm>
            <a:off x="5775775" y="3220225"/>
            <a:ext cx="3555375" cy="1444675"/>
          </a:xfrm>
          <a:custGeom>
            <a:rect b="b" l="l" r="r" t="t"/>
            <a:pathLst>
              <a:path extrusionOk="0" h="57787" w="142215">
                <a:moveTo>
                  <a:pt x="0" y="25410"/>
                </a:moveTo>
                <a:lnTo>
                  <a:pt x="0" y="57787"/>
                </a:lnTo>
                <a:lnTo>
                  <a:pt x="142215" y="31967"/>
                </a:lnTo>
                <a:lnTo>
                  <a:pt x="142215" y="0"/>
                </a:lnTo>
                <a:close/>
              </a:path>
            </a:pathLst>
          </a:custGeom>
          <a:solidFill>
            <a:srgbClr val="1337CD"/>
          </a:solidFill>
          <a:ln>
            <a:noFill/>
          </a:ln>
        </p:spPr>
      </p:sp>
      <p:pic>
        <p:nvPicPr>
          <p:cNvPr id="525" name="Google Shape;52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00" y="4513750"/>
            <a:ext cx="1157427" cy="2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85"/>
          <p:cNvSpPr txBox="1"/>
          <p:nvPr/>
        </p:nvSpPr>
        <p:spPr>
          <a:xfrm>
            <a:off x="760788" y="3000488"/>
            <a:ext cx="396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3E5B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>
              <a:solidFill>
                <a:srgbClr val="23E5B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23E5BF"/>
                </a:solidFill>
                <a:latin typeface="Montserrat"/>
                <a:ea typeface="Montserrat"/>
                <a:cs typeface="Montserrat"/>
                <a:sym typeface="Montserrat"/>
              </a:rPr>
              <a:t>Estamos listos para responderlas.</a:t>
            </a:r>
            <a:endParaRPr>
              <a:solidFill>
                <a:srgbClr val="23E5B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4EFEA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